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sldIdLst>
    <p:sldId id="2141411968" r:id="rId5"/>
    <p:sldId id="257" r:id="rId6"/>
    <p:sldId id="259" r:id="rId7"/>
    <p:sldId id="25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92" y="1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85F1CA-3693-409A-8A04-88BFFEAD74B6}" type="datetimeFigureOut">
              <a:rPr lang="en-US" smtClean="0"/>
              <a:t>9/30/2025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90FBA4-06A3-41FD-8084-52F342AC304C}" type="slidenum">
              <a:rPr lang="en-US" smtClean="0"/>
              <a:t>‹#›</a:t>
            </a:fld>
            <a:endParaRPr lang="en-US"/>
          </a:p>
        </p:txBody>
      </p:sp>
    </p:spTree>
    <p:extLst>
      <p:ext uri="{BB962C8B-B14F-4D97-AF65-F5344CB8AC3E}">
        <p14:creationId xmlns:p14="http://schemas.microsoft.com/office/powerpoint/2010/main" val="3615473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Zurich Insurance</a:t>
            </a:r>
          </a:p>
        </p:txBody>
      </p:sp>
      <p:sp>
        <p:nvSpPr>
          <p:cNvPr id="4" name="Slide Number Placeholder 3"/>
          <p:cNvSpPr>
            <a:spLocks noGrp="1"/>
          </p:cNvSpPr>
          <p:nvPr>
            <p:ph type="sldNum" sz="quarter" idx="10"/>
          </p:nvPr>
        </p:nvSpPr>
        <p:spPr/>
        <p:txBody>
          <a:bodyPr/>
          <a:lstStyle/>
          <a:p>
            <a:fld id="{C514B993-C18B-4E5D-9396-A7BA27E88F87}"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517705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Zurich Insurance</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14B993-C18B-4E5D-9396-A7BA27E88F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7442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Zurich Insurance</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14B993-C18B-4E5D-9396-A7BA27E88F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925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Zurich Insurance</a:t>
            </a:r>
            <a:endParaRPr lang="en-US" dirty="0"/>
          </a:p>
        </p:txBody>
      </p:sp>
      <p:sp>
        <p:nvSpPr>
          <p:cNvPr id="4" name="Slide Number Placeholder 3"/>
          <p:cNvSpPr>
            <a:spLocks noGrp="1"/>
          </p:cNvSpPr>
          <p:nvPr>
            <p:ph type="sldNum" sz="quarter" idx="10"/>
          </p:nvPr>
        </p:nvSpPr>
        <p:spPr/>
        <p:txBody>
          <a:bodyPr/>
          <a:lstStyle/>
          <a:p>
            <a:fld id="{C514B993-C18B-4E5D-9396-A7BA27E88F87}" type="slidenum">
              <a:rPr 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3831266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5E5E692-10D7-40EA-AD6B-EBF844F1F011}"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644BC1-E43B-44C0-88B4-DDABAF6F8754}" type="slidenum">
              <a:rPr lang="en-US" smtClean="0"/>
              <a:t>‹#›</a:t>
            </a:fld>
            <a:endParaRPr lang="en-US"/>
          </a:p>
        </p:txBody>
      </p:sp>
    </p:spTree>
    <p:extLst>
      <p:ext uri="{BB962C8B-B14F-4D97-AF65-F5344CB8AC3E}">
        <p14:creationId xmlns:p14="http://schemas.microsoft.com/office/powerpoint/2010/main" val="4272131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E5E692-10D7-40EA-AD6B-EBF844F1F011}"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644BC1-E43B-44C0-88B4-DDABAF6F8754}" type="slidenum">
              <a:rPr lang="en-US" smtClean="0"/>
              <a:t>‹#›</a:t>
            </a:fld>
            <a:endParaRPr lang="en-US"/>
          </a:p>
        </p:txBody>
      </p:sp>
    </p:spTree>
    <p:extLst>
      <p:ext uri="{BB962C8B-B14F-4D97-AF65-F5344CB8AC3E}">
        <p14:creationId xmlns:p14="http://schemas.microsoft.com/office/powerpoint/2010/main" val="3105142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E5E692-10D7-40EA-AD6B-EBF844F1F011}"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644BC1-E43B-44C0-88B4-DDABAF6F8754}" type="slidenum">
              <a:rPr lang="en-US" smtClean="0"/>
              <a:t>‹#›</a:t>
            </a:fld>
            <a:endParaRPr lang="en-US"/>
          </a:p>
        </p:txBody>
      </p:sp>
    </p:spTree>
    <p:extLst>
      <p:ext uri="{BB962C8B-B14F-4D97-AF65-F5344CB8AC3E}">
        <p14:creationId xmlns:p14="http://schemas.microsoft.com/office/powerpoint/2010/main" val="623742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5E5E692-10D7-40EA-AD6B-EBF844F1F011}"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644BC1-E43B-44C0-88B4-DDABAF6F8754}" type="slidenum">
              <a:rPr lang="en-US" smtClean="0"/>
              <a:t>‹#›</a:t>
            </a:fld>
            <a:endParaRPr lang="en-US"/>
          </a:p>
        </p:txBody>
      </p:sp>
    </p:spTree>
    <p:extLst>
      <p:ext uri="{BB962C8B-B14F-4D97-AF65-F5344CB8AC3E}">
        <p14:creationId xmlns:p14="http://schemas.microsoft.com/office/powerpoint/2010/main" val="527652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5E5E692-10D7-40EA-AD6B-EBF844F1F011}" type="datetimeFigureOut">
              <a:rPr lang="en-US" smtClean="0"/>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644BC1-E43B-44C0-88B4-DDABAF6F8754}" type="slidenum">
              <a:rPr lang="en-US" smtClean="0"/>
              <a:t>‹#›</a:t>
            </a:fld>
            <a:endParaRPr lang="en-US"/>
          </a:p>
        </p:txBody>
      </p:sp>
    </p:spTree>
    <p:extLst>
      <p:ext uri="{BB962C8B-B14F-4D97-AF65-F5344CB8AC3E}">
        <p14:creationId xmlns:p14="http://schemas.microsoft.com/office/powerpoint/2010/main" val="1465602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5E5E692-10D7-40EA-AD6B-EBF844F1F011}" type="datetimeFigureOut">
              <a:rPr lang="en-US" smtClean="0"/>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644BC1-E43B-44C0-88B4-DDABAF6F8754}" type="slidenum">
              <a:rPr lang="en-US" smtClean="0"/>
              <a:t>‹#›</a:t>
            </a:fld>
            <a:endParaRPr lang="en-US"/>
          </a:p>
        </p:txBody>
      </p:sp>
    </p:spTree>
    <p:extLst>
      <p:ext uri="{BB962C8B-B14F-4D97-AF65-F5344CB8AC3E}">
        <p14:creationId xmlns:p14="http://schemas.microsoft.com/office/powerpoint/2010/main" val="3409402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E5E692-10D7-40EA-AD6B-EBF844F1F011}" type="datetimeFigureOut">
              <a:rPr lang="en-US" smtClean="0"/>
              <a:t>9/30/2025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644BC1-E43B-44C0-88B4-DDABAF6F8754}" type="slidenum">
              <a:rPr lang="en-US" smtClean="0"/>
              <a:t>‹#›</a:t>
            </a:fld>
            <a:endParaRPr lang="en-US"/>
          </a:p>
        </p:txBody>
      </p:sp>
    </p:spTree>
    <p:extLst>
      <p:ext uri="{BB962C8B-B14F-4D97-AF65-F5344CB8AC3E}">
        <p14:creationId xmlns:p14="http://schemas.microsoft.com/office/powerpoint/2010/main" val="1759408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5E5E692-10D7-40EA-AD6B-EBF844F1F011}"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644BC1-E43B-44C0-88B4-DDABAF6F8754}" type="slidenum">
              <a:rPr lang="en-US" smtClean="0"/>
              <a:t>‹#›</a:t>
            </a:fld>
            <a:endParaRPr lang="en-US"/>
          </a:p>
        </p:txBody>
      </p:sp>
    </p:spTree>
    <p:extLst>
      <p:ext uri="{BB962C8B-B14F-4D97-AF65-F5344CB8AC3E}">
        <p14:creationId xmlns:p14="http://schemas.microsoft.com/office/powerpoint/2010/main" val="1386720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5E5E692-10D7-40EA-AD6B-EBF844F1F011}"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644BC1-E43B-44C0-88B4-DDABAF6F8754}" type="slidenum">
              <a:rPr lang="en-US" smtClean="0"/>
              <a:t>‹#›</a:t>
            </a:fld>
            <a:endParaRPr lang="en-US"/>
          </a:p>
        </p:txBody>
      </p:sp>
    </p:spTree>
    <p:extLst>
      <p:ext uri="{BB962C8B-B14F-4D97-AF65-F5344CB8AC3E}">
        <p14:creationId xmlns:p14="http://schemas.microsoft.com/office/powerpoint/2010/main" val="242561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E5E692-10D7-40EA-AD6B-EBF844F1F011}"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644BC1-E43B-44C0-88B4-DDABAF6F8754}" type="slidenum">
              <a:rPr lang="en-US" smtClean="0"/>
              <a:t>‹#›</a:t>
            </a:fld>
            <a:endParaRPr lang="en-US"/>
          </a:p>
        </p:txBody>
      </p:sp>
    </p:spTree>
    <p:extLst>
      <p:ext uri="{BB962C8B-B14F-4D97-AF65-F5344CB8AC3E}">
        <p14:creationId xmlns:p14="http://schemas.microsoft.com/office/powerpoint/2010/main" val="3869694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E5E692-10D7-40EA-AD6B-EBF844F1F011}"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644BC1-E43B-44C0-88B4-DDABAF6F8754}" type="slidenum">
              <a:rPr lang="en-US" smtClean="0"/>
              <a:t>‹#›</a:t>
            </a:fld>
            <a:endParaRPr lang="en-US"/>
          </a:p>
        </p:txBody>
      </p:sp>
    </p:spTree>
    <p:extLst>
      <p:ext uri="{BB962C8B-B14F-4D97-AF65-F5344CB8AC3E}">
        <p14:creationId xmlns:p14="http://schemas.microsoft.com/office/powerpoint/2010/main" val="6547833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white">
    <p:spTree>
      <p:nvGrpSpPr>
        <p:cNvPr id="1" name=""/>
        <p:cNvGrpSpPr/>
        <p:nvPr/>
      </p:nvGrpSpPr>
      <p:grpSpPr>
        <a:xfrm>
          <a:off x="0" y="0"/>
          <a:ext cx="0" cy="0"/>
          <a:chOff x="0" y="0"/>
          <a:chExt cx="0" cy="0"/>
        </a:xfrm>
      </p:grpSpPr>
      <p:sp>
        <p:nvSpPr>
          <p:cNvPr id="4" name="Freeform 14">
            <a:extLst>
              <a:ext uri="{FF2B5EF4-FFF2-40B4-BE49-F238E27FC236}">
                <a16:creationId xmlns:a16="http://schemas.microsoft.com/office/drawing/2014/main" id="{A5202088-320A-4301-88FF-70BB2CB52272}"/>
              </a:ext>
            </a:extLst>
          </p:cNvPr>
          <p:cNvSpPr/>
          <p:nvPr userDrawn="1"/>
        </p:nvSpPr>
        <p:spPr>
          <a:xfrm>
            <a:off x="2703358" y="1540752"/>
            <a:ext cx="9488642" cy="5326579"/>
          </a:xfrm>
          <a:custGeom>
            <a:avLst/>
            <a:gdLst>
              <a:gd name="connsiteX0" fmla="*/ 8600219 w 9488642"/>
              <a:gd name="connsiteY0" fmla="*/ 517 h 5326579"/>
              <a:gd name="connsiteX1" fmla="*/ 9337654 w 9488642"/>
              <a:gd name="connsiteY1" fmla="*/ 75918 h 5326579"/>
              <a:gd name="connsiteX2" fmla="*/ 9488642 w 9488642"/>
              <a:gd name="connsiteY2" fmla="*/ 108110 h 5326579"/>
              <a:gd name="connsiteX3" fmla="*/ 9488642 w 9488642"/>
              <a:gd name="connsiteY3" fmla="*/ 5326579 h 5326579"/>
              <a:gd name="connsiteX4" fmla="*/ 0 w 9488642"/>
              <a:gd name="connsiteY4" fmla="*/ 5326579 h 5326579"/>
              <a:gd name="connsiteX5" fmla="*/ 239796 w 9488642"/>
              <a:gd name="connsiteY5" fmla="*/ 5146683 h 5326579"/>
              <a:gd name="connsiteX6" fmla="*/ 5947966 w 9488642"/>
              <a:gd name="connsiteY6" fmla="*/ 864382 h 5326579"/>
              <a:gd name="connsiteX7" fmla="*/ 8600219 w 9488642"/>
              <a:gd name="connsiteY7" fmla="*/ 517 h 5326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88642" h="5326579">
                <a:moveTo>
                  <a:pt x="8600219" y="517"/>
                </a:moveTo>
                <a:cubicBezTo>
                  <a:pt x="8847532" y="4354"/>
                  <a:pt x="9094309" y="29531"/>
                  <a:pt x="9337654" y="75918"/>
                </a:cubicBezTo>
                <a:lnTo>
                  <a:pt x="9488642" y="108110"/>
                </a:lnTo>
                <a:lnTo>
                  <a:pt x="9488642" y="5326579"/>
                </a:lnTo>
                <a:lnTo>
                  <a:pt x="0" y="5326579"/>
                </a:lnTo>
                <a:lnTo>
                  <a:pt x="239796" y="5146683"/>
                </a:lnTo>
                <a:cubicBezTo>
                  <a:pt x="5947966" y="864382"/>
                  <a:pt x="5947966" y="864382"/>
                  <a:pt x="5947966" y="864382"/>
                </a:cubicBezTo>
                <a:cubicBezTo>
                  <a:pt x="6737823" y="271827"/>
                  <a:pt x="7672794" y="-13871"/>
                  <a:pt x="8600219" y="517"/>
                </a:cubicBezTo>
                <a:close/>
              </a:path>
            </a:pathLst>
          </a:custGeom>
          <a:solidFill>
            <a:srgbClr val="ECECEC">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407988" y="404813"/>
            <a:ext cx="6678612" cy="863601"/>
          </a:xfrm>
        </p:spPr>
        <p:txBody>
          <a:bodyPr vert="horz" lIns="0" tIns="0" rIns="0" bIns="0" rtlCol="0" anchor="t">
            <a:noAutofit/>
          </a:bodyPr>
          <a:lstStyle>
            <a:lvl1pPr>
              <a:defRPr lang="en-GB" dirty="0"/>
            </a:lvl1pPr>
          </a:lstStyle>
          <a:p>
            <a:pPr marL="0" lvl="0"/>
            <a:r>
              <a:rPr lang="en-US"/>
              <a:t>Click to edit Master title style</a:t>
            </a:r>
            <a:endParaRPr lang="en-GB"/>
          </a:p>
        </p:txBody>
      </p:sp>
    </p:spTree>
    <p:extLst>
      <p:ext uri="{BB962C8B-B14F-4D97-AF65-F5344CB8AC3E}">
        <p14:creationId xmlns:p14="http://schemas.microsoft.com/office/powerpoint/2010/main" val="148700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E5E692-10D7-40EA-AD6B-EBF844F1F011}" type="datetimeFigureOut">
              <a:rPr lang="en-US" smtClean="0"/>
              <a:t>9/30/2025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644BC1-E43B-44C0-88B4-DDABAF6F8754}" type="slidenum">
              <a:rPr lang="en-US" smtClean="0"/>
              <a:t>‹#›</a:t>
            </a:fld>
            <a:endParaRPr lang="en-US"/>
          </a:p>
        </p:txBody>
      </p:sp>
    </p:spTree>
    <p:extLst>
      <p:ext uri="{BB962C8B-B14F-4D97-AF65-F5344CB8AC3E}">
        <p14:creationId xmlns:p14="http://schemas.microsoft.com/office/powerpoint/2010/main" val="885118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58565-E995-4F48-8219-C44E02CA90AC}"/>
              </a:ext>
            </a:extLst>
          </p:cNvPr>
          <p:cNvSpPr>
            <a:spLocks noGrp="1"/>
          </p:cNvSpPr>
          <p:nvPr>
            <p:ph type="title"/>
          </p:nvPr>
        </p:nvSpPr>
        <p:spPr>
          <a:xfrm>
            <a:off x="154238" y="202726"/>
            <a:ext cx="11555412" cy="863601"/>
          </a:xfrm>
        </p:spPr>
        <p:txBody>
          <a:bodyPr/>
          <a:lstStyle/>
          <a:p>
            <a:r>
              <a:rPr lang="en-IN" sz="3600" dirty="0"/>
              <a:t>Enterprise wide Business Data Lake Engineering Program</a:t>
            </a:r>
            <a:br>
              <a:rPr lang="en-US" altLang="en-US" sz="1800" dirty="0"/>
            </a:br>
            <a:r>
              <a:rPr lang="en-US" altLang="en-US" sz="1400" i="1" dirty="0">
                <a:solidFill>
                  <a:schemeClr val="accent2"/>
                </a:solidFill>
              </a:rPr>
              <a:t>-</a:t>
            </a:r>
            <a:r>
              <a:rPr lang="en-US" sz="1400" i="1" dirty="0">
                <a:solidFill>
                  <a:schemeClr val="accent2"/>
                </a:solidFill>
              </a:rPr>
              <a:t>Leading Consumer Goods Provider in Europe</a:t>
            </a:r>
          </a:p>
        </p:txBody>
      </p:sp>
      <p:pic>
        <p:nvPicPr>
          <p:cNvPr id="6" name="Picture 5"/>
          <p:cNvPicPr>
            <a:picLocks noChangeAspect="1"/>
          </p:cNvPicPr>
          <p:nvPr/>
        </p:nvPicPr>
        <p:blipFill>
          <a:blip r:embed="rId3"/>
          <a:stretch>
            <a:fillRect/>
          </a:stretch>
        </p:blipFill>
        <p:spPr>
          <a:xfrm>
            <a:off x="152400" y="2078080"/>
            <a:ext cx="7539975" cy="3974244"/>
          </a:xfrm>
          <a:prstGeom prst="rect">
            <a:avLst/>
          </a:prstGeom>
        </p:spPr>
      </p:pic>
      <p:sp>
        <p:nvSpPr>
          <p:cNvPr id="117" name="TextBox 116">
            <a:extLst>
              <a:ext uri="{FF2B5EF4-FFF2-40B4-BE49-F238E27FC236}">
                <a16:creationId xmlns:a16="http://schemas.microsoft.com/office/drawing/2014/main" id="{3CE40751-6A61-4556-A2C8-A5762951ADEF}"/>
              </a:ext>
            </a:extLst>
          </p:cNvPr>
          <p:cNvSpPr txBox="1"/>
          <p:nvPr/>
        </p:nvSpPr>
        <p:spPr>
          <a:xfrm>
            <a:off x="1889002" y="878084"/>
            <a:ext cx="9782367" cy="863601"/>
          </a:xfrm>
          <a:prstGeom prst="rect">
            <a:avLst/>
          </a:prstGeom>
          <a:gradFill flip="none" rotWithShape="1">
            <a:gsLst>
              <a:gs pos="0">
                <a:schemeClr val="bg2"/>
              </a:gs>
              <a:gs pos="50000">
                <a:schemeClr val="bg2"/>
              </a:gs>
              <a:gs pos="100000">
                <a:schemeClr val="bg1"/>
              </a:gs>
            </a:gsLst>
            <a:lin ang="0" scaled="1"/>
            <a:tileRect/>
          </a:gradFill>
          <a:ln w="9525" algn="ctr">
            <a:noFill/>
            <a:miter lim="800000"/>
            <a:headEnd/>
            <a:tailEnd/>
          </a:ln>
          <a:effectLst>
            <a:outerShdw dist="38100" algn="tl" rotWithShape="0">
              <a:prstClr val="black"/>
            </a:outerShdw>
          </a:effectLst>
        </p:spPr>
        <p:txBody>
          <a:bodyPr lIns="91440" tIns="91440" bIns="91440" anchor="ctr"/>
          <a:lstStyle>
            <a:defPPr>
              <a:defRPr lang="pt-PT"/>
            </a:defPPr>
            <a:lvl1pPr lvl="0" defTabSz="957263">
              <a:spcBef>
                <a:spcPts val="600"/>
              </a:spcBef>
              <a:spcAft>
                <a:spcPts val="600"/>
              </a:spcAft>
              <a:buClr>
                <a:srgbClr val="0098C7"/>
              </a:buClr>
              <a:buSzPct val="100000"/>
              <a:defRPr sz="1200">
                <a:solidFill>
                  <a:schemeClr val="tx1"/>
                </a:solidFill>
                <a:latin typeface="+mj-lt"/>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lvl="1"/>
            <a:r>
              <a:rPr lang="en-US" sz="1100" dirty="0"/>
              <a:t>Business objective is to build a Data Lake on Azure which is a single shared capability which will act as a source for all analytics works in the organization with the data scattered across 20+ business units and its sources maintaining the data in its native form.  The scope includes Application modernization/migration to Azure from its existing on-premise analytical engine  to Azure there by building Enterprise data strategy &amp; Build Data platform and establish Operational excellence through Data Ops process</a:t>
            </a:r>
          </a:p>
        </p:txBody>
      </p:sp>
      <p:sp>
        <p:nvSpPr>
          <p:cNvPr id="7" name="Rectangle 6">
            <a:extLst>
              <a:ext uri="{FF2B5EF4-FFF2-40B4-BE49-F238E27FC236}">
                <a16:creationId xmlns:a16="http://schemas.microsoft.com/office/drawing/2014/main" id="{D93401AF-BAC0-4811-9218-C7BA7945C2E9}"/>
              </a:ext>
            </a:extLst>
          </p:cNvPr>
          <p:cNvSpPr/>
          <p:nvPr/>
        </p:nvSpPr>
        <p:spPr>
          <a:xfrm>
            <a:off x="152400" y="1824252"/>
            <a:ext cx="2777417" cy="369332"/>
          </a:xfrm>
          <a:prstGeom prst="rect">
            <a:avLst/>
          </a:prstGeom>
        </p:spPr>
        <p:txBody>
          <a:bodyPr wrap="square">
            <a:spAutoFit/>
          </a:bodyPr>
          <a:lstStyle/>
          <a:p>
            <a:r>
              <a:rPr lang="en-US" dirty="0">
                <a:solidFill>
                  <a:srgbClr val="0070C0"/>
                </a:solidFill>
                <a:latin typeface="Arial" panose="020B0604020202020204" pitchFamily="34" charset="0"/>
                <a:ea typeface="+mj-ea"/>
                <a:cs typeface="Arial" panose="020B0604020202020204" pitchFamily="34" charset="0"/>
              </a:rPr>
              <a:t>Architecture</a:t>
            </a:r>
          </a:p>
        </p:txBody>
      </p:sp>
      <p:sp>
        <p:nvSpPr>
          <p:cNvPr id="161" name="Rounded Rectangle 43">
            <a:extLst>
              <a:ext uri="{FF2B5EF4-FFF2-40B4-BE49-F238E27FC236}">
                <a16:creationId xmlns:a16="http://schemas.microsoft.com/office/drawing/2014/main" id="{F9413AEE-15FB-4E74-B9FA-EEAFB52AAFEB}"/>
              </a:ext>
            </a:extLst>
          </p:cNvPr>
          <p:cNvSpPr/>
          <p:nvPr/>
        </p:nvSpPr>
        <p:spPr>
          <a:xfrm>
            <a:off x="156679" y="6000194"/>
            <a:ext cx="11533308" cy="464746"/>
          </a:xfrm>
          <a:prstGeom prst="roundRect">
            <a:avLst>
              <a:gd name="adj" fmla="val 1448"/>
            </a:avLst>
          </a:prstGeom>
          <a:noFill/>
          <a:ln>
            <a:solidFill>
              <a:srgbClr val="15636B"/>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l" defTabSz="914216" rtl="0" eaLnBrk="1" fontAlgn="auto" latinLnBrk="0" hangingPunct="1">
              <a:lnSpc>
                <a:spcPct val="100000"/>
              </a:lnSpc>
              <a:spcBef>
                <a:spcPts val="360"/>
              </a:spcBef>
              <a:spcAft>
                <a:spcPct val="30000"/>
              </a:spcAft>
              <a:buClr>
                <a:srgbClr val="A11133"/>
              </a:buClr>
              <a:buSzTx/>
              <a:buFontTx/>
              <a:buNone/>
              <a:tabLst/>
              <a:defRPr/>
            </a:pPr>
            <a:r>
              <a:rPr kumimoji="0" lang="en-US" altLang="en-US" sz="1200" b="1" i="0" u="none" strike="noStrike" kern="0" cap="none" spc="0" normalizeH="0" baseline="0" noProof="0">
                <a:ln>
                  <a:noFill/>
                </a:ln>
                <a:solidFill>
                  <a:prstClr val="black"/>
                </a:solidFill>
                <a:effectLst/>
                <a:uLnTx/>
                <a:uFillTx/>
                <a:latin typeface="Candara" pitchFamily="34" charset="0"/>
                <a:ea typeface="+mn-ea"/>
                <a:cs typeface="+mn-cs"/>
              </a:rPr>
              <a:t>Tech Stack:  </a:t>
            </a:r>
            <a:r>
              <a:rPr lang="en-US" altLang="en-US" sz="1200" b="1" kern="0">
                <a:solidFill>
                  <a:prstClr val="black"/>
                </a:solidFill>
                <a:latin typeface="Candara" pitchFamily="34" charset="0"/>
              </a:rPr>
              <a:t>ADLS Gen2</a:t>
            </a:r>
            <a:r>
              <a:rPr kumimoji="0" lang="en-US" altLang="en-US" sz="1200" b="1" i="0" u="none" strike="noStrike" kern="0" cap="none" spc="0" normalizeH="0" baseline="0" noProof="0">
                <a:ln>
                  <a:noFill/>
                </a:ln>
                <a:solidFill>
                  <a:prstClr val="black"/>
                </a:solidFill>
                <a:effectLst/>
                <a:uLnTx/>
                <a:uFillTx/>
                <a:latin typeface="Candara" pitchFamily="34" charset="0"/>
                <a:ea typeface="+mn-ea"/>
                <a:cs typeface="+mn-cs"/>
              </a:rPr>
              <a:t>, Azure Databricks, Synapse Analytics, Azure SQL DB, AAS, Azure ML, Azure DevOps, </a:t>
            </a:r>
            <a:r>
              <a:rPr kumimoji="0" lang="en-US" altLang="en-US" sz="1200" b="1" i="0" u="none" strike="noStrike" kern="0" cap="none" spc="0" normalizeH="0" baseline="0" noProof="0" err="1">
                <a:ln>
                  <a:noFill/>
                </a:ln>
                <a:solidFill>
                  <a:prstClr val="black"/>
                </a:solidFill>
                <a:effectLst/>
                <a:uLnTx/>
                <a:uFillTx/>
                <a:latin typeface="Candara" pitchFamily="34" charset="0"/>
                <a:ea typeface="+mn-ea"/>
                <a:cs typeface="+mn-cs"/>
              </a:rPr>
              <a:t>PowerBI</a:t>
            </a:r>
            <a:endParaRPr kumimoji="0" lang="en-US" altLang="en-US" sz="1200" b="1" i="0" u="none" strike="noStrike" kern="0" cap="none" spc="0" normalizeH="0" baseline="0" noProof="0">
              <a:ln>
                <a:noFill/>
              </a:ln>
              <a:solidFill>
                <a:prstClr val="black"/>
              </a:solidFill>
              <a:effectLst/>
              <a:uLnTx/>
              <a:uFillTx/>
              <a:latin typeface="Candara" pitchFamily="34" charset="0"/>
              <a:ea typeface="+mn-ea"/>
              <a:cs typeface="+mn-cs"/>
            </a:endParaRPr>
          </a:p>
        </p:txBody>
      </p:sp>
      <p:sp>
        <p:nvSpPr>
          <p:cNvPr id="171" name="TextBox 170">
            <a:extLst>
              <a:ext uri="{FF2B5EF4-FFF2-40B4-BE49-F238E27FC236}">
                <a16:creationId xmlns:a16="http://schemas.microsoft.com/office/drawing/2014/main" id="{D8D2D4E1-3EE4-4E99-8A7B-1D67FD440942}"/>
              </a:ext>
            </a:extLst>
          </p:cNvPr>
          <p:cNvSpPr txBox="1"/>
          <p:nvPr/>
        </p:nvSpPr>
        <p:spPr>
          <a:xfrm>
            <a:off x="7823471" y="2008918"/>
            <a:ext cx="4216129" cy="37471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600"/>
              </a:spcAft>
              <a:buClrTx/>
              <a:buSzTx/>
              <a:buFontTx/>
              <a:buNone/>
              <a:tabLst/>
              <a:defRPr/>
            </a:pPr>
            <a:r>
              <a:rPr kumimoji="0" lang="en-US" sz="1200" b="1" i="0" u="none" strike="noStrike" kern="1200" cap="none" spc="0" normalizeH="0" baseline="0" noProof="0" dirty="0">
                <a:ln>
                  <a:noFill/>
                </a:ln>
                <a:solidFill>
                  <a:prstClr val="black">
                    <a:lumMod val="75000"/>
                    <a:lumOff val="25000"/>
                  </a:prstClr>
                </a:solidFill>
                <a:effectLst/>
                <a:uLnTx/>
                <a:uFillTx/>
                <a:latin typeface="Verdana"/>
                <a:ea typeface="+mn-ea"/>
                <a:cs typeface="+mn-cs"/>
              </a:rPr>
              <a:t>Volumetric for one of its business Unit</a:t>
            </a:r>
          </a:p>
          <a:p>
            <a:pPr marL="236538" marR="0" lvl="0" indent="-236538"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lumMod val="75000"/>
                    <a:lumOff val="25000"/>
                  </a:prstClr>
                </a:solidFill>
                <a:effectLst/>
                <a:uLnTx/>
                <a:uFillTx/>
                <a:latin typeface="Verdana"/>
                <a:ea typeface="+mn-ea"/>
                <a:cs typeface="+mn-cs"/>
              </a:rPr>
              <a:t>UDL consists of ~10TB of data form 40+ European countries </a:t>
            </a:r>
            <a:endParaRPr kumimoji="0" lang="en-US" sz="1050" b="0" i="0" u="none" strike="noStrike" kern="1200" cap="none" spc="0" normalizeH="0" baseline="0" noProof="0" dirty="0">
              <a:ln>
                <a:noFill/>
              </a:ln>
              <a:solidFill>
                <a:prstClr val="black">
                  <a:lumMod val="75000"/>
                  <a:lumOff val="25000"/>
                </a:prstClr>
              </a:solidFill>
              <a:effectLst/>
              <a:uLnTx/>
              <a:uFillTx/>
              <a:latin typeface="Verdana"/>
              <a:ea typeface="+mn-ea"/>
              <a:cs typeface="+mn-cs"/>
            </a:endParaRPr>
          </a:p>
          <a:p>
            <a:pPr marL="236538" marR="0" lvl="0" indent="-236538"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lumMod val="75000"/>
                    <a:lumOff val="25000"/>
                  </a:prstClr>
                </a:solidFill>
                <a:effectLst/>
                <a:uLnTx/>
                <a:uFillTx/>
                <a:latin typeface="Verdana"/>
                <a:ea typeface="+mn-ea"/>
                <a:cs typeface="+mn-cs"/>
              </a:rPr>
              <a:t>40+ countries, 5000 business objects, 3000 reports and self-service models</a:t>
            </a:r>
          </a:p>
          <a:p>
            <a:pPr marL="236538" marR="0" lvl="0" indent="-236538"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lang="en-US" sz="1200" dirty="0">
                <a:solidFill>
                  <a:prstClr val="black">
                    <a:lumMod val="75000"/>
                    <a:lumOff val="25000"/>
                  </a:prstClr>
                </a:solidFill>
                <a:latin typeface="Verdana"/>
              </a:rPr>
              <a:t>1</a:t>
            </a:r>
            <a:r>
              <a:rPr kumimoji="0" lang="en-US" sz="1200" b="0" i="0" u="none" strike="noStrike" kern="1200" cap="none" spc="0" normalizeH="0" baseline="0" noProof="0" dirty="0">
                <a:ln>
                  <a:noFill/>
                </a:ln>
                <a:solidFill>
                  <a:prstClr val="black">
                    <a:lumMod val="75000"/>
                    <a:lumOff val="25000"/>
                  </a:prstClr>
                </a:solidFill>
                <a:effectLst/>
                <a:uLnTx/>
                <a:uFillTx/>
                <a:latin typeface="Verdana"/>
                <a:ea typeface="+mn-ea"/>
                <a:cs typeface="+mn-cs"/>
              </a:rPr>
              <a:t>000+ user stories</a:t>
            </a:r>
          </a:p>
          <a:p>
            <a:pPr marL="236538" marR="0" lvl="0" indent="-236538"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lumMod val="75000"/>
                    <a:lumOff val="25000"/>
                  </a:prstClr>
                </a:solidFill>
                <a:effectLst/>
                <a:uLnTx/>
                <a:uFillTx/>
                <a:latin typeface="Verdana"/>
                <a:ea typeface="+mn-ea"/>
                <a:cs typeface="+mn-cs"/>
              </a:rPr>
              <a:t>11 years if historical data from legacy systems like Teradata &amp; SAP is moved to Azure</a:t>
            </a:r>
          </a:p>
          <a:p>
            <a:pPr marL="0" marR="0" lvl="0" indent="0" algn="l" defTabSz="914400" rtl="0" eaLnBrk="1" fontAlgn="auto" latinLnBrk="0" hangingPunct="1">
              <a:lnSpc>
                <a:spcPct val="100000"/>
              </a:lnSpc>
              <a:spcBef>
                <a:spcPts val="300"/>
              </a:spcBef>
              <a:spcAft>
                <a:spcPts val="600"/>
              </a:spcAft>
              <a:buClrTx/>
              <a:buSzTx/>
              <a:buFontTx/>
              <a:buNone/>
              <a:tabLst/>
              <a:defRPr/>
            </a:pPr>
            <a:r>
              <a:rPr kumimoji="0" lang="en-US" sz="1200" b="1" i="0" u="none" strike="noStrike" kern="1200" cap="none" spc="0" normalizeH="0" baseline="0" noProof="0" dirty="0">
                <a:ln>
                  <a:noFill/>
                </a:ln>
                <a:solidFill>
                  <a:prstClr val="black">
                    <a:lumMod val="75000"/>
                    <a:lumOff val="25000"/>
                  </a:prstClr>
                </a:solidFill>
                <a:effectLst/>
                <a:uLnTx/>
                <a:uFillTx/>
                <a:latin typeface="Verdana"/>
                <a:ea typeface="+mn-ea"/>
                <a:cs typeface="+mn-cs"/>
              </a:rPr>
              <a:t>Benefits Received</a:t>
            </a:r>
          </a:p>
          <a:p>
            <a:pPr marL="236538" indent="-236538">
              <a:spcAft>
                <a:spcPts val="600"/>
              </a:spcAft>
              <a:buFont typeface="Wingdings" panose="05000000000000000000" pitchFamily="2" charset="2"/>
              <a:buChar char="§"/>
              <a:defRPr/>
            </a:pPr>
            <a:r>
              <a:rPr lang="en-US" sz="1200" dirty="0">
                <a:solidFill>
                  <a:prstClr val="black">
                    <a:lumMod val="75000"/>
                    <a:lumOff val="25000"/>
                  </a:prstClr>
                </a:solidFill>
                <a:latin typeface="Verdana"/>
              </a:rPr>
              <a:t>30% performance improvement</a:t>
            </a:r>
          </a:p>
          <a:p>
            <a:pPr marL="236538" indent="-236538">
              <a:spcAft>
                <a:spcPts val="600"/>
              </a:spcAft>
              <a:buFont typeface="Wingdings" panose="05000000000000000000" pitchFamily="2" charset="2"/>
              <a:buChar char="§"/>
              <a:defRPr/>
            </a:pPr>
            <a:r>
              <a:rPr lang="en-US" sz="1200" dirty="0">
                <a:solidFill>
                  <a:prstClr val="black">
                    <a:lumMod val="75000"/>
                    <a:lumOff val="25000"/>
                  </a:prstClr>
                </a:solidFill>
                <a:latin typeface="Verdana"/>
              </a:rPr>
              <a:t>25% on manual effort reduction</a:t>
            </a:r>
          </a:p>
          <a:p>
            <a:pPr marL="236538" indent="-236538">
              <a:spcAft>
                <a:spcPts val="600"/>
              </a:spcAft>
              <a:buFont typeface="Wingdings" panose="05000000000000000000" pitchFamily="2" charset="2"/>
              <a:buChar char="§"/>
              <a:defRPr/>
            </a:pPr>
            <a:r>
              <a:rPr lang="en-US" sz="1200" dirty="0">
                <a:solidFill>
                  <a:prstClr val="black">
                    <a:lumMod val="75000"/>
                    <a:lumOff val="25000"/>
                  </a:prstClr>
                </a:solidFill>
                <a:latin typeface="Verdana"/>
              </a:rPr>
              <a:t>50% Infrastructure cost reduction</a:t>
            </a:r>
          </a:p>
          <a:p>
            <a:pPr marL="236538" indent="-236538">
              <a:spcAft>
                <a:spcPts val="600"/>
              </a:spcAft>
              <a:buFont typeface="Wingdings" panose="05000000000000000000" pitchFamily="2" charset="2"/>
              <a:buChar char="§"/>
              <a:defRPr/>
            </a:pPr>
            <a:r>
              <a:rPr lang="en-US" sz="1200" dirty="0">
                <a:solidFill>
                  <a:prstClr val="black">
                    <a:lumMod val="75000"/>
                    <a:lumOff val="25000"/>
                  </a:prstClr>
                </a:solidFill>
              </a:rPr>
              <a:t>Scale up/ Down Azure environment</a:t>
            </a:r>
          </a:p>
          <a:p>
            <a:pPr marL="236538" marR="0" lvl="0" indent="-236538"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lumMod val="75000"/>
                    <a:lumOff val="25000"/>
                  </a:prstClr>
                </a:solidFill>
                <a:effectLst/>
                <a:uLnTx/>
                <a:uFillTx/>
                <a:latin typeface="Verdana"/>
                <a:ea typeface="+mn-ea"/>
                <a:cs typeface="+mn-cs"/>
              </a:rPr>
              <a:t>Self Service reporting for business users</a:t>
            </a:r>
          </a:p>
          <a:p>
            <a:pPr marL="236538" marR="0" lvl="0" indent="-236538"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lang="en-US" sz="1200" dirty="0">
                <a:solidFill>
                  <a:prstClr val="black">
                    <a:lumMod val="75000"/>
                    <a:lumOff val="25000"/>
                  </a:prstClr>
                </a:solidFill>
                <a:latin typeface="Verdana"/>
              </a:rPr>
              <a:t>Re-usable components </a:t>
            </a:r>
            <a:endParaRPr kumimoji="0" lang="en-US" sz="1200" b="0" i="0" u="none" strike="noStrike" kern="1200" cap="none" spc="0" normalizeH="0" baseline="0" noProof="0" dirty="0">
              <a:ln>
                <a:noFill/>
              </a:ln>
              <a:solidFill>
                <a:prstClr val="black">
                  <a:lumMod val="75000"/>
                  <a:lumOff val="25000"/>
                </a:prstClr>
              </a:solidFill>
              <a:effectLst/>
              <a:uLnTx/>
              <a:uFillTx/>
              <a:latin typeface="Verdana"/>
              <a:ea typeface="+mn-ea"/>
              <a:cs typeface="+mn-cs"/>
            </a:endParaRPr>
          </a:p>
        </p:txBody>
      </p:sp>
      <p:sp>
        <p:nvSpPr>
          <p:cNvPr id="8" name="Rectangle 20">
            <a:extLst>
              <a:ext uri="{FF2B5EF4-FFF2-40B4-BE49-F238E27FC236}">
                <a16:creationId xmlns:a16="http://schemas.microsoft.com/office/drawing/2014/main" id="{5039933B-A5BF-4756-9A26-A1050D8362A1}"/>
              </a:ext>
            </a:extLst>
          </p:cNvPr>
          <p:cNvSpPr>
            <a:spLocks noChangeArrowheads="1"/>
          </p:cNvSpPr>
          <p:nvPr/>
        </p:nvSpPr>
        <p:spPr bwMode="auto">
          <a:xfrm>
            <a:off x="181105" y="878083"/>
            <a:ext cx="1619923" cy="863601"/>
          </a:xfrm>
          <a:prstGeom prst="round2DiagRect">
            <a:avLst>
              <a:gd name="adj1" fmla="val 0"/>
              <a:gd name="adj2" fmla="val 0"/>
            </a:avLst>
          </a:prstGeom>
          <a:solidFill>
            <a:schemeClr val="tx2"/>
          </a:solidFill>
          <a:ln w="9525" cap="flat" cmpd="sng" algn="ctr">
            <a:noFill/>
            <a:prstDash val="solid"/>
          </a:ln>
          <a:effectLst/>
        </p:spPr>
        <p:txBody>
          <a:bodyPr lIns="457200" tIns="31398" rIns="62796" bIns="31398" rtlCol="0" anchor="ctr" anchorCtr="0"/>
          <a:lstStyle/>
          <a:p>
            <a:pPr algn="ctr" defTabSz="717179"/>
            <a:r>
              <a:rPr lang="en-US" sz="1200" b="1" kern="0" dirty="0">
                <a:solidFill>
                  <a:prstClr val="white"/>
                </a:solidFill>
                <a:latin typeface="+mj-lt"/>
                <a:ea typeface="Verdana" pitchFamily="34" charset="0"/>
                <a:cs typeface="Verdana" pitchFamily="34" charset="0"/>
              </a:rPr>
              <a:t>Client Overview</a:t>
            </a:r>
          </a:p>
        </p:txBody>
      </p:sp>
      <p:grpSp>
        <p:nvGrpSpPr>
          <p:cNvPr id="9" name="Group 8">
            <a:extLst>
              <a:ext uri="{FF2B5EF4-FFF2-40B4-BE49-F238E27FC236}">
                <a16:creationId xmlns:a16="http://schemas.microsoft.com/office/drawing/2014/main" id="{78394AD7-7D41-4E58-B22B-4DD91BF4B591}"/>
              </a:ext>
            </a:extLst>
          </p:cNvPr>
          <p:cNvGrpSpPr/>
          <p:nvPr/>
        </p:nvGrpSpPr>
        <p:grpSpPr>
          <a:xfrm>
            <a:off x="382989" y="1118778"/>
            <a:ext cx="330971" cy="386132"/>
            <a:chOff x="908413" y="3817646"/>
            <a:chExt cx="444271" cy="577192"/>
          </a:xfrm>
          <a:solidFill>
            <a:schemeClr val="bg1"/>
          </a:solidFill>
        </p:grpSpPr>
        <p:sp>
          <p:nvSpPr>
            <p:cNvPr id="10" name="Freeform 8">
              <a:extLst>
                <a:ext uri="{FF2B5EF4-FFF2-40B4-BE49-F238E27FC236}">
                  <a16:creationId xmlns:a16="http://schemas.microsoft.com/office/drawing/2014/main" id="{4A01B9FC-5A84-4CC4-9A97-179EE0A5241D}"/>
                </a:ext>
              </a:extLst>
            </p:cNvPr>
            <p:cNvSpPr>
              <a:spLocks/>
            </p:cNvSpPr>
            <p:nvPr/>
          </p:nvSpPr>
          <p:spPr bwMode="auto">
            <a:xfrm>
              <a:off x="1012947" y="3817646"/>
              <a:ext cx="237455" cy="256830"/>
            </a:xfrm>
            <a:custGeom>
              <a:avLst/>
              <a:gdLst>
                <a:gd name="T0" fmla="*/ 105 w 197"/>
                <a:gd name="T1" fmla="*/ 209 h 213"/>
                <a:gd name="T2" fmla="*/ 196 w 197"/>
                <a:gd name="T3" fmla="*/ 100 h 213"/>
                <a:gd name="T4" fmla="*/ 99 w 197"/>
                <a:gd name="T5" fmla="*/ 4 h 213"/>
                <a:gd name="T6" fmla="*/ 2 w 197"/>
                <a:gd name="T7" fmla="*/ 113 h 213"/>
                <a:gd name="T8" fmla="*/ 105 w 197"/>
                <a:gd name="T9" fmla="*/ 209 h 213"/>
              </a:gdLst>
              <a:ahLst/>
              <a:cxnLst>
                <a:cxn ang="0">
                  <a:pos x="T0" y="T1"/>
                </a:cxn>
                <a:cxn ang="0">
                  <a:pos x="T2" y="T3"/>
                </a:cxn>
                <a:cxn ang="0">
                  <a:pos x="T4" y="T5"/>
                </a:cxn>
                <a:cxn ang="0">
                  <a:pos x="T6" y="T7"/>
                </a:cxn>
                <a:cxn ang="0">
                  <a:pos x="T8" y="T9"/>
                </a:cxn>
              </a:cxnLst>
              <a:rect l="0" t="0" r="r" b="b"/>
              <a:pathLst>
                <a:path w="197" h="213">
                  <a:moveTo>
                    <a:pt x="105" y="209"/>
                  </a:moveTo>
                  <a:cubicBezTo>
                    <a:pt x="160" y="205"/>
                    <a:pt x="197" y="156"/>
                    <a:pt x="196" y="100"/>
                  </a:cubicBezTo>
                  <a:cubicBezTo>
                    <a:pt x="194" y="43"/>
                    <a:pt x="154" y="0"/>
                    <a:pt x="99" y="4"/>
                  </a:cubicBezTo>
                  <a:cubicBezTo>
                    <a:pt x="44" y="8"/>
                    <a:pt x="0" y="57"/>
                    <a:pt x="2" y="113"/>
                  </a:cubicBezTo>
                  <a:cubicBezTo>
                    <a:pt x="3" y="170"/>
                    <a:pt x="50" y="213"/>
                    <a:pt x="105" y="209"/>
                  </a:cubicBezTo>
                </a:path>
              </a:pathLst>
            </a:custGeom>
            <a:grpFill/>
            <a:ln>
              <a:solidFill>
                <a:schemeClr val="bg1"/>
              </a:solidFill>
            </a:ln>
          </p:spPr>
          <p:txBody>
            <a:bodyPr vert="horz" wrap="square" lIns="91440" tIns="45720" rIns="91440" bIns="45720" numCol="1" anchor="t" anchorCtr="0" compatLnSpc="1">
              <a:prstTxWarp prst="textNoShape">
                <a:avLst/>
              </a:prstTxWarp>
            </a:bodyPr>
            <a:lstStyle/>
            <a:p>
              <a:endParaRPr lang="pt-PT">
                <a:latin typeface="+mj-lt"/>
              </a:endParaRPr>
            </a:p>
          </p:txBody>
        </p:sp>
        <p:sp>
          <p:nvSpPr>
            <p:cNvPr id="11" name="Freeform 9">
              <a:extLst>
                <a:ext uri="{FF2B5EF4-FFF2-40B4-BE49-F238E27FC236}">
                  <a16:creationId xmlns:a16="http://schemas.microsoft.com/office/drawing/2014/main" id="{9D93408B-7B32-4D19-9F50-D827D079AD40}"/>
                </a:ext>
              </a:extLst>
            </p:cNvPr>
            <p:cNvSpPr>
              <a:spLocks/>
            </p:cNvSpPr>
            <p:nvPr/>
          </p:nvSpPr>
          <p:spPr bwMode="auto">
            <a:xfrm>
              <a:off x="908413" y="4103313"/>
              <a:ext cx="444271" cy="291525"/>
            </a:xfrm>
            <a:custGeom>
              <a:avLst/>
              <a:gdLst>
                <a:gd name="T0" fmla="*/ 1 w 369"/>
                <a:gd name="T1" fmla="*/ 207 h 242"/>
                <a:gd name="T2" fmla="*/ 5 w 369"/>
                <a:gd name="T3" fmla="*/ 162 h 242"/>
                <a:gd name="T4" fmla="*/ 137 w 369"/>
                <a:gd name="T5" fmla="*/ 28 h 242"/>
                <a:gd name="T6" fmla="*/ 356 w 369"/>
                <a:gd name="T7" fmla="*/ 131 h 242"/>
                <a:gd name="T8" fmla="*/ 304 w 369"/>
                <a:gd name="T9" fmla="*/ 218 h 242"/>
                <a:gd name="T10" fmla="*/ 1 w 369"/>
                <a:gd name="T11" fmla="*/ 207 h 242"/>
              </a:gdLst>
              <a:ahLst/>
              <a:cxnLst>
                <a:cxn ang="0">
                  <a:pos x="T0" y="T1"/>
                </a:cxn>
                <a:cxn ang="0">
                  <a:pos x="T2" y="T3"/>
                </a:cxn>
                <a:cxn ang="0">
                  <a:pos x="T4" y="T5"/>
                </a:cxn>
                <a:cxn ang="0">
                  <a:pos x="T6" y="T7"/>
                </a:cxn>
                <a:cxn ang="0">
                  <a:pos x="T8" y="T9"/>
                </a:cxn>
                <a:cxn ang="0">
                  <a:pos x="T10" y="T11"/>
                </a:cxn>
              </a:cxnLst>
              <a:rect l="0" t="0" r="r" b="b"/>
              <a:pathLst>
                <a:path w="369" h="242">
                  <a:moveTo>
                    <a:pt x="1" y="207"/>
                  </a:moveTo>
                  <a:cubicBezTo>
                    <a:pt x="0" y="193"/>
                    <a:pt x="2" y="178"/>
                    <a:pt x="5" y="162"/>
                  </a:cubicBezTo>
                  <a:cubicBezTo>
                    <a:pt x="20" y="95"/>
                    <a:pt x="72" y="42"/>
                    <a:pt x="137" y="28"/>
                  </a:cubicBezTo>
                  <a:cubicBezTo>
                    <a:pt x="260" y="0"/>
                    <a:pt x="333" y="62"/>
                    <a:pt x="356" y="131"/>
                  </a:cubicBezTo>
                  <a:cubicBezTo>
                    <a:pt x="369" y="170"/>
                    <a:pt x="344" y="212"/>
                    <a:pt x="304" y="218"/>
                  </a:cubicBezTo>
                  <a:cubicBezTo>
                    <a:pt x="165" y="242"/>
                    <a:pt x="85" y="203"/>
                    <a:pt x="1" y="207"/>
                  </a:cubicBezTo>
                </a:path>
              </a:pathLst>
            </a:custGeom>
            <a:grpFill/>
            <a:ln>
              <a:solidFill>
                <a:schemeClr val="bg1"/>
              </a:solidFill>
            </a:ln>
          </p:spPr>
          <p:txBody>
            <a:bodyPr vert="horz" wrap="square" lIns="91440" tIns="45720" rIns="91440" bIns="45720" numCol="1" anchor="t" anchorCtr="0" compatLnSpc="1">
              <a:prstTxWarp prst="textNoShape">
                <a:avLst/>
              </a:prstTxWarp>
            </a:bodyPr>
            <a:lstStyle/>
            <a:p>
              <a:endParaRPr lang="pt-PT">
                <a:latin typeface="+mj-lt"/>
              </a:endParaRPr>
            </a:p>
          </p:txBody>
        </p:sp>
      </p:grpSp>
    </p:spTree>
    <p:extLst>
      <p:ext uri="{BB962C8B-B14F-4D97-AF65-F5344CB8AC3E}">
        <p14:creationId xmlns:p14="http://schemas.microsoft.com/office/powerpoint/2010/main" val="3098715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58565-E995-4F48-8219-C44E02CA90AC}"/>
              </a:ext>
            </a:extLst>
          </p:cNvPr>
          <p:cNvSpPr>
            <a:spLocks noGrp="1"/>
          </p:cNvSpPr>
          <p:nvPr>
            <p:ph type="title"/>
          </p:nvPr>
        </p:nvSpPr>
        <p:spPr>
          <a:xfrm>
            <a:off x="703947" y="-253552"/>
            <a:ext cx="10515600" cy="1325563"/>
          </a:xfrm>
        </p:spPr>
        <p:txBody>
          <a:bodyPr>
            <a:normAutofit/>
          </a:bodyPr>
          <a:lstStyle/>
          <a:p>
            <a:r>
              <a:rPr lang="en-US" sz="2800" b="1" dirty="0"/>
              <a:t>Case Study  – Migrating Teradata to Azure (HRA)</a:t>
            </a:r>
          </a:p>
        </p:txBody>
      </p:sp>
      <p:sp>
        <p:nvSpPr>
          <p:cNvPr id="3" name="Rectangle 2">
            <a:extLst>
              <a:ext uri="{FF2B5EF4-FFF2-40B4-BE49-F238E27FC236}">
                <a16:creationId xmlns:a16="http://schemas.microsoft.com/office/drawing/2014/main" id="{FE1DFE3E-F98A-464A-BA41-B3162FC01DCF}"/>
              </a:ext>
            </a:extLst>
          </p:cNvPr>
          <p:cNvSpPr/>
          <p:nvPr/>
        </p:nvSpPr>
        <p:spPr>
          <a:xfrm>
            <a:off x="178077" y="2051533"/>
            <a:ext cx="3735578" cy="3859472"/>
          </a:xfrm>
          <a:prstGeom prst="rect">
            <a:avLst/>
          </a:prstGeom>
          <a:gradFill>
            <a:gsLst>
              <a:gs pos="0">
                <a:srgbClr val="E6E7E7"/>
              </a:gs>
              <a:gs pos="100000">
                <a:sysClr val="window" lastClr="FFFFFF"/>
              </a:gs>
            </a:gsLst>
            <a:lin ang="54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1" indent="0" algn="l" defTabSz="914400" rtl="0" eaLnBrk="1" fontAlgn="auto" latinLnBrk="0" hangingPunct="1">
              <a:lnSpc>
                <a:spcPct val="100000"/>
              </a:lnSpc>
              <a:spcBef>
                <a:spcPts val="600"/>
              </a:spcBef>
              <a:spcAft>
                <a:spcPts val="0"/>
              </a:spcAft>
              <a:buClr>
                <a:srgbClr val="ED7D31"/>
              </a:buClr>
              <a:buSzPct val="100000"/>
              <a:buFontTx/>
              <a:buNone/>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Client is embarking to strengthen and expand its analytics platform by porting current on-premise Enterprise Analytics platform (data and processes) to the Azure cloud.</a:t>
            </a:r>
          </a:p>
          <a:p>
            <a:pPr marL="171450" marR="0" lvl="1" indent="-171450"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Client high level scope of work includes: </a:t>
            </a:r>
          </a:p>
          <a:p>
            <a:pPr marL="400050" marR="0" lvl="1" indent="-169863"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ü"/>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Migrate all on-premises </a:t>
            </a: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Historical data (~11 years)</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from </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Tearadata</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SQL Server and Cloud SaaS application to Azure</a:t>
            </a:r>
          </a:p>
          <a:p>
            <a:pPr marL="400050" marR="0" lvl="1" indent="-169863"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ü"/>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Ingest all data sources in to cloud platform</a:t>
            </a:r>
          </a:p>
          <a:p>
            <a:pPr marL="400050" marR="0" lvl="1" indent="-169863"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ü"/>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Build current data warehouse logic and create the resultant output tables for consumption in Azure cloud</a:t>
            </a:r>
          </a:p>
          <a:p>
            <a:pPr marL="400050" marR="0" lvl="1" indent="-169863"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ü"/>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Re-develop current Tableau reports in Power BI</a:t>
            </a:r>
          </a:p>
          <a:p>
            <a:pPr marL="400050" marR="0" lvl="1" indent="-169863"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ü"/>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Test all modules in scope (functional and non-functional)</a:t>
            </a:r>
          </a:p>
          <a:p>
            <a:pPr marL="400050" marR="0" lvl="1" indent="-169863"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ü"/>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Adopt CI/CD modules</a:t>
            </a:r>
          </a:p>
          <a:p>
            <a:pPr marL="400050" marR="0" lvl="1" indent="-169863"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ü"/>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Ensure high availability and disaster recovery</a:t>
            </a:r>
          </a:p>
        </p:txBody>
      </p:sp>
      <p:sp>
        <p:nvSpPr>
          <p:cNvPr id="4" name="Rectangle 3">
            <a:extLst>
              <a:ext uri="{FF2B5EF4-FFF2-40B4-BE49-F238E27FC236}">
                <a16:creationId xmlns:a16="http://schemas.microsoft.com/office/drawing/2014/main" id="{3A53141C-6FE8-4A48-9271-331260D9CEFB}"/>
              </a:ext>
            </a:extLst>
          </p:cNvPr>
          <p:cNvSpPr>
            <a:spLocks/>
          </p:cNvSpPr>
          <p:nvPr/>
        </p:nvSpPr>
        <p:spPr>
          <a:xfrm>
            <a:off x="4162009" y="2051533"/>
            <a:ext cx="3696346" cy="3212894"/>
          </a:xfrm>
          <a:prstGeom prst="rect">
            <a:avLst/>
          </a:prstGeom>
          <a:gradFill>
            <a:gsLst>
              <a:gs pos="0">
                <a:srgbClr val="E6E7E7"/>
              </a:gs>
              <a:gs pos="100000">
                <a:sysClr val="window" lastClr="FFFFFF"/>
              </a:gs>
            </a:gsLst>
            <a:lin ang="54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171450" marR="0" lvl="2" indent="-171450" algn="l" defTabSz="914400" rtl="0" eaLnBrk="1" fontAlgn="base" latinLnBrk="0" hangingPunct="1">
              <a:lnSpc>
                <a:spcPct val="100000"/>
              </a:lnSpc>
              <a:spcBef>
                <a:spcPts val="600"/>
              </a:spcBef>
              <a:spcAft>
                <a:spcPts val="0"/>
              </a:spcAft>
              <a:buClr>
                <a:srgbClr val="ED7D31"/>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The technology choices were vetted by Capgemini by assessing decision basis and technology vetting to help identify any risks, challenges to help determine the best fit for Client’s migration </a:t>
            </a:r>
          </a:p>
          <a:p>
            <a:pPr marL="171450" marR="0" lvl="2" indent="-171450" algn="l" defTabSz="914400" rtl="0" eaLnBrk="1" fontAlgn="base" latinLnBrk="0" hangingPunct="1">
              <a:lnSpc>
                <a:spcPct val="100000"/>
              </a:lnSpc>
              <a:spcBef>
                <a:spcPts val="600"/>
              </a:spcBef>
              <a:spcAft>
                <a:spcPts val="0"/>
              </a:spcAft>
              <a:buClr>
                <a:srgbClr val="ED7D31"/>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Capgemini presented most cloud native and strategic option that best fitted Client’s requirements and budget.</a:t>
            </a:r>
          </a:p>
          <a:p>
            <a:pPr marL="171450" marR="0" lvl="2" indent="-171450" algn="l" defTabSz="914400" rtl="0" eaLnBrk="1" fontAlgn="base" latinLnBrk="0" hangingPunct="1">
              <a:lnSpc>
                <a:spcPct val="100000"/>
              </a:lnSpc>
              <a:spcBef>
                <a:spcPts val="600"/>
              </a:spcBef>
              <a:spcAft>
                <a:spcPts val="0"/>
              </a:spcAft>
              <a:buClr>
                <a:srgbClr val="ED7D31"/>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Our solution easily integrates with existing DevOps framework of client.</a:t>
            </a:r>
          </a:p>
          <a:p>
            <a:pPr marL="171450" marR="0" lvl="2" indent="-171450" algn="l" defTabSz="914400" rtl="0" eaLnBrk="1" fontAlgn="base" latinLnBrk="0" hangingPunct="1">
              <a:lnSpc>
                <a:spcPct val="100000"/>
              </a:lnSpc>
              <a:spcBef>
                <a:spcPts val="600"/>
              </a:spcBef>
              <a:spcAft>
                <a:spcPts val="0"/>
              </a:spcAft>
              <a:buClr>
                <a:srgbClr val="ED7D31"/>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Capgemini recommended  Azure Data Bricks/Spark based solution with Audit Balance Control and Scheduling approach</a:t>
            </a:r>
          </a:p>
          <a:p>
            <a:pPr marL="171450" marR="0" lvl="2" indent="-171450" algn="l" defTabSz="914400" rtl="0" eaLnBrk="1" fontAlgn="base" latinLnBrk="0" hangingPunct="1">
              <a:lnSpc>
                <a:spcPct val="100000"/>
              </a:lnSpc>
              <a:spcBef>
                <a:spcPts val="600"/>
              </a:spcBef>
              <a:spcAft>
                <a:spcPts val="0"/>
              </a:spcAft>
              <a:buClr>
                <a:srgbClr val="ED7D31"/>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High level flow is: </a:t>
            </a:r>
          </a:p>
          <a:p>
            <a:pPr marL="457200" marR="0" lvl="1" indent="0" algn="l" defTabSz="914342"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Calibri" panose="020F0502020204030204"/>
                <a:ea typeface="+mn-ea"/>
                <a:cs typeface="+mn-cs"/>
              </a:rPr>
              <a:t>SAP</a:t>
            </a: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 Raw source </a:t>
            </a: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Universal Data Lake Store</a:t>
            </a: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  (On ADLS)</a:t>
            </a: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a:t>
            </a: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    Business Data Lake Store (on ADLS) </a:t>
            </a: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a:t>
            </a: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 Product data Store  (On Azure SQL DW)</a:t>
            </a: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Power BI</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2" indent="-171450" algn="l" defTabSz="914400" rtl="0" eaLnBrk="1" fontAlgn="base" latinLnBrk="0" hangingPunct="1">
              <a:lnSpc>
                <a:spcPct val="100000"/>
              </a:lnSpc>
              <a:spcBef>
                <a:spcPts val="600"/>
              </a:spcBef>
              <a:spcAft>
                <a:spcPts val="0"/>
              </a:spcAft>
              <a:buClr>
                <a:srgbClr val="ED7D31"/>
              </a:buClr>
              <a:buSzTx/>
              <a:buFont typeface="Wingdings" panose="05000000000000000000" pitchFamily="2" charset="2"/>
              <a:buChar char="§"/>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2" indent="-171450" algn="l" defTabSz="914400" rtl="0" eaLnBrk="1" fontAlgn="base" latinLnBrk="0" hangingPunct="1">
              <a:lnSpc>
                <a:spcPct val="100000"/>
              </a:lnSpc>
              <a:spcBef>
                <a:spcPts val="600"/>
              </a:spcBef>
              <a:spcAft>
                <a:spcPts val="0"/>
              </a:spcAft>
              <a:buClr>
                <a:srgbClr val="ED7D31"/>
              </a:buClr>
              <a:buSzTx/>
              <a:buFont typeface="Wingdings" panose="05000000000000000000" pitchFamily="2" charset="2"/>
              <a:buChar char="§"/>
              <a:tabLst/>
              <a:defRPr/>
            </a:pPr>
            <a:endParaRPr kumimoji="0" lang="en-US" altLang="zh-CN" sz="11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 name="Rectangle 4">
            <a:extLst>
              <a:ext uri="{FF2B5EF4-FFF2-40B4-BE49-F238E27FC236}">
                <a16:creationId xmlns:a16="http://schemas.microsoft.com/office/drawing/2014/main" id="{ED236FE0-CE08-4783-91D1-F223B80C6BB8}"/>
              </a:ext>
            </a:extLst>
          </p:cNvPr>
          <p:cNvSpPr>
            <a:spLocks/>
          </p:cNvSpPr>
          <p:nvPr/>
        </p:nvSpPr>
        <p:spPr>
          <a:xfrm>
            <a:off x="8145941" y="2082754"/>
            <a:ext cx="3681882" cy="4394246"/>
          </a:xfrm>
          <a:prstGeom prst="rect">
            <a:avLst/>
          </a:prstGeom>
          <a:gradFill>
            <a:gsLst>
              <a:gs pos="0">
                <a:srgbClr val="E6E7E7"/>
              </a:gs>
              <a:gs pos="100000">
                <a:sysClr val="window" lastClr="FFFFFF"/>
              </a:gs>
            </a:gsLst>
            <a:lin ang="54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171450" marR="0" lvl="1" indent="-171450" algn="l" defTabSz="914400" rtl="0" eaLnBrk="1" fontAlgn="base" latinLnBrk="0" hangingPunct="1">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Migration of Enterprise Analytics platform, which will help enable:</a:t>
            </a:r>
          </a:p>
          <a:p>
            <a:pPr marL="400050" marR="0" lvl="0" indent="-169863" algn="l" defTabSz="914342" rtl="0" eaLnBrk="1" fontAlgn="auto" latinLnBrk="0" hangingPunct="1">
              <a:lnSpc>
                <a:spcPct val="100000"/>
              </a:lnSpc>
              <a:spcBef>
                <a:spcPts val="0"/>
              </a:spcBef>
              <a:spcAft>
                <a:spcPts val="600"/>
              </a:spcAft>
              <a:buClr>
                <a:srgbClr val="ED7D31"/>
              </a:buClr>
              <a:buSzTx/>
              <a:buFont typeface="Wingdings" panose="05000000000000000000" pitchFamily="2" charset="2"/>
              <a:buChar char="ü"/>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Elastic compute and storage for cost control</a:t>
            </a:r>
          </a:p>
          <a:p>
            <a:pPr marL="400050" marR="0" lvl="0" indent="-169863" algn="l" defTabSz="914342" rtl="0" eaLnBrk="1" fontAlgn="auto" latinLnBrk="0" hangingPunct="1">
              <a:lnSpc>
                <a:spcPct val="100000"/>
              </a:lnSpc>
              <a:spcBef>
                <a:spcPts val="0"/>
              </a:spcBef>
              <a:spcAft>
                <a:spcPts val="600"/>
              </a:spcAft>
              <a:buClr>
                <a:srgbClr val="ED7D31"/>
              </a:buClr>
              <a:buSzTx/>
              <a:buFont typeface="Wingdings" panose="05000000000000000000" pitchFamily="2" charset="2"/>
              <a:buChar char="ü"/>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Flexibility for newer analytics</a:t>
            </a:r>
          </a:p>
          <a:p>
            <a:pPr marL="400050" marR="0" lvl="0" indent="-169863" algn="l" defTabSz="914342" rtl="0" eaLnBrk="1" fontAlgn="auto" latinLnBrk="0" hangingPunct="1">
              <a:lnSpc>
                <a:spcPct val="100000"/>
              </a:lnSpc>
              <a:spcBef>
                <a:spcPts val="0"/>
              </a:spcBef>
              <a:spcAft>
                <a:spcPts val="600"/>
              </a:spcAft>
              <a:buClr>
                <a:srgbClr val="ED7D31"/>
              </a:buClr>
              <a:buSzTx/>
              <a:buFont typeface="Wingdings" panose="05000000000000000000" pitchFamily="2" charset="2"/>
              <a:buChar char="ü"/>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Better scalability for data growth and processing</a:t>
            </a:r>
          </a:p>
          <a:p>
            <a:pPr marL="171450" marR="0" lvl="1" indent="-171450" algn="l" defTabSz="914400" rtl="0" eaLnBrk="1" fontAlgn="base" latinLnBrk="0" hangingPunct="1">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Use of Agile methodology along with existing DevOps framework for client </a:t>
            </a:r>
          </a:p>
          <a:p>
            <a:pPr marL="171450" marR="0" lvl="1" indent="-171450" algn="l" defTabSz="914400" rtl="0" eaLnBrk="1" fontAlgn="base" latinLnBrk="0" hangingPunct="1">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Leveraging our technology, domain expertise from CoE for successful engagement </a:t>
            </a:r>
          </a:p>
          <a:p>
            <a:pPr marL="171450" marR="0" lvl="1" indent="-171450" algn="l" defTabSz="914400" rtl="0" eaLnBrk="1" fontAlgn="base" latinLnBrk="0" hangingPunct="1">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End-to-End layered and configurable testing framework which manages data reconciliation and automated data validation</a:t>
            </a:r>
          </a:p>
          <a:p>
            <a:pPr marL="171450" marR="0" lvl="0" indent="-171450" algn="l" defTabSz="914400" rtl="0" eaLnBrk="1" fontAlgn="auto" latinLnBrk="0" hangingPunct="1">
              <a:lnSpc>
                <a:spcPts val="1200"/>
              </a:lnSpc>
              <a:spcBef>
                <a:spcPts val="0"/>
              </a:spcBef>
              <a:spcAft>
                <a:spcPts val="300"/>
              </a:spcAft>
              <a:buClr>
                <a:srgbClr val="FF7E83"/>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Reusable components and scripts are developed for future environment for Statistical model building.</a:t>
            </a:r>
          </a:p>
          <a:p>
            <a:pPr marL="171450" marR="0" lvl="0" indent="-171450" algn="l" defTabSz="914400" rtl="0" eaLnBrk="1" fontAlgn="auto" latinLnBrk="0" hangingPunct="1">
              <a:lnSpc>
                <a:spcPts val="1200"/>
              </a:lnSpc>
              <a:spcBef>
                <a:spcPts val="0"/>
              </a:spcBef>
              <a:spcAft>
                <a:spcPts val="300"/>
              </a:spcAft>
              <a:buClr>
                <a:srgbClr val="FF7E83"/>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30% performance improvement through scalable Azure based Architecture.</a:t>
            </a:r>
          </a:p>
          <a:p>
            <a:pPr marL="171450" marR="0" lvl="0" indent="-171450" algn="l" defTabSz="914400" rtl="0" eaLnBrk="1" fontAlgn="auto" latinLnBrk="0" hangingPunct="1">
              <a:lnSpc>
                <a:spcPts val="1200"/>
              </a:lnSpc>
              <a:spcBef>
                <a:spcPts val="0"/>
              </a:spcBef>
              <a:spcAft>
                <a:spcPts val="300"/>
              </a:spcAft>
              <a:buClr>
                <a:srgbClr val="FF7E83"/>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25% on manual effort reduction through automation.</a:t>
            </a:r>
          </a:p>
          <a:p>
            <a:pPr marL="171450" marR="0" lvl="0" indent="-171450" algn="l" defTabSz="914400" rtl="0" eaLnBrk="1" fontAlgn="auto" latinLnBrk="0" hangingPunct="1">
              <a:lnSpc>
                <a:spcPts val="1200"/>
              </a:lnSpc>
              <a:spcBef>
                <a:spcPts val="0"/>
              </a:spcBef>
              <a:spcAft>
                <a:spcPts val="300"/>
              </a:spcAft>
              <a:buClr>
                <a:srgbClr val="FF7E83"/>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50% Infrastructure cost reduction through Cloud based Azure Architecture.</a:t>
            </a:r>
          </a:p>
          <a:p>
            <a:pPr marL="171450" marR="0" lvl="1" indent="-171450" algn="l" defTabSz="914400" rtl="0" eaLnBrk="1" fontAlgn="base" latinLnBrk="0" hangingPunct="1">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1" indent="-171450" algn="l" defTabSz="914400" rtl="0" eaLnBrk="1" fontAlgn="base" latinLnBrk="0" hangingPunct="1">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1" indent="-171450" algn="l" defTabSz="914400" rtl="0" eaLnBrk="1" fontAlgn="base" latinLnBrk="0" hangingPunct="1">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 name="Group 5">
            <a:extLst>
              <a:ext uri="{FF2B5EF4-FFF2-40B4-BE49-F238E27FC236}">
                <a16:creationId xmlns:a16="http://schemas.microsoft.com/office/drawing/2014/main" id="{05645C00-63EC-4B07-BD15-C0BD9897D4C9}"/>
              </a:ext>
            </a:extLst>
          </p:cNvPr>
          <p:cNvGrpSpPr/>
          <p:nvPr/>
        </p:nvGrpSpPr>
        <p:grpSpPr>
          <a:xfrm>
            <a:off x="8145941" y="1409362"/>
            <a:ext cx="3408980" cy="673392"/>
            <a:chOff x="7483175" y="1647487"/>
            <a:chExt cx="3408980" cy="673392"/>
          </a:xfrm>
        </p:grpSpPr>
        <p:sp>
          <p:nvSpPr>
            <p:cNvPr id="7" name="Rounded Rectangle 12">
              <a:extLst>
                <a:ext uri="{FF2B5EF4-FFF2-40B4-BE49-F238E27FC236}">
                  <a16:creationId xmlns:a16="http://schemas.microsoft.com/office/drawing/2014/main" id="{D3614D2E-0B19-4B8B-95FB-ADA2FF04162F}"/>
                </a:ext>
              </a:extLst>
            </p:cNvPr>
            <p:cNvSpPr/>
            <p:nvPr/>
          </p:nvSpPr>
          <p:spPr>
            <a:xfrm>
              <a:off x="7672161" y="1776788"/>
              <a:ext cx="3219994" cy="315634"/>
            </a:xfrm>
            <a:prstGeom prst="roundRect">
              <a:avLst>
                <a:gd name="adj" fmla="val 50000"/>
              </a:avLst>
            </a:prstGeom>
            <a:solidFill>
              <a:schemeClr val="bg1"/>
            </a:solidFill>
            <a:ln>
              <a:solidFill>
                <a:schemeClr val="accent2"/>
              </a:solidFill>
            </a:ln>
            <a:effectLst/>
          </p:spPr>
          <p:style>
            <a:lnRef idx="1">
              <a:schemeClr val="dk1"/>
            </a:lnRef>
            <a:fillRef idx="3">
              <a:schemeClr val="dk1"/>
            </a:fillRef>
            <a:effectRef idx="2">
              <a:schemeClr val="dk1"/>
            </a:effectRef>
            <a:fontRef idx="minor">
              <a:schemeClr val="lt1"/>
            </a:fontRef>
          </p:style>
          <p:txBody>
            <a:bodyPr wrap="square" lIns="609600" tIns="0" rIns="45812" bIns="0" rtlCol="0" anchor="ctr"/>
            <a:lstStyle/>
            <a:p>
              <a:pPr marL="0" marR="0" lvl="0" indent="0" algn="l" defTabSz="11636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ED7D31"/>
                  </a:solidFill>
                  <a:effectLst/>
                  <a:uLnTx/>
                  <a:uFillTx/>
                  <a:latin typeface="Calibri" panose="020F0502020204030204"/>
                  <a:ea typeface="+mn-ea"/>
                  <a:cs typeface="Arial"/>
                </a:rPr>
                <a:t>Client Benefits</a:t>
              </a:r>
            </a:p>
          </p:txBody>
        </p:sp>
        <p:sp>
          <p:nvSpPr>
            <p:cNvPr id="8" name="Oval 20">
              <a:extLst>
                <a:ext uri="{FF2B5EF4-FFF2-40B4-BE49-F238E27FC236}">
                  <a16:creationId xmlns:a16="http://schemas.microsoft.com/office/drawing/2014/main" id="{3F3E45AE-B137-4715-B457-9400AF269C4B}"/>
                </a:ext>
              </a:extLst>
            </p:cNvPr>
            <p:cNvSpPr/>
            <p:nvPr/>
          </p:nvSpPr>
          <p:spPr>
            <a:xfrm>
              <a:off x="7483175" y="1647487"/>
              <a:ext cx="712710" cy="673392"/>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accent2"/>
            </a:solidFill>
            <a:ln w="19050" cap="flat" cmpd="sng" algn="ctr">
              <a:solidFill>
                <a:schemeClr val="accent2"/>
              </a:solidFill>
              <a:prstDash val="solid"/>
              <a:miter lim="800000"/>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pt-PT" sz="2400" b="0" i="0" u="none" strike="noStrike" kern="0" cap="none" spc="0" normalizeH="0" baseline="0" noProof="0">
                <a:ln>
                  <a:noFill/>
                </a:ln>
                <a:solidFill>
                  <a:prstClr val="white"/>
                </a:solidFill>
                <a:effectLst/>
                <a:uLnTx/>
                <a:uFillTx/>
                <a:latin typeface="Verdana"/>
                <a:ea typeface="+mn-ea"/>
                <a:cs typeface="+mn-cs"/>
              </a:endParaRPr>
            </a:p>
          </p:txBody>
        </p:sp>
        <p:sp>
          <p:nvSpPr>
            <p:cNvPr id="9" name="Freeform 50">
              <a:extLst>
                <a:ext uri="{FF2B5EF4-FFF2-40B4-BE49-F238E27FC236}">
                  <a16:creationId xmlns:a16="http://schemas.microsoft.com/office/drawing/2014/main" id="{7C5FC1E2-FC3A-4F94-866B-3DE07948D5DB}"/>
                </a:ext>
              </a:extLst>
            </p:cNvPr>
            <p:cNvSpPr/>
            <p:nvPr/>
          </p:nvSpPr>
          <p:spPr>
            <a:xfrm>
              <a:off x="7672361" y="1817981"/>
              <a:ext cx="334341" cy="332407"/>
            </a:xfrm>
            <a:custGeom>
              <a:avLst/>
              <a:gdLst>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65723 h 644769"/>
                <a:gd name="connsiteX1" fmla="*/ 230554 w 762000"/>
                <a:gd name="connsiteY1" fmla="*/ 445477 h 644769"/>
                <a:gd name="connsiteX2" fmla="*/ 707292 w 762000"/>
                <a:gd name="connsiteY2" fmla="*/ 0 h 644769"/>
                <a:gd name="connsiteX3" fmla="*/ 762000 w 762000"/>
                <a:gd name="connsiteY3" fmla="*/ 156308 h 644769"/>
                <a:gd name="connsiteX4" fmla="*/ 250092 w 762000"/>
                <a:gd name="connsiteY4" fmla="*/ 644769 h 644769"/>
                <a:gd name="connsiteX5" fmla="*/ 0 w 762000"/>
                <a:gd name="connsiteY5" fmla="*/ 465016 h 644769"/>
                <a:gd name="connsiteX6" fmla="*/ 85969 w 762000"/>
                <a:gd name="connsiteY6" fmla="*/ 265723 h 644769"/>
                <a:gd name="connsiteX0" fmla="*/ 85969 w 762000"/>
                <a:gd name="connsiteY0" fmla="*/ 265723 h 644769"/>
                <a:gd name="connsiteX1" fmla="*/ 230554 w 762000"/>
                <a:gd name="connsiteY1" fmla="*/ 445477 h 644769"/>
                <a:gd name="connsiteX2" fmla="*/ 707292 w 762000"/>
                <a:gd name="connsiteY2" fmla="*/ 0 h 644769"/>
                <a:gd name="connsiteX3" fmla="*/ 762000 w 762000"/>
                <a:gd name="connsiteY3" fmla="*/ 156308 h 644769"/>
                <a:gd name="connsiteX4" fmla="*/ 250092 w 762000"/>
                <a:gd name="connsiteY4" fmla="*/ 644769 h 644769"/>
                <a:gd name="connsiteX5" fmla="*/ 0 w 762000"/>
                <a:gd name="connsiteY5" fmla="*/ 465016 h 644769"/>
                <a:gd name="connsiteX6" fmla="*/ 85969 w 762000"/>
                <a:gd name="connsiteY6" fmla="*/ 265723 h 644769"/>
                <a:gd name="connsiteX0" fmla="*/ 85969 w 762000"/>
                <a:gd name="connsiteY0" fmla="*/ 285262 h 664308"/>
                <a:gd name="connsiteX1" fmla="*/ 230554 w 762000"/>
                <a:gd name="connsiteY1" fmla="*/ 465016 h 664308"/>
                <a:gd name="connsiteX2" fmla="*/ 652584 w 762000"/>
                <a:gd name="connsiteY2" fmla="*/ 0 h 664308"/>
                <a:gd name="connsiteX3" fmla="*/ 762000 w 762000"/>
                <a:gd name="connsiteY3" fmla="*/ 175847 h 664308"/>
                <a:gd name="connsiteX4" fmla="*/ 250092 w 762000"/>
                <a:gd name="connsiteY4" fmla="*/ 664308 h 664308"/>
                <a:gd name="connsiteX5" fmla="*/ 0 w 762000"/>
                <a:gd name="connsiteY5" fmla="*/ 484555 h 664308"/>
                <a:gd name="connsiteX6" fmla="*/ 85969 w 762000"/>
                <a:gd name="connsiteY6" fmla="*/ 285262 h 664308"/>
                <a:gd name="connsiteX0" fmla="*/ 85969 w 699477"/>
                <a:gd name="connsiteY0" fmla="*/ 285262 h 664308"/>
                <a:gd name="connsiteX1" fmla="*/ 230554 w 699477"/>
                <a:gd name="connsiteY1" fmla="*/ 465016 h 664308"/>
                <a:gd name="connsiteX2" fmla="*/ 652584 w 699477"/>
                <a:gd name="connsiteY2" fmla="*/ 0 h 664308"/>
                <a:gd name="connsiteX3" fmla="*/ 699477 w 699477"/>
                <a:gd name="connsiteY3" fmla="*/ 140677 h 664308"/>
                <a:gd name="connsiteX4" fmla="*/ 250092 w 699477"/>
                <a:gd name="connsiteY4" fmla="*/ 664308 h 664308"/>
                <a:gd name="connsiteX5" fmla="*/ 0 w 699477"/>
                <a:gd name="connsiteY5" fmla="*/ 484555 h 664308"/>
                <a:gd name="connsiteX6" fmla="*/ 85969 w 699477"/>
                <a:gd name="connsiteY6" fmla="*/ 285262 h 664308"/>
                <a:gd name="connsiteX0" fmla="*/ 85969 w 699477"/>
                <a:gd name="connsiteY0" fmla="*/ 285262 h 664308"/>
                <a:gd name="connsiteX1" fmla="*/ 230554 w 699477"/>
                <a:gd name="connsiteY1" fmla="*/ 465016 h 664308"/>
                <a:gd name="connsiteX2" fmla="*/ 652584 w 699477"/>
                <a:gd name="connsiteY2" fmla="*/ 0 h 664308"/>
                <a:gd name="connsiteX3" fmla="*/ 699477 w 699477"/>
                <a:gd name="connsiteY3" fmla="*/ 140677 h 664308"/>
                <a:gd name="connsiteX4" fmla="*/ 250092 w 699477"/>
                <a:gd name="connsiteY4" fmla="*/ 664308 h 664308"/>
                <a:gd name="connsiteX5" fmla="*/ 0 w 699477"/>
                <a:gd name="connsiteY5" fmla="*/ 484555 h 664308"/>
                <a:gd name="connsiteX6" fmla="*/ 85969 w 699477"/>
                <a:gd name="connsiteY6" fmla="*/ 285262 h 664308"/>
                <a:gd name="connsiteX0" fmla="*/ 85969 w 699477"/>
                <a:gd name="connsiteY0" fmla="*/ 285262 h 664308"/>
                <a:gd name="connsiteX1" fmla="*/ 230554 w 699477"/>
                <a:gd name="connsiteY1" fmla="*/ 465016 h 664308"/>
                <a:gd name="connsiteX2" fmla="*/ 652584 w 699477"/>
                <a:gd name="connsiteY2" fmla="*/ 0 h 664308"/>
                <a:gd name="connsiteX3" fmla="*/ 699477 w 699477"/>
                <a:gd name="connsiteY3" fmla="*/ 140677 h 664308"/>
                <a:gd name="connsiteX4" fmla="*/ 250092 w 699477"/>
                <a:gd name="connsiteY4" fmla="*/ 664308 h 664308"/>
                <a:gd name="connsiteX5" fmla="*/ 0 w 699477"/>
                <a:gd name="connsiteY5" fmla="*/ 484555 h 664308"/>
                <a:gd name="connsiteX6" fmla="*/ 85969 w 699477"/>
                <a:gd name="connsiteY6" fmla="*/ 285262 h 664308"/>
                <a:gd name="connsiteX0" fmla="*/ 62523 w 676031"/>
                <a:gd name="connsiteY0" fmla="*/ 285262 h 664308"/>
                <a:gd name="connsiteX1" fmla="*/ 207108 w 676031"/>
                <a:gd name="connsiteY1" fmla="*/ 465016 h 664308"/>
                <a:gd name="connsiteX2" fmla="*/ 629138 w 676031"/>
                <a:gd name="connsiteY2" fmla="*/ 0 h 664308"/>
                <a:gd name="connsiteX3" fmla="*/ 676031 w 676031"/>
                <a:gd name="connsiteY3" fmla="*/ 140677 h 664308"/>
                <a:gd name="connsiteX4" fmla="*/ 226646 w 676031"/>
                <a:gd name="connsiteY4" fmla="*/ 664308 h 664308"/>
                <a:gd name="connsiteX5" fmla="*/ 0 w 676031"/>
                <a:gd name="connsiteY5" fmla="*/ 457201 h 664308"/>
                <a:gd name="connsiteX6" fmla="*/ 62523 w 676031"/>
                <a:gd name="connsiteY6" fmla="*/ 285262 h 664308"/>
                <a:gd name="connsiteX0" fmla="*/ 62523 w 676031"/>
                <a:gd name="connsiteY0" fmla="*/ 285262 h 664308"/>
                <a:gd name="connsiteX1" fmla="*/ 207108 w 676031"/>
                <a:gd name="connsiteY1" fmla="*/ 465016 h 664308"/>
                <a:gd name="connsiteX2" fmla="*/ 629138 w 676031"/>
                <a:gd name="connsiteY2" fmla="*/ 0 h 664308"/>
                <a:gd name="connsiteX3" fmla="*/ 676031 w 676031"/>
                <a:gd name="connsiteY3" fmla="*/ 140677 h 664308"/>
                <a:gd name="connsiteX4" fmla="*/ 226646 w 676031"/>
                <a:gd name="connsiteY4" fmla="*/ 664308 h 664308"/>
                <a:gd name="connsiteX5" fmla="*/ 0 w 676031"/>
                <a:gd name="connsiteY5" fmla="*/ 457201 h 664308"/>
                <a:gd name="connsiteX6" fmla="*/ 62523 w 676031"/>
                <a:gd name="connsiteY6" fmla="*/ 285262 h 664308"/>
                <a:gd name="connsiteX0" fmla="*/ 62523 w 676031"/>
                <a:gd name="connsiteY0" fmla="*/ 285262 h 664308"/>
                <a:gd name="connsiteX1" fmla="*/ 207108 w 676031"/>
                <a:gd name="connsiteY1" fmla="*/ 465016 h 664308"/>
                <a:gd name="connsiteX2" fmla="*/ 629138 w 676031"/>
                <a:gd name="connsiteY2" fmla="*/ 0 h 664308"/>
                <a:gd name="connsiteX3" fmla="*/ 676031 w 676031"/>
                <a:gd name="connsiteY3" fmla="*/ 140677 h 664308"/>
                <a:gd name="connsiteX4" fmla="*/ 226646 w 676031"/>
                <a:gd name="connsiteY4" fmla="*/ 664308 h 664308"/>
                <a:gd name="connsiteX5" fmla="*/ 0 w 676031"/>
                <a:gd name="connsiteY5" fmla="*/ 457201 h 664308"/>
                <a:gd name="connsiteX6" fmla="*/ 62523 w 676031"/>
                <a:gd name="connsiteY6" fmla="*/ 285262 h 664308"/>
                <a:gd name="connsiteX0" fmla="*/ 62523 w 676031"/>
                <a:gd name="connsiteY0" fmla="*/ 285262 h 664308"/>
                <a:gd name="connsiteX1" fmla="*/ 207108 w 676031"/>
                <a:gd name="connsiteY1" fmla="*/ 465016 h 664308"/>
                <a:gd name="connsiteX2" fmla="*/ 629138 w 676031"/>
                <a:gd name="connsiteY2" fmla="*/ 0 h 664308"/>
                <a:gd name="connsiteX3" fmla="*/ 676031 w 676031"/>
                <a:gd name="connsiteY3" fmla="*/ 140677 h 664308"/>
                <a:gd name="connsiteX4" fmla="*/ 226646 w 676031"/>
                <a:gd name="connsiteY4" fmla="*/ 664308 h 664308"/>
                <a:gd name="connsiteX5" fmla="*/ 0 w 676031"/>
                <a:gd name="connsiteY5" fmla="*/ 457201 h 664308"/>
                <a:gd name="connsiteX6" fmla="*/ 62523 w 676031"/>
                <a:gd name="connsiteY6" fmla="*/ 285262 h 664308"/>
                <a:gd name="connsiteX0" fmla="*/ 62523 w 676031"/>
                <a:gd name="connsiteY0" fmla="*/ 285262 h 672123"/>
                <a:gd name="connsiteX1" fmla="*/ 207108 w 676031"/>
                <a:gd name="connsiteY1" fmla="*/ 465016 h 672123"/>
                <a:gd name="connsiteX2" fmla="*/ 629138 w 676031"/>
                <a:gd name="connsiteY2" fmla="*/ 0 h 672123"/>
                <a:gd name="connsiteX3" fmla="*/ 676031 w 676031"/>
                <a:gd name="connsiteY3" fmla="*/ 140677 h 672123"/>
                <a:gd name="connsiteX4" fmla="*/ 218831 w 676031"/>
                <a:gd name="connsiteY4" fmla="*/ 672123 h 672123"/>
                <a:gd name="connsiteX5" fmla="*/ 0 w 676031"/>
                <a:gd name="connsiteY5" fmla="*/ 457201 h 672123"/>
                <a:gd name="connsiteX6" fmla="*/ 62523 w 676031"/>
                <a:gd name="connsiteY6" fmla="*/ 285262 h 672123"/>
                <a:gd name="connsiteX0" fmla="*/ 62523 w 676031"/>
                <a:gd name="connsiteY0" fmla="*/ 285262 h 672123"/>
                <a:gd name="connsiteX1" fmla="*/ 207108 w 676031"/>
                <a:gd name="connsiteY1" fmla="*/ 465016 h 672123"/>
                <a:gd name="connsiteX2" fmla="*/ 629138 w 676031"/>
                <a:gd name="connsiteY2" fmla="*/ 0 h 672123"/>
                <a:gd name="connsiteX3" fmla="*/ 676031 w 676031"/>
                <a:gd name="connsiteY3" fmla="*/ 140677 h 672123"/>
                <a:gd name="connsiteX4" fmla="*/ 218831 w 676031"/>
                <a:gd name="connsiteY4" fmla="*/ 672123 h 672123"/>
                <a:gd name="connsiteX5" fmla="*/ 0 w 676031"/>
                <a:gd name="connsiteY5" fmla="*/ 457201 h 672123"/>
                <a:gd name="connsiteX6" fmla="*/ 62523 w 676031"/>
                <a:gd name="connsiteY6" fmla="*/ 285262 h 672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031" h="672123">
                  <a:moveTo>
                    <a:pt x="62523" y="285262"/>
                  </a:moveTo>
                  <a:lnTo>
                    <a:pt x="207108" y="465016"/>
                  </a:lnTo>
                  <a:cubicBezTo>
                    <a:pt x="379048" y="182360"/>
                    <a:pt x="465015" y="106810"/>
                    <a:pt x="629138" y="0"/>
                  </a:cubicBezTo>
                  <a:lnTo>
                    <a:pt x="676031" y="140677"/>
                  </a:lnTo>
                  <a:cubicBezTo>
                    <a:pt x="454595" y="276143"/>
                    <a:pt x="362113" y="352995"/>
                    <a:pt x="218831" y="672123"/>
                  </a:cubicBezTo>
                  <a:cubicBezTo>
                    <a:pt x="104206" y="506698"/>
                    <a:pt x="83364" y="517119"/>
                    <a:pt x="0" y="457201"/>
                  </a:cubicBezTo>
                  <a:cubicBezTo>
                    <a:pt x="59917" y="386862"/>
                    <a:pt x="49497" y="347785"/>
                    <a:pt x="62523" y="285262"/>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grpSp>
      <p:grpSp>
        <p:nvGrpSpPr>
          <p:cNvPr id="10" name="Group 9">
            <a:extLst>
              <a:ext uri="{FF2B5EF4-FFF2-40B4-BE49-F238E27FC236}">
                <a16:creationId xmlns:a16="http://schemas.microsoft.com/office/drawing/2014/main" id="{1DA1D133-5A82-42B5-93D4-10692FACD11E}"/>
              </a:ext>
            </a:extLst>
          </p:cNvPr>
          <p:cNvGrpSpPr/>
          <p:nvPr/>
        </p:nvGrpSpPr>
        <p:grpSpPr>
          <a:xfrm>
            <a:off x="4162009" y="1409362"/>
            <a:ext cx="3278390" cy="673392"/>
            <a:chOff x="3803299" y="1647487"/>
            <a:chExt cx="3278390" cy="673392"/>
          </a:xfrm>
        </p:grpSpPr>
        <p:sp>
          <p:nvSpPr>
            <p:cNvPr id="11" name="Rounded Rectangle 11">
              <a:extLst>
                <a:ext uri="{FF2B5EF4-FFF2-40B4-BE49-F238E27FC236}">
                  <a16:creationId xmlns:a16="http://schemas.microsoft.com/office/drawing/2014/main" id="{D56900DD-F120-4A23-957F-25B3BA286040}"/>
                </a:ext>
              </a:extLst>
            </p:cNvPr>
            <p:cNvSpPr/>
            <p:nvPr/>
          </p:nvSpPr>
          <p:spPr>
            <a:xfrm>
              <a:off x="3984347" y="1776788"/>
              <a:ext cx="3097342" cy="315634"/>
            </a:xfrm>
            <a:prstGeom prst="roundRect">
              <a:avLst>
                <a:gd name="adj" fmla="val 50000"/>
              </a:avLst>
            </a:prstGeom>
            <a:solidFill>
              <a:schemeClr val="bg1"/>
            </a:solidFill>
            <a:ln>
              <a:solidFill>
                <a:schemeClr val="tx2"/>
              </a:solidFill>
            </a:ln>
            <a:effectLst/>
          </p:spPr>
          <p:style>
            <a:lnRef idx="1">
              <a:schemeClr val="dk1"/>
            </a:lnRef>
            <a:fillRef idx="3">
              <a:schemeClr val="dk1"/>
            </a:fillRef>
            <a:effectRef idx="2">
              <a:schemeClr val="dk1"/>
            </a:effectRef>
            <a:fontRef idx="minor">
              <a:schemeClr val="lt1"/>
            </a:fontRef>
          </p:style>
          <p:txBody>
            <a:bodyPr wrap="square" lIns="609600" tIns="0" rIns="45812" bIns="0" rtlCol="0" anchor="ctr"/>
            <a:lstStyle/>
            <a:p>
              <a:pPr marL="0" marR="0" lvl="0" indent="0" algn="l" defTabSz="11636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44546A"/>
                  </a:solidFill>
                  <a:effectLst/>
                  <a:uLnTx/>
                  <a:uFillTx/>
                  <a:latin typeface="Calibri" panose="020F0502020204030204"/>
                  <a:ea typeface="+mn-ea"/>
                  <a:cs typeface="Arial"/>
                </a:rPr>
                <a:t>Solution Approach</a:t>
              </a:r>
            </a:p>
          </p:txBody>
        </p:sp>
        <p:sp>
          <p:nvSpPr>
            <p:cNvPr id="12" name="Oval 20">
              <a:extLst>
                <a:ext uri="{FF2B5EF4-FFF2-40B4-BE49-F238E27FC236}">
                  <a16:creationId xmlns:a16="http://schemas.microsoft.com/office/drawing/2014/main" id="{2D8353B5-D7DB-4F2B-9BC1-2A65558FFD83}"/>
                </a:ext>
              </a:extLst>
            </p:cNvPr>
            <p:cNvSpPr/>
            <p:nvPr/>
          </p:nvSpPr>
          <p:spPr>
            <a:xfrm>
              <a:off x="3803299" y="1647487"/>
              <a:ext cx="712710" cy="673392"/>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tx2"/>
            </a:solidFill>
            <a:ln w="19050" cap="flat" cmpd="sng" algn="ctr">
              <a:solidFill>
                <a:schemeClr val="tx2"/>
              </a:solidFill>
              <a:prstDash val="solid"/>
              <a:miter lim="800000"/>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pt-PT" sz="2400" b="0" i="0" u="none" strike="noStrike" kern="0" cap="none" spc="0" normalizeH="0" baseline="0" noProof="0">
                <a:ln>
                  <a:noFill/>
                </a:ln>
                <a:solidFill>
                  <a:prstClr val="white"/>
                </a:solidFill>
                <a:effectLst/>
                <a:uLnTx/>
                <a:uFillTx/>
                <a:latin typeface="Verdana"/>
                <a:ea typeface="+mn-ea"/>
                <a:cs typeface="+mn-cs"/>
              </a:endParaRPr>
            </a:p>
          </p:txBody>
        </p:sp>
        <p:grpSp>
          <p:nvGrpSpPr>
            <p:cNvPr id="13" name="Group 100">
              <a:extLst>
                <a:ext uri="{FF2B5EF4-FFF2-40B4-BE49-F238E27FC236}">
                  <a16:creationId xmlns:a16="http://schemas.microsoft.com/office/drawing/2014/main" id="{E7B65B02-B34D-4347-99BC-89C90D5C7B2F}"/>
                </a:ext>
              </a:extLst>
            </p:cNvPr>
            <p:cNvGrpSpPr/>
            <p:nvPr/>
          </p:nvGrpSpPr>
          <p:grpSpPr>
            <a:xfrm>
              <a:off x="3975876" y="1800406"/>
              <a:ext cx="367554" cy="367554"/>
              <a:chOff x="8807450" y="4772025"/>
              <a:chExt cx="250825" cy="250825"/>
            </a:xfrm>
          </p:grpSpPr>
          <p:sp>
            <p:nvSpPr>
              <p:cNvPr id="14" name="Freeform 32">
                <a:extLst>
                  <a:ext uri="{FF2B5EF4-FFF2-40B4-BE49-F238E27FC236}">
                    <a16:creationId xmlns:a16="http://schemas.microsoft.com/office/drawing/2014/main" id="{A7DE415B-18DA-434A-A93A-4B200C2FE6F7}"/>
                  </a:ext>
                </a:extLst>
              </p:cNvPr>
              <p:cNvSpPr>
                <a:spLocks/>
              </p:cNvSpPr>
              <p:nvPr/>
            </p:nvSpPr>
            <p:spPr bwMode="auto">
              <a:xfrm>
                <a:off x="8807450" y="4848225"/>
                <a:ext cx="176212" cy="174625"/>
              </a:xfrm>
              <a:custGeom>
                <a:avLst/>
                <a:gdLst/>
                <a:ahLst/>
                <a:cxnLst>
                  <a:cxn ang="0">
                    <a:pos x="44" y="10"/>
                  </a:cxn>
                  <a:cxn ang="0">
                    <a:pos x="44" y="10"/>
                  </a:cxn>
                  <a:cxn ang="0">
                    <a:pos x="47" y="23"/>
                  </a:cxn>
                  <a:cxn ang="0">
                    <a:pos x="24" y="47"/>
                  </a:cxn>
                  <a:cxn ang="0">
                    <a:pos x="0" y="23"/>
                  </a:cxn>
                  <a:cxn ang="0">
                    <a:pos x="24" y="0"/>
                  </a:cxn>
                  <a:cxn ang="0">
                    <a:pos x="37" y="4"/>
                  </a:cxn>
                </a:cxnLst>
                <a:rect l="0" t="0" r="r" b="b"/>
                <a:pathLst>
                  <a:path w="47" h="47">
                    <a:moveTo>
                      <a:pt x="44" y="10"/>
                    </a:moveTo>
                    <a:cubicBezTo>
                      <a:pt x="44" y="10"/>
                      <a:pt x="44" y="10"/>
                      <a:pt x="44" y="10"/>
                    </a:cubicBezTo>
                    <a:cubicBezTo>
                      <a:pt x="46" y="14"/>
                      <a:pt x="47" y="19"/>
                      <a:pt x="47" y="23"/>
                    </a:cubicBezTo>
                    <a:cubicBezTo>
                      <a:pt x="47" y="37"/>
                      <a:pt x="37" y="47"/>
                      <a:pt x="24" y="47"/>
                    </a:cubicBezTo>
                    <a:cubicBezTo>
                      <a:pt x="11" y="47"/>
                      <a:pt x="0" y="37"/>
                      <a:pt x="0" y="23"/>
                    </a:cubicBezTo>
                    <a:cubicBezTo>
                      <a:pt x="0" y="10"/>
                      <a:pt x="11" y="0"/>
                      <a:pt x="24" y="0"/>
                    </a:cubicBezTo>
                    <a:cubicBezTo>
                      <a:pt x="29" y="0"/>
                      <a:pt x="33" y="2"/>
                      <a:pt x="37" y="4"/>
                    </a:cubicBezTo>
                  </a:path>
                </a:pathLst>
              </a:custGeom>
              <a:solidFill>
                <a:schemeClr val="accent5"/>
              </a:solidFill>
              <a:ln w="19050" cap="rnd">
                <a:solidFill>
                  <a:schemeClr val="accent5"/>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234B"/>
                  </a:solidFill>
                  <a:effectLst/>
                  <a:uLnTx/>
                  <a:uFillTx/>
                  <a:latin typeface="Verdana"/>
                  <a:ea typeface="+mn-ea"/>
                  <a:cs typeface="+mn-cs"/>
                </a:endParaRPr>
              </a:p>
            </p:txBody>
          </p:sp>
          <p:sp>
            <p:nvSpPr>
              <p:cNvPr id="15" name="Freeform 34">
                <a:extLst>
                  <a:ext uri="{FF2B5EF4-FFF2-40B4-BE49-F238E27FC236}">
                    <a16:creationId xmlns:a16="http://schemas.microsoft.com/office/drawing/2014/main" id="{1BA46DB5-DA5F-4887-AE76-FAAD28FBE1D1}"/>
                  </a:ext>
                </a:extLst>
              </p:cNvPr>
              <p:cNvSpPr>
                <a:spLocks/>
              </p:cNvSpPr>
              <p:nvPr/>
            </p:nvSpPr>
            <p:spPr bwMode="auto">
              <a:xfrm>
                <a:off x="8845550" y="4881563"/>
                <a:ext cx="104775" cy="107950"/>
              </a:xfrm>
              <a:custGeom>
                <a:avLst/>
                <a:gdLst/>
                <a:ahLst/>
                <a:cxnLst>
                  <a:cxn ang="0">
                    <a:pos x="26" y="7"/>
                  </a:cxn>
                  <a:cxn ang="0">
                    <a:pos x="26" y="7"/>
                  </a:cxn>
                  <a:cxn ang="0">
                    <a:pos x="28" y="14"/>
                  </a:cxn>
                  <a:cxn ang="0">
                    <a:pos x="14" y="29"/>
                  </a:cxn>
                  <a:cxn ang="0">
                    <a:pos x="0" y="14"/>
                  </a:cxn>
                  <a:cxn ang="0">
                    <a:pos x="14" y="0"/>
                  </a:cxn>
                  <a:cxn ang="0">
                    <a:pos x="22" y="3"/>
                  </a:cxn>
                </a:cxnLst>
                <a:rect l="0" t="0" r="r" b="b"/>
                <a:pathLst>
                  <a:path w="28" h="29">
                    <a:moveTo>
                      <a:pt x="26" y="7"/>
                    </a:moveTo>
                    <a:cubicBezTo>
                      <a:pt x="26" y="7"/>
                      <a:pt x="26" y="7"/>
                      <a:pt x="26" y="7"/>
                    </a:cubicBezTo>
                    <a:cubicBezTo>
                      <a:pt x="27" y="9"/>
                      <a:pt x="28" y="12"/>
                      <a:pt x="28" y="14"/>
                    </a:cubicBezTo>
                    <a:cubicBezTo>
                      <a:pt x="28" y="22"/>
                      <a:pt x="22" y="29"/>
                      <a:pt x="14" y="29"/>
                    </a:cubicBezTo>
                    <a:cubicBezTo>
                      <a:pt x="6" y="29"/>
                      <a:pt x="0" y="22"/>
                      <a:pt x="0" y="14"/>
                    </a:cubicBezTo>
                    <a:cubicBezTo>
                      <a:pt x="0" y="7"/>
                      <a:pt x="6" y="0"/>
                      <a:pt x="14" y="0"/>
                    </a:cubicBezTo>
                    <a:cubicBezTo>
                      <a:pt x="17" y="0"/>
                      <a:pt x="19" y="1"/>
                      <a:pt x="22" y="3"/>
                    </a:cubicBezTo>
                  </a:path>
                </a:pathLst>
              </a:custGeom>
              <a:solidFill>
                <a:sysClr val="window" lastClr="FFFFFF"/>
              </a:solidFill>
              <a:ln w="1905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234B"/>
                  </a:solidFill>
                  <a:effectLst/>
                  <a:uLnTx/>
                  <a:uFillTx/>
                  <a:latin typeface="Verdana"/>
                  <a:ea typeface="+mn-ea"/>
                  <a:cs typeface="+mn-cs"/>
                </a:endParaRPr>
              </a:p>
            </p:txBody>
          </p:sp>
          <p:sp>
            <p:nvSpPr>
              <p:cNvPr id="16" name="Line 36">
                <a:extLst>
                  <a:ext uri="{FF2B5EF4-FFF2-40B4-BE49-F238E27FC236}">
                    <a16:creationId xmlns:a16="http://schemas.microsoft.com/office/drawing/2014/main" id="{0C6DC925-0C9E-496B-8E20-9A195C67BEFE}"/>
                  </a:ext>
                </a:extLst>
              </p:cNvPr>
              <p:cNvSpPr>
                <a:spLocks noChangeShapeType="1"/>
              </p:cNvSpPr>
              <p:nvPr/>
            </p:nvSpPr>
            <p:spPr bwMode="auto">
              <a:xfrm flipV="1">
                <a:off x="8897938" y="4806950"/>
                <a:ext cx="127000" cy="130175"/>
              </a:xfrm>
              <a:prstGeom prst="line">
                <a:avLst/>
              </a:prstGeom>
              <a:solidFill>
                <a:srgbClr val="95E616"/>
              </a:solidFill>
              <a:ln w="19050" cap="rnd">
                <a:solidFill>
                  <a:schemeClr val="accent5"/>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234B"/>
                  </a:solidFill>
                  <a:effectLst/>
                  <a:uLnTx/>
                  <a:uFillTx/>
                  <a:latin typeface="Verdana"/>
                  <a:ea typeface="+mn-ea"/>
                  <a:cs typeface="+mn-cs"/>
                </a:endParaRPr>
              </a:p>
            </p:txBody>
          </p:sp>
          <p:sp>
            <p:nvSpPr>
              <p:cNvPr id="17" name="Freeform 37">
                <a:extLst>
                  <a:ext uri="{FF2B5EF4-FFF2-40B4-BE49-F238E27FC236}">
                    <a16:creationId xmlns:a16="http://schemas.microsoft.com/office/drawing/2014/main" id="{BF774D10-6D0F-4C81-A0D8-A907DBEE8BD2}"/>
                  </a:ext>
                </a:extLst>
              </p:cNvPr>
              <p:cNvSpPr>
                <a:spLocks/>
              </p:cNvSpPr>
              <p:nvPr/>
            </p:nvSpPr>
            <p:spPr bwMode="auto">
              <a:xfrm>
                <a:off x="8983663" y="4772025"/>
                <a:ext cx="30162" cy="57150"/>
              </a:xfrm>
              <a:custGeom>
                <a:avLst/>
                <a:gdLst/>
                <a:ahLst/>
                <a:cxnLst>
                  <a:cxn ang="0">
                    <a:pos x="0" y="36"/>
                  </a:cxn>
                  <a:cxn ang="0">
                    <a:pos x="0" y="19"/>
                  </a:cxn>
                  <a:cxn ang="0">
                    <a:pos x="19" y="0"/>
                  </a:cxn>
                  <a:cxn ang="0">
                    <a:pos x="19" y="17"/>
                  </a:cxn>
                  <a:cxn ang="0">
                    <a:pos x="0" y="36"/>
                  </a:cxn>
                  <a:cxn ang="0">
                    <a:pos x="0" y="36"/>
                  </a:cxn>
                </a:cxnLst>
                <a:rect l="0" t="0" r="r" b="b"/>
                <a:pathLst>
                  <a:path w="19" h="36">
                    <a:moveTo>
                      <a:pt x="0" y="36"/>
                    </a:moveTo>
                    <a:lnTo>
                      <a:pt x="0" y="19"/>
                    </a:lnTo>
                    <a:lnTo>
                      <a:pt x="19" y="0"/>
                    </a:lnTo>
                    <a:lnTo>
                      <a:pt x="19" y="17"/>
                    </a:lnTo>
                    <a:lnTo>
                      <a:pt x="0" y="36"/>
                    </a:lnTo>
                    <a:lnTo>
                      <a:pt x="0" y="36"/>
                    </a:lnTo>
                    <a:close/>
                  </a:path>
                </a:pathLst>
              </a:custGeom>
              <a:solidFill>
                <a:schemeClr val="accent5"/>
              </a:solidFill>
              <a:ln w="19050" cap="rnd">
                <a:solidFill>
                  <a:schemeClr val="accent5"/>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234B"/>
                  </a:solidFill>
                  <a:effectLst/>
                  <a:uLnTx/>
                  <a:uFillTx/>
                  <a:latin typeface="Verdana"/>
                  <a:ea typeface="+mn-ea"/>
                  <a:cs typeface="+mn-cs"/>
                </a:endParaRPr>
              </a:p>
            </p:txBody>
          </p:sp>
          <p:sp>
            <p:nvSpPr>
              <p:cNvPr id="18" name="Freeform 38">
                <a:extLst>
                  <a:ext uri="{FF2B5EF4-FFF2-40B4-BE49-F238E27FC236}">
                    <a16:creationId xmlns:a16="http://schemas.microsoft.com/office/drawing/2014/main" id="{7EA5392C-08DB-4D66-BB23-417B5F8B5F47}"/>
                  </a:ext>
                </a:extLst>
              </p:cNvPr>
              <p:cNvSpPr>
                <a:spLocks/>
              </p:cNvSpPr>
              <p:nvPr/>
            </p:nvSpPr>
            <p:spPr bwMode="auto">
              <a:xfrm>
                <a:off x="9002713" y="4813300"/>
                <a:ext cx="55562" cy="34925"/>
              </a:xfrm>
              <a:custGeom>
                <a:avLst/>
                <a:gdLst/>
                <a:ahLst/>
                <a:cxnLst>
                  <a:cxn ang="0">
                    <a:pos x="0" y="22"/>
                  </a:cxn>
                  <a:cxn ang="0">
                    <a:pos x="17" y="19"/>
                  </a:cxn>
                  <a:cxn ang="0">
                    <a:pos x="35" y="0"/>
                  </a:cxn>
                  <a:cxn ang="0">
                    <a:pos x="19" y="3"/>
                  </a:cxn>
                  <a:cxn ang="0">
                    <a:pos x="0" y="22"/>
                  </a:cxn>
                  <a:cxn ang="0">
                    <a:pos x="0" y="22"/>
                  </a:cxn>
                </a:cxnLst>
                <a:rect l="0" t="0" r="r" b="b"/>
                <a:pathLst>
                  <a:path w="35" h="22">
                    <a:moveTo>
                      <a:pt x="0" y="22"/>
                    </a:moveTo>
                    <a:lnTo>
                      <a:pt x="17" y="19"/>
                    </a:lnTo>
                    <a:lnTo>
                      <a:pt x="35" y="0"/>
                    </a:lnTo>
                    <a:lnTo>
                      <a:pt x="19" y="3"/>
                    </a:lnTo>
                    <a:lnTo>
                      <a:pt x="0" y="22"/>
                    </a:lnTo>
                    <a:lnTo>
                      <a:pt x="0" y="22"/>
                    </a:lnTo>
                    <a:close/>
                  </a:path>
                </a:pathLst>
              </a:custGeom>
              <a:solidFill>
                <a:schemeClr val="accent5"/>
              </a:solidFill>
              <a:ln w="19050" cap="rnd">
                <a:solidFill>
                  <a:schemeClr val="accent5"/>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234B"/>
                  </a:solidFill>
                  <a:effectLst/>
                  <a:uLnTx/>
                  <a:uFillTx/>
                  <a:latin typeface="Verdana"/>
                  <a:ea typeface="+mn-ea"/>
                  <a:cs typeface="+mn-cs"/>
                </a:endParaRPr>
              </a:p>
            </p:txBody>
          </p:sp>
        </p:grpSp>
      </p:grpSp>
      <p:grpSp>
        <p:nvGrpSpPr>
          <p:cNvPr id="19" name="Group 18">
            <a:extLst>
              <a:ext uri="{FF2B5EF4-FFF2-40B4-BE49-F238E27FC236}">
                <a16:creationId xmlns:a16="http://schemas.microsoft.com/office/drawing/2014/main" id="{9A1C8835-DC16-45B8-8B4C-0320D4D89690}"/>
              </a:ext>
            </a:extLst>
          </p:cNvPr>
          <p:cNvGrpSpPr/>
          <p:nvPr/>
        </p:nvGrpSpPr>
        <p:grpSpPr>
          <a:xfrm>
            <a:off x="137471" y="1409362"/>
            <a:ext cx="3486331" cy="673392"/>
            <a:chOff x="137471" y="1647487"/>
            <a:chExt cx="3486331" cy="673392"/>
          </a:xfrm>
        </p:grpSpPr>
        <p:sp>
          <p:nvSpPr>
            <p:cNvPr id="20" name="Rounded Rectangle 10">
              <a:extLst>
                <a:ext uri="{FF2B5EF4-FFF2-40B4-BE49-F238E27FC236}">
                  <a16:creationId xmlns:a16="http://schemas.microsoft.com/office/drawing/2014/main" id="{F8BC6CC8-3AC5-4B41-88A6-AD2DB3306A14}"/>
                </a:ext>
              </a:extLst>
            </p:cNvPr>
            <p:cNvSpPr/>
            <p:nvPr/>
          </p:nvSpPr>
          <p:spPr>
            <a:xfrm>
              <a:off x="323851" y="1776788"/>
              <a:ext cx="3299951" cy="315634"/>
            </a:xfrm>
            <a:prstGeom prst="roundRect">
              <a:avLst>
                <a:gd name="adj" fmla="val 50000"/>
              </a:avLst>
            </a:prstGeom>
            <a:solidFill>
              <a:schemeClr val="bg1"/>
            </a:solidFill>
            <a:ln>
              <a:solidFill>
                <a:schemeClr val="accent3"/>
              </a:solidFill>
            </a:ln>
            <a:effectLst/>
          </p:spPr>
          <p:style>
            <a:lnRef idx="1">
              <a:schemeClr val="dk1"/>
            </a:lnRef>
            <a:fillRef idx="3">
              <a:schemeClr val="dk1"/>
            </a:fillRef>
            <a:effectRef idx="2">
              <a:schemeClr val="dk1"/>
            </a:effectRef>
            <a:fontRef idx="minor">
              <a:schemeClr val="lt1"/>
            </a:fontRef>
          </p:style>
          <p:txBody>
            <a:bodyPr wrap="square" lIns="609600" tIns="0" rIns="45812" bIns="0" rtlCol="0" anchor="ctr"/>
            <a:lstStyle/>
            <a:p>
              <a:pPr marL="0" marR="0" lvl="0" indent="0" algn="l" defTabSz="11636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A5A5A5"/>
                  </a:solidFill>
                  <a:effectLst/>
                  <a:uLnTx/>
                  <a:uFillTx/>
                  <a:latin typeface="Calibri" panose="020F0502020204030204"/>
                  <a:ea typeface="+mn-ea"/>
                  <a:cs typeface="Arial"/>
                </a:rPr>
                <a:t>Situation</a:t>
              </a:r>
            </a:p>
          </p:txBody>
        </p:sp>
        <p:sp>
          <p:nvSpPr>
            <p:cNvPr id="21" name="Oval 20">
              <a:extLst>
                <a:ext uri="{FF2B5EF4-FFF2-40B4-BE49-F238E27FC236}">
                  <a16:creationId xmlns:a16="http://schemas.microsoft.com/office/drawing/2014/main" id="{A33C7501-80BC-4903-BEBB-2348A4D4CB44}"/>
                </a:ext>
              </a:extLst>
            </p:cNvPr>
            <p:cNvSpPr/>
            <p:nvPr/>
          </p:nvSpPr>
          <p:spPr>
            <a:xfrm>
              <a:off x="137471" y="1647487"/>
              <a:ext cx="712710" cy="673392"/>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accent3"/>
            </a:solidFill>
            <a:ln w="19050" cap="flat" cmpd="sng" algn="ctr">
              <a:solidFill>
                <a:schemeClr val="accent3"/>
              </a:solidFill>
              <a:prstDash val="solid"/>
              <a:miter lim="800000"/>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pt-PT" sz="2400" b="0" i="0" u="none" strike="noStrike" kern="0" cap="none" spc="0" normalizeH="0" baseline="0" noProof="0">
                <a:ln>
                  <a:noFill/>
                </a:ln>
                <a:solidFill>
                  <a:prstClr val="white"/>
                </a:solidFill>
                <a:effectLst/>
                <a:uLnTx/>
                <a:uFillTx/>
                <a:latin typeface="Verdana"/>
                <a:ea typeface="+mn-ea"/>
                <a:cs typeface="+mn-cs"/>
              </a:endParaRPr>
            </a:p>
          </p:txBody>
        </p:sp>
        <p:grpSp>
          <p:nvGrpSpPr>
            <p:cNvPr id="22" name="Group 21">
              <a:extLst>
                <a:ext uri="{FF2B5EF4-FFF2-40B4-BE49-F238E27FC236}">
                  <a16:creationId xmlns:a16="http://schemas.microsoft.com/office/drawing/2014/main" id="{60AAA644-915C-426A-A321-A3077F4CCF0E}"/>
                </a:ext>
              </a:extLst>
            </p:cNvPr>
            <p:cNvGrpSpPr>
              <a:grpSpLocks noChangeAspect="1"/>
            </p:cNvGrpSpPr>
            <p:nvPr/>
          </p:nvGrpSpPr>
          <p:grpSpPr bwMode="auto">
            <a:xfrm>
              <a:off x="297864" y="1764467"/>
              <a:ext cx="391925" cy="439434"/>
              <a:chOff x="890" y="777"/>
              <a:chExt cx="2879" cy="3228"/>
            </a:xfrm>
            <a:noFill/>
          </p:grpSpPr>
          <p:sp>
            <p:nvSpPr>
              <p:cNvPr id="23" name="Freeform 66">
                <a:extLst>
                  <a:ext uri="{FF2B5EF4-FFF2-40B4-BE49-F238E27FC236}">
                    <a16:creationId xmlns:a16="http://schemas.microsoft.com/office/drawing/2014/main" id="{09E2A2AD-CDFB-49E3-8D8B-F388F297A430}"/>
                  </a:ext>
                </a:extLst>
              </p:cNvPr>
              <p:cNvSpPr>
                <a:spLocks/>
              </p:cNvSpPr>
              <p:nvPr/>
            </p:nvSpPr>
            <p:spPr bwMode="auto">
              <a:xfrm>
                <a:off x="1725" y="1961"/>
                <a:ext cx="2044" cy="2044"/>
              </a:xfrm>
              <a:custGeom>
                <a:avLst/>
                <a:gdLst/>
                <a:ahLst/>
                <a:cxnLst>
                  <a:cxn ang="0">
                    <a:pos x="1775" y="956"/>
                  </a:cxn>
                  <a:cxn ang="0">
                    <a:pos x="1912" y="808"/>
                  </a:cxn>
                  <a:cxn ang="0">
                    <a:pos x="1858" y="606"/>
                  </a:cxn>
                  <a:cxn ang="0">
                    <a:pos x="1665" y="546"/>
                  </a:cxn>
                  <a:cxn ang="0">
                    <a:pos x="1710" y="350"/>
                  </a:cxn>
                  <a:cxn ang="0">
                    <a:pos x="1562" y="202"/>
                  </a:cxn>
                  <a:cxn ang="0">
                    <a:pos x="1365" y="246"/>
                  </a:cxn>
                  <a:cxn ang="0">
                    <a:pos x="1306" y="54"/>
                  </a:cxn>
                  <a:cxn ang="0">
                    <a:pos x="1104" y="0"/>
                  </a:cxn>
                  <a:cxn ang="0">
                    <a:pos x="956" y="137"/>
                  </a:cxn>
                  <a:cxn ang="0">
                    <a:pos x="808" y="0"/>
                  </a:cxn>
                  <a:cxn ang="0">
                    <a:pos x="606" y="54"/>
                  </a:cxn>
                  <a:cxn ang="0">
                    <a:pos x="546" y="246"/>
                  </a:cxn>
                  <a:cxn ang="0">
                    <a:pos x="350" y="202"/>
                  </a:cxn>
                  <a:cxn ang="0">
                    <a:pos x="202" y="350"/>
                  </a:cxn>
                  <a:cxn ang="0">
                    <a:pos x="246" y="546"/>
                  </a:cxn>
                  <a:cxn ang="0">
                    <a:pos x="54" y="606"/>
                  </a:cxn>
                  <a:cxn ang="0">
                    <a:pos x="0" y="808"/>
                  </a:cxn>
                  <a:cxn ang="0">
                    <a:pos x="137" y="956"/>
                  </a:cxn>
                  <a:cxn ang="0">
                    <a:pos x="0" y="1104"/>
                  </a:cxn>
                  <a:cxn ang="0">
                    <a:pos x="54" y="1306"/>
                  </a:cxn>
                  <a:cxn ang="0">
                    <a:pos x="246" y="1365"/>
                  </a:cxn>
                  <a:cxn ang="0">
                    <a:pos x="202" y="1562"/>
                  </a:cxn>
                  <a:cxn ang="0">
                    <a:pos x="350" y="1709"/>
                  </a:cxn>
                  <a:cxn ang="0">
                    <a:pos x="546" y="1665"/>
                  </a:cxn>
                  <a:cxn ang="0">
                    <a:pos x="606" y="1858"/>
                  </a:cxn>
                  <a:cxn ang="0">
                    <a:pos x="808" y="1912"/>
                  </a:cxn>
                  <a:cxn ang="0">
                    <a:pos x="956" y="1775"/>
                  </a:cxn>
                  <a:cxn ang="0">
                    <a:pos x="1104" y="1912"/>
                  </a:cxn>
                  <a:cxn ang="0">
                    <a:pos x="1306" y="1858"/>
                  </a:cxn>
                  <a:cxn ang="0">
                    <a:pos x="1365" y="1665"/>
                  </a:cxn>
                  <a:cxn ang="0">
                    <a:pos x="1562" y="1710"/>
                  </a:cxn>
                  <a:cxn ang="0">
                    <a:pos x="1710" y="1562"/>
                  </a:cxn>
                  <a:cxn ang="0">
                    <a:pos x="1665" y="1365"/>
                  </a:cxn>
                  <a:cxn ang="0">
                    <a:pos x="1858" y="1306"/>
                  </a:cxn>
                  <a:cxn ang="0">
                    <a:pos x="1912" y="1104"/>
                  </a:cxn>
                  <a:cxn ang="0">
                    <a:pos x="1775" y="956"/>
                  </a:cxn>
                </a:cxnLst>
                <a:rect l="0" t="0" r="r" b="b"/>
                <a:pathLst>
                  <a:path w="1912" h="1912">
                    <a:moveTo>
                      <a:pt x="1775" y="956"/>
                    </a:moveTo>
                    <a:cubicBezTo>
                      <a:pt x="1775" y="877"/>
                      <a:pt x="1835" y="813"/>
                      <a:pt x="1912" y="808"/>
                    </a:cubicBezTo>
                    <a:cubicBezTo>
                      <a:pt x="1901" y="738"/>
                      <a:pt x="1883" y="670"/>
                      <a:pt x="1858" y="606"/>
                    </a:cubicBezTo>
                    <a:cubicBezTo>
                      <a:pt x="1788" y="639"/>
                      <a:pt x="1704" y="614"/>
                      <a:pt x="1665" y="546"/>
                    </a:cubicBezTo>
                    <a:cubicBezTo>
                      <a:pt x="1626" y="479"/>
                      <a:pt x="1646" y="393"/>
                      <a:pt x="1710" y="350"/>
                    </a:cubicBezTo>
                    <a:cubicBezTo>
                      <a:pt x="1666" y="295"/>
                      <a:pt x="1616" y="246"/>
                      <a:pt x="1562" y="202"/>
                    </a:cubicBezTo>
                    <a:cubicBezTo>
                      <a:pt x="1518" y="265"/>
                      <a:pt x="1433" y="285"/>
                      <a:pt x="1365" y="246"/>
                    </a:cubicBezTo>
                    <a:cubicBezTo>
                      <a:pt x="1297" y="207"/>
                      <a:pt x="1272" y="123"/>
                      <a:pt x="1306" y="54"/>
                    </a:cubicBezTo>
                    <a:cubicBezTo>
                      <a:pt x="1241" y="29"/>
                      <a:pt x="1174" y="10"/>
                      <a:pt x="1104" y="0"/>
                    </a:cubicBezTo>
                    <a:cubicBezTo>
                      <a:pt x="1098" y="76"/>
                      <a:pt x="1034" y="137"/>
                      <a:pt x="956" y="137"/>
                    </a:cubicBezTo>
                    <a:cubicBezTo>
                      <a:pt x="877" y="137"/>
                      <a:pt x="813" y="76"/>
                      <a:pt x="808" y="0"/>
                    </a:cubicBezTo>
                    <a:cubicBezTo>
                      <a:pt x="738" y="10"/>
                      <a:pt x="670" y="29"/>
                      <a:pt x="606" y="54"/>
                    </a:cubicBezTo>
                    <a:cubicBezTo>
                      <a:pt x="639" y="123"/>
                      <a:pt x="614" y="207"/>
                      <a:pt x="546" y="246"/>
                    </a:cubicBezTo>
                    <a:cubicBezTo>
                      <a:pt x="479" y="285"/>
                      <a:pt x="393" y="265"/>
                      <a:pt x="350" y="202"/>
                    </a:cubicBezTo>
                    <a:cubicBezTo>
                      <a:pt x="295" y="246"/>
                      <a:pt x="246" y="295"/>
                      <a:pt x="202" y="350"/>
                    </a:cubicBezTo>
                    <a:cubicBezTo>
                      <a:pt x="265" y="393"/>
                      <a:pt x="286" y="479"/>
                      <a:pt x="246" y="546"/>
                    </a:cubicBezTo>
                    <a:cubicBezTo>
                      <a:pt x="207" y="614"/>
                      <a:pt x="123" y="639"/>
                      <a:pt x="54" y="606"/>
                    </a:cubicBezTo>
                    <a:cubicBezTo>
                      <a:pt x="29" y="670"/>
                      <a:pt x="10" y="738"/>
                      <a:pt x="0" y="808"/>
                    </a:cubicBezTo>
                    <a:cubicBezTo>
                      <a:pt x="76" y="813"/>
                      <a:pt x="137" y="877"/>
                      <a:pt x="137" y="956"/>
                    </a:cubicBezTo>
                    <a:cubicBezTo>
                      <a:pt x="137" y="1034"/>
                      <a:pt x="76" y="1098"/>
                      <a:pt x="0" y="1104"/>
                    </a:cubicBezTo>
                    <a:cubicBezTo>
                      <a:pt x="10" y="1174"/>
                      <a:pt x="29" y="1241"/>
                      <a:pt x="54" y="1306"/>
                    </a:cubicBezTo>
                    <a:cubicBezTo>
                      <a:pt x="123" y="1272"/>
                      <a:pt x="207" y="1297"/>
                      <a:pt x="246" y="1365"/>
                    </a:cubicBezTo>
                    <a:cubicBezTo>
                      <a:pt x="286" y="1433"/>
                      <a:pt x="265" y="1518"/>
                      <a:pt x="202" y="1562"/>
                    </a:cubicBezTo>
                    <a:cubicBezTo>
                      <a:pt x="246" y="1616"/>
                      <a:pt x="295" y="1666"/>
                      <a:pt x="350" y="1709"/>
                    </a:cubicBezTo>
                    <a:cubicBezTo>
                      <a:pt x="393" y="1646"/>
                      <a:pt x="479" y="1626"/>
                      <a:pt x="546" y="1665"/>
                    </a:cubicBezTo>
                    <a:cubicBezTo>
                      <a:pt x="614" y="1704"/>
                      <a:pt x="639" y="1788"/>
                      <a:pt x="606" y="1858"/>
                    </a:cubicBezTo>
                    <a:cubicBezTo>
                      <a:pt x="670" y="1883"/>
                      <a:pt x="738" y="1901"/>
                      <a:pt x="808" y="1912"/>
                    </a:cubicBezTo>
                    <a:cubicBezTo>
                      <a:pt x="814" y="1835"/>
                      <a:pt x="877" y="1775"/>
                      <a:pt x="956" y="1775"/>
                    </a:cubicBezTo>
                    <a:cubicBezTo>
                      <a:pt x="1034" y="1775"/>
                      <a:pt x="1098" y="1835"/>
                      <a:pt x="1104" y="1912"/>
                    </a:cubicBezTo>
                    <a:cubicBezTo>
                      <a:pt x="1174" y="1901"/>
                      <a:pt x="1241" y="1883"/>
                      <a:pt x="1306" y="1858"/>
                    </a:cubicBezTo>
                    <a:cubicBezTo>
                      <a:pt x="1272" y="1788"/>
                      <a:pt x="1297" y="1704"/>
                      <a:pt x="1365" y="1665"/>
                    </a:cubicBezTo>
                    <a:cubicBezTo>
                      <a:pt x="1433" y="1626"/>
                      <a:pt x="1518" y="1646"/>
                      <a:pt x="1562" y="1710"/>
                    </a:cubicBezTo>
                    <a:cubicBezTo>
                      <a:pt x="1616" y="1666"/>
                      <a:pt x="1666" y="1616"/>
                      <a:pt x="1710" y="1562"/>
                    </a:cubicBezTo>
                    <a:cubicBezTo>
                      <a:pt x="1646" y="1518"/>
                      <a:pt x="1626" y="1433"/>
                      <a:pt x="1665" y="1365"/>
                    </a:cubicBezTo>
                    <a:cubicBezTo>
                      <a:pt x="1704" y="1297"/>
                      <a:pt x="1788" y="1272"/>
                      <a:pt x="1858" y="1306"/>
                    </a:cubicBezTo>
                    <a:cubicBezTo>
                      <a:pt x="1883" y="1241"/>
                      <a:pt x="1901" y="1174"/>
                      <a:pt x="1912" y="1104"/>
                    </a:cubicBezTo>
                    <a:cubicBezTo>
                      <a:pt x="1835" y="1098"/>
                      <a:pt x="1775" y="1034"/>
                      <a:pt x="1775" y="956"/>
                    </a:cubicBezTo>
                    <a:close/>
                  </a:path>
                </a:pathLst>
              </a:custGeom>
              <a:solidFill>
                <a:schemeClr val="bg1"/>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5B065CBB-BFFB-402B-91D2-D540AEE92B3A}"/>
                  </a:ext>
                </a:extLst>
              </p:cNvPr>
              <p:cNvSpPr>
                <a:spLocks noChangeArrowheads="1"/>
              </p:cNvSpPr>
              <p:nvPr/>
            </p:nvSpPr>
            <p:spPr bwMode="auto">
              <a:xfrm>
                <a:off x="2468" y="2704"/>
                <a:ext cx="557" cy="557"/>
              </a:xfrm>
              <a:prstGeom prst="ellipse">
                <a:avLst/>
              </a:prstGeom>
              <a:solidFill>
                <a:schemeClr val="accent3"/>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Freeform 68">
                <a:extLst>
                  <a:ext uri="{FF2B5EF4-FFF2-40B4-BE49-F238E27FC236}">
                    <a16:creationId xmlns:a16="http://schemas.microsoft.com/office/drawing/2014/main" id="{7613EADB-F12A-4341-9A34-8CCC1998099C}"/>
                  </a:ext>
                </a:extLst>
              </p:cNvPr>
              <p:cNvSpPr>
                <a:spLocks/>
              </p:cNvSpPr>
              <p:nvPr/>
            </p:nvSpPr>
            <p:spPr bwMode="auto">
              <a:xfrm>
                <a:off x="890" y="1134"/>
                <a:ext cx="1366" cy="1366"/>
              </a:xfrm>
              <a:custGeom>
                <a:avLst/>
                <a:gdLst/>
                <a:ahLst/>
                <a:cxnLst>
                  <a:cxn ang="0">
                    <a:pos x="1146" y="638"/>
                  </a:cxn>
                  <a:cxn ang="0">
                    <a:pos x="1278" y="491"/>
                  </a:cxn>
                  <a:cxn ang="0">
                    <a:pos x="1195" y="291"/>
                  </a:cxn>
                  <a:cxn ang="0">
                    <a:pos x="997" y="280"/>
                  </a:cxn>
                  <a:cxn ang="0">
                    <a:pos x="986" y="83"/>
                  </a:cxn>
                  <a:cxn ang="0">
                    <a:pos x="786" y="0"/>
                  </a:cxn>
                  <a:cxn ang="0">
                    <a:pos x="639" y="131"/>
                  </a:cxn>
                  <a:cxn ang="0">
                    <a:pos x="491" y="0"/>
                  </a:cxn>
                  <a:cxn ang="0">
                    <a:pos x="291" y="83"/>
                  </a:cxn>
                  <a:cxn ang="0">
                    <a:pos x="280" y="280"/>
                  </a:cxn>
                  <a:cxn ang="0">
                    <a:pos x="83" y="291"/>
                  </a:cxn>
                  <a:cxn ang="0">
                    <a:pos x="0" y="491"/>
                  </a:cxn>
                  <a:cxn ang="0">
                    <a:pos x="131" y="638"/>
                  </a:cxn>
                  <a:cxn ang="0">
                    <a:pos x="0" y="786"/>
                  </a:cxn>
                  <a:cxn ang="0">
                    <a:pos x="83" y="986"/>
                  </a:cxn>
                  <a:cxn ang="0">
                    <a:pos x="280" y="997"/>
                  </a:cxn>
                  <a:cxn ang="0">
                    <a:pos x="291" y="1194"/>
                  </a:cxn>
                  <a:cxn ang="0">
                    <a:pos x="491" y="1277"/>
                  </a:cxn>
                  <a:cxn ang="0">
                    <a:pos x="639" y="1146"/>
                  </a:cxn>
                  <a:cxn ang="0">
                    <a:pos x="786" y="1277"/>
                  </a:cxn>
                  <a:cxn ang="0">
                    <a:pos x="986" y="1194"/>
                  </a:cxn>
                  <a:cxn ang="0">
                    <a:pos x="997" y="997"/>
                  </a:cxn>
                  <a:cxn ang="0">
                    <a:pos x="1195" y="986"/>
                  </a:cxn>
                  <a:cxn ang="0">
                    <a:pos x="1278" y="786"/>
                  </a:cxn>
                  <a:cxn ang="0">
                    <a:pos x="1146" y="638"/>
                  </a:cxn>
                </a:cxnLst>
                <a:rect l="0" t="0" r="r" b="b"/>
                <a:pathLst>
                  <a:path w="1278" h="1277">
                    <a:moveTo>
                      <a:pt x="1146" y="638"/>
                    </a:moveTo>
                    <a:cubicBezTo>
                      <a:pt x="1146" y="562"/>
                      <a:pt x="1203" y="499"/>
                      <a:pt x="1278" y="491"/>
                    </a:cubicBezTo>
                    <a:cubicBezTo>
                      <a:pt x="1261" y="419"/>
                      <a:pt x="1233" y="352"/>
                      <a:pt x="1195" y="291"/>
                    </a:cubicBezTo>
                    <a:cubicBezTo>
                      <a:pt x="1136" y="337"/>
                      <a:pt x="1051" y="334"/>
                      <a:pt x="997" y="280"/>
                    </a:cubicBezTo>
                    <a:cubicBezTo>
                      <a:pt x="943" y="226"/>
                      <a:pt x="940" y="141"/>
                      <a:pt x="986" y="83"/>
                    </a:cubicBezTo>
                    <a:cubicBezTo>
                      <a:pt x="925" y="44"/>
                      <a:pt x="858" y="16"/>
                      <a:pt x="786" y="0"/>
                    </a:cubicBezTo>
                    <a:cubicBezTo>
                      <a:pt x="778" y="74"/>
                      <a:pt x="715" y="131"/>
                      <a:pt x="639" y="131"/>
                    </a:cubicBezTo>
                    <a:cubicBezTo>
                      <a:pt x="562" y="131"/>
                      <a:pt x="499" y="74"/>
                      <a:pt x="491" y="0"/>
                    </a:cubicBezTo>
                    <a:cubicBezTo>
                      <a:pt x="419" y="16"/>
                      <a:pt x="352" y="44"/>
                      <a:pt x="291" y="83"/>
                    </a:cubicBezTo>
                    <a:cubicBezTo>
                      <a:pt x="338" y="141"/>
                      <a:pt x="334" y="226"/>
                      <a:pt x="280" y="280"/>
                    </a:cubicBezTo>
                    <a:cubicBezTo>
                      <a:pt x="226" y="334"/>
                      <a:pt x="141" y="337"/>
                      <a:pt x="83" y="291"/>
                    </a:cubicBezTo>
                    <a:cubicBezTo>
                      <a:pt x="45" y="352"/>
                      <a:pt x="16" y="419"/>
                      <a:pt x="0" y="491"/>
                    </a:cubicBezTo>
                    <a:cubicBezTo>
                      <a:pt x="74" y="499"/>
                      <a:pt x="131" y="562"/>
                      <a:pt x="131" y="638"/>
                    </a:cubicBezTo>
                    <a:cubicBezTo>
                      <a:pt x="131" y="715"/>
                      <a:pt x="74" y="778"/>
                      <a:pt x="0" y="786"/>
                    </a:cubicBezTo>
                    <a:cubicBezTo>
                      <a:pt x="16" y="858"/>
                      <a:pt x="45" y="925"/>
                      <a:pt x="83" y="986"/>
                    </a:cubicBezTo>
                    <a:cubicBezTo>
                      <a:pt x="141" y="940"/>
                      <a:pt x="226" y="943"/>
                      <a:pt x="280" y="997"/>
                    </a:cubicBezTo>
                    <a:cubicBezTo>
                      <a:pt x="334" y="1051"/>
                      <a:pt x="338" y="1136"/>
                      <a:pt x="291" y="1194"/>
                    </a:cubicBezTo>
                    <a:cubicBezTo>
                      <a:pt x="352" y="1233"/>
                      <a:pt x="419" y="1261"/>
                      <a:pt x="491" y="1277"/>
                    </a:cubicBezTo>
                    <a:cubicBezTo>
                      <a:pt x="499" y="1203"/>
                      <a:pt x="562" y="1146"/>
                      <a:pt x="639" y="1146"/>
                    </a:cubicBezTo>
                    <a:cubicBezTo>
                      <a:pt x="715" y="1146"/>
                      <a:pt x="778" y="1203"/>
                      <a:pt x="786" y="1277"/>
                    </a:cubicBezTo>
                    <a:cubicBezTo>
                      <a:pt x="858" y="1261"/>
                      <a:pt x="925" y="1233"/>
                      <a:pt x="986" y="1194"/>
                    </a:cubicBezTo>
                    <a:cubicBezTo>
                      <a:pt x="940" y="1136"/>
                      <a:pt x="943" y="1051"/>
                      <a:pt x="997" y="997"/>
                    </a:cubicBezTo>
                    <a:cubicBezTo>
                      <a:pt x="1051" y="943"/>
                      <a:pt x="1136" y="940"/>
                      <a:pt x="1195" y="986"/>
                    </a:cubicBezTo>
                    <a:cubicBezTo>
                      <a:pt x="1233" y="925"/>
                      <a:pt x="1261" y="858"/>
                      <a:pt x="1278" y="786"/>
                    </a:cubicBezTo>
                    <a:cubicBezTo>
                      <a:pt x="1203" y="778"/>
                      <a:pt x="1146" y="715"/>
                      <a:pt x="1146" y="638"/>
                    </a:cubicBezTo>
                    <a:close/>
                  </a:path>
                </a:pathLst>
              </a:custGeom>
              <a:solidFill>
                <a:srgbClr val="00C27A"/>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C7735F13-17CA-47C1-B366-C08850532ED3}"/>
                  </a:ext>
                </a:extLst>
              </p:cNvPr>
              <p:cNvSpPr>
                <a:spLocks noChangeArrowheads="1"/>
              </p:cNvSpPr>
              <p:nvPr/>
            </p:nvSpPr>
            <p:spPr bwMode="auto">
              <a:xfrm>
                <a:off x="1308" y="1552"/>
                <a:ext cx="529" cy="529"/>
              </a:xfrm>
              <a:prstGeom prst="ellipse">
                <a:avLst/>
              </a:prstGeom>
              <a:solidFill>
                <a:schemeClr val="accent3"/>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Freeform 70">
                <a:extLst>
                  <a:ext uri="{FF2B5EF4-FFF2-40B4-BE49-F238E27FC236}">
                    <a16:creationId xmlns:a16="http://schemas.microsoft.com/office/drawing/2014/main" id="{FCE03229-3423-4663-ABEB-537678F1ADFC}"/>
                  </a:ext>
                </a:extLst>
              </p:cNvPr>
              <p:cNvSpPr>
                <a:spLocks/>
              </p:cNvSpPr>
              <p:nvPr/>
            </p:nvSpPr>
            <p:spPr bwMode="auto">
              <a:xfrm>
                <a:off x="2067" y="777"/>
                <a:ext cx="1119" cy="1074"/>
              </a:xfrm>
              <a:custGeom>
                <a:avLst/>
                <a:gdLst/>
                <a:ahLst/>
                <a:cxnLst>
                  <a:cxn ang="0">
                    <a:pos x="848" y="690"/>
                  </a:cxn>
                  <a:cxn ang="0">
                    <a:pos x="1032" y="626"/>
                  </a:cxn>
                  <a:cxn ang="0">
                    <a:pos x="1047" y="502"/>
                  </a:cxn>
                  <a:cxn ang="0">
                    <a:pos x="1032" y="378"/>
                  </a:cxn>
                  <a:cxn ang="0">
                    <a:pos x="848" y="315"/>
                  </a:cxn>
                  <a:cxn ang="0">
                    <a:pos x="885" y="124"/>
                  </a:cxn>
                  <a:cxn ang="0">
                    <a:pos x="670" y="0"/>
                  </a:cxn>
                  <a:cxn ang="0">
                    <a:pos x="523" y="127"/>
                  </a:cxn>
                  <a:cxn ang="0">
                    <a:pos x="376" y="0"/>
                  </a:cxn>
                  <a:cxn ang="0">
                    <a:pos x="162" y="124"/>
                  </a:cxn>
                  <a:cxn ang="0">
                    <a:pos x="199" y="315"/>
                  </a:cxn>
                  <a:cxn ang="0">
                    <a:pos x="15" y="378"/>
                  </a:cxn>
                  <a:cxn ang="0">
                    <a:pos x="0" y="502"/>
                  </a:cxn>
                  <a:cxn ang="0">
                    <a:pos x="15" y="626"/>
                  </a:cxn>
                  <a:cxn ang="0">
                    <a:pos x="199" y="690"/>
                  </a:cxn>
                  <a:cxn ang="0">
                    <a:pos x="162" y="880"/>
                  </a:cxn>
                  <a:cxn ang="0">
                    <a:pos x="376" y="1004"/>
                  </a:cxn>
                  <a:cxn ang="0">
                    <a:pos x="523" y="877"/>
                  </a:cxn>
                  <a:cxn ang="0">
                    <a:pos x="670" y="1004"/>
                  </a:cxn>
                  <a:cxn ang="0">
                    <a:pos x="885" y="880"/>
                  </a:cxn>
                  <a:cxn ang="0">
                    <a:pos x="848" y="690"/>
                  </a:cxn>
                </a:cxnLst>
                <a:rect l="0" t="0" r="r" b="b"/>
                <a:pathLst>
                  <a:path w="1047" h="1004">
                    <a:moveTo>
                      <a:pt x="848" y="690"/>
                    </a:moveTo>
                    <a:cubicBezTo>
                      <a:pt x="885" y="625"/>
                      <a:pt x="964" y="599"/>
                      <a:pt x="1032" y="626"/>
                    </a:cubicBezTo>
                    <a:cubicBezTo>
                      <a:pt x="1041" y="586"/>
                      <a:pt x="1047" y="545"/>
                      <a:pt x="1047" y="502"/>
                    </a:cubicBezTo>
                    <a:cubicBezTo>
                      <a:pt x="1047" y="459"/>
                      <a:pt x="1041" y="418"/>
                      <a:pt x="1032" y="378"/>
                    </a:cubicBezTo>
                    <a:cubicBezTo>
                      <a:pt x="964" y="405"/>
                      <a:pt x="885" y="379"/>
                      <a:pt x="848" y="315"/>
                    </a:cubicBezTo>
                    <a:cubicBezTo>
                      <a:pt x="811" y="250"/>
                      <a:pt x="828" y="169"/>
                      <a:pt x="885" y="124"/>
                    </a:cubicBezTo>
                    <a:cubicBezTo>
                      <a:pt x="825" y="67"/>
                      <a:pt x="752" y="23"/>
                      <a:pt x="670" y="0"/>
                    </a:cubicBezTo>
                    <a:cubicBezTo>
                      <a:pt x="660" y="72"/>
                      <a:pt x="598" y="127"/>
                      <a:pt x="523" y="127"/>
                    </a:cubicBezTo>
                    <a:cubicBezTo>
                      <a:pt x="448" y="127"/>
                      <a:pt x="387" y="72"/>
                      <a:pt x="376" y="0"/>
                    </a:cubicBezTo>
                    <a:cubicBezTo>
                      <a:pt x="295" y="23"/>
                      <a:pt x="222" y="67"/>
                      <a:pt x="162" y="124"/>
                    </a:cubicBezTo>
                    <a:cubicBezTo>
                      <a:pt x="219" y="169"/>
                      <a:pt x="236" y="250"/>
                      <a:pt x="199" y="315"/>
                    </a:cubicBezTo>
                    <a:cubicBezTo>
                      <a:pt x="161" y="379"/>
                      <a:pt x="82" y="405"/>
                      <a:pt x="15" y="378"/>
                    </a:cubicBezTo>
                    <a:cubicBezTo>
                      <a:pt x="5" y="418"/>
                      <a:pt x="0" y="459"/>
                      <a:pt x="0" y="502"/>
                    </a:cubicBezTo>
                    <a:cubicBezTo>
                      <a:pt x="0" y="545"/>
                      <a:pt x="5" y="586"/>
                      <a:pt x="15" y="626"/>
                    </a:cubicBezTo>
                    <a:cubicBezTo>
                      <a:pt x="82" y="599"/>
                      <a:pt x="161" y="625"/>
                      <a:pt x="199" y="690"/>
                    </a:cubicBezTo>
                    <a:cubicBezTo>
                      <a:pt x="236" y="754"/>
                      <a:pt x="219" y="836"/>
                      <a:pt x="162" y="880"/>
                    </a:cubicBezTo>
                    <a:cubicBezTo>
                      <a:pt x="222" y="938"/>
                      <a:pt x="295" y="981"/>
                      <a:pt x="376" y="1004"/>
                    </a:cubicBezTo>
                    <a:cubicBezTo>
                      <a:pt x="387" y="932"/>
                      <a:pt x="448" y="877"/>
                      <a:pt x="523" y="877"/>
                    </a:cubicBezTo>
                    <a:cubicBezTo>
                      <a:pt x="598" y="877"/>
                      <a:pt x="660" y="932"/>
                      <a:pt x="670" y="1004"/>
                    </a:cubicBezTo>
                    <a:cubicBezTo>
                      <a:pt x="752" y="981"/>
                      <a:pt x="825" y="938"/>
                      <a:pt x="885" y="880"/>
                    </a:cubicBezTo>
                    <a:cubicBezTo>
                      <a:pt x="828" y="836"/>
                      <a:pt x="811" y="754"/>
                      <a:pt x="848" y="690"/>
                    </a:cubicBezTo>
                    <a:close/>
                  </a:path>
                </a:pathLst>
              </a:custGeom>
              <a:solidFill>
                <a:schemeClr val="bg1"/>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87DAE89C-1F3D-451C-A9C2-56F079C4AE29}"/>
                  </a:ext>
                </a:extLst>
              </p:cNvPr>
              <p:cNvSpPr>
                <a:spLocks noChangeArrowheads="1"/>
              </p:cNvSpPr>
              <p:nvPr/>
            </p:nvSpPr>
            <p:spPr bwMode="auto">
              <a:xfrm>
                <a:off x="2465" y="1152"/>
                <a:ext cx="323" cy="323"/>
              </a:xfrm>
              <a:prstGeom prst="ellipse">
                <a:avLst/>
              </a:prstGeom>
              <a:solidFill>
                <a:schemeClr val="accent3"/>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29" name="Rectangle 28">
            <a:extLst>
              <a:ext uri="{FF2B5EF4-FFF2-40B4-BE49-F238E27FC236}">
                <a16:creationId xmlns:a16="http://schemas.microsoft.com/office/drawing/2014/main" id="{74F75097-27F8-470E-868D-9A6C9333CAC9}"/>
              </a:ext>
            </a:extLst>
          </p:cNvPr>
          <p:cNvSpPr/>
          <p:nvPr/>
        </p:nvSpPr>
        <p:spPr>
          <a:xfrm>
            <a:off x="0" y="700136"/>
            <a:ext cx="12192000" cy="641157"/>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Ins="3657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Client is a Global retail Company </a:t>
            </a:r>
          </a:p>
        </p:txBody>
      </p:sp>
      <p:pic>
        <p:nvPicPr>
          <p:cNvPr id="166" name="Picture 165">
            <a:extLst>
              <a:ext uri="{FF2B5EF4-FFF2-40B4-BE49-F238E27FC236}">
                <a16:creationId xmlns:a16="http://schemas.microsoft.com/office/drawing/2014/main" id="{A28B4722-4158-462D-8157-5B4489909753}"/>
              </a:ext>
            </a:extLst>
          </p:cNvPr>
          <p:cNvPicPr>
            <a:picLocks noChangeAspect="1"/>
          </p:cNvPicPr>
          <p:nvPr/>
        </p:nvPicPr>
        <p:blipFill>
          <a:blip r:embed="rId3"/>
          <a:stretch>
            <a:fillRect/>
          </a:stretch>
        </p:blipFill>
        <p:spPr>
          <a:xfrm>
            <a:off x="4434057" y="5364234"/>
            <a:ext cx="3152249" cy="1408139"/>
          </a:xfrm>
          <a:prstGeom prst="rect">
            <a:avLst/>
          </a:prstGeom>
        </p:spPr>
      </p:pic>
    </p:spTree>
    <p:extLst>
      <p:ext uri="{BB962C8B-B14F-4D97-AF65-F5344CB8AC3E}">
        <p14:creationId xmlns:p14="http://schemas.microsoft.com/office/powerpoint/2010/main" val="1470350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58565-E995-4F48-8219-C44E02CA90AC}"/>
              </a:ext>
            </a:extLst>
          </p:cNvPr>
          <p:cNvSpPr>
            <a:spLocks noGrp="1"/>
          </p:cNvSpPr>
          <p:nvPr>
            <p:ph type="title"/>
          </p:nvPr>
        </p:nvSpPr>
        <p:spPr>
          <a:xfrm>
            <a:off x="0" y="-41325"/>
            <a:ext cx="11219547" cy="629982"/>
          </a:xfrm>
        </p:spPr>
        <p:txBody>
          <a:bodyPr>
            <a:normAutofit/>
          </a:bodyPr>
          <a:lstStyle/>
          <a:p>
            <a:r>
              <a:rPr lang="en-US" sz="2800" b="1" dirty="0"/>
              <a:t>Case Study – NA OTC in ADLS</a:t>
            </a:r>
          </a:p>
        </p:txBody>
      </p:sp>
      <p:sp>
        <p:nvSpPr>
          <p:cNvPr id="3" name="Rectangle 2">
            <a:extLst>
              <a:ext uri="{FF2B5EF4-FFF2-40B4-BE49-F238E27FC236}">
                <a16:creationId xmlns:a16="http://schemas.microsoft.com/office/drawing/2014/main" id="{FE1DFE3E-F98A-464A-BA41-B3162FC01DCF}"/>
              </a:ext>
            </a:extLst>
          </p:cNvPr>
          <p:cNvSpPr/>
          <p:nvPr/>
        </p:nvSpPr>
        <p:spPr>
          <a:xfrm>
            <a:off x="178077" y="2051533"/>
            <a:ext cx="3735578" cy="3859472"/>
          </a:xfrm>
          <a:prstGeom prst="rect">
            <a:avLst/>
          </a:prstGeom>
          <a:gradFill>
            <a:gsLst>
              <a:gs pos="0">
                <a:srgbClr val="E6E7E7"/>
              </a:gs>
              <a:gs pos="100000">
                <a:sysClr val="window" lastClr="FFFFFF"/>
              </a:gs>
            </a:gsLst>
            <a:lin ang="54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1" indent="0" algn="l" defTabSz="914400" rtl="0" eaLnBrk="1" fontAlgn="auto" latinLnBrk="0" hangingPunct="1">
              <a:lnSpc>
                <a:spcPct val="100000"/>
              </a:lnSpc>
              <a:spcBef>
                <a:spcPts val="600"/>
              </a:spcBef>
              <a:spcAft>
                <a:spcPts val="0"/>
              </a:spcAft>
              <a:buClr>
                <a:srgbClr val="ED7D31"/>
              </a:buClr>
              <a:buSzPct val="100000"/>
              <a:buFontTx/>
              <a:buNone/>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Client is embarking to strengthen and expand its analytics platform by porting current on-premise Enterprise Analytics platform (data and processes) to the Azure cloud.</a:t>
            </a:r>
          </a:p>
          <a:p>
            <a:pPr marL="171450" marR="0" lvl="1" indent="-171450"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Client high level scope of work includes: </a:t>
            </a:r>
          </a:p>
          <a:p>
            <a:pPr marL="400050" marR="0" lvl="1" indent="-169863"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ü"/>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Migrate all on-premises </a:t>
            </a: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Historical data (~5 years)</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from Teradata to Azure Cloud</a:t>
            </a:r>
          </a:p>
          <a:p>
            <a:pPr marL="400050" marR="0" lvl="1" indent="-169863"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ü"/>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Ingest all data sources in to cloud platform</a:t>
            </a:r>
          </a:p>
          <a:p>
            <a:pPr marL="400050" marR="0" lvl="1" indent="-169863"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ü"/>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Build current data warehouse logic and create the resultant output tables in Azure cloud Platform.</a:t>
            </a:r>
          </a:p>
          <a:p>
            <a:pPr marL="400050" marR="0" lvl="1" indent="-169863"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ü"/>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Test all modules in scope (functional and non-functional)</a:t>
            </a:r>
          </a:p>
          <a:p>
            <a:pPr marL="400050" marR="0" lvl="1" indent="-169863"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ü"/>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Adopt CI/CD modules</a:t>
            </a:r>
          </a:p>
          <a:p>
            <a:pPr marL="400050" marR="0" lvl="1" indent="-169863"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ü"/>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Ensure high availability and disaster recovery</a:t>
            </a:r>
          </a:p>
          <a:p>
            <a:pPr marL="400050" marR="0" lvl="1" indent="-169863"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ü"/>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Re-develop current Tableau reports in Power BI</a:t>
            </a:r>
          </a:p>
          <a:p>
            <a:pPr marL="400050" marR="0" lvl="1" indent="-169863" algn="l" defTabSz="914400" rtl="0" eaLnBrk="1" fontAlgn="auto" latinLnBrk="0" hangingPunct="1">
              <a:lnSpc>
                <a:spcPct val="100000"/>
              </a:lnSpc>
              <a:spcBef>
                <a:spcPts val="600"/>
              </a:spcBef>
              <a:spcAft>
                <a:spcPts val="0"/>
              </a:spcAft>
              <a:buClr>
                <a:srgbClr val="ED7D31"/>
              </a:buClr>
              <a:buSzPct val="100000"/>
              <a:buFont typeface="Wingdings" panose="05000000000000000000" pitchFamily="2" charset="2"/>
              <a:buChar char="ü"/>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Migrate OTC Connect self service cube to Azure Cube</a:t>
            </a:r>
          </a:p>
        </p:txBody>
      </p:sp>
      <p:sp>
        <p:nvSpPr>
          <p:cNvPr id="4" name="Rectangle 3">
            <a:extLst>
              <a:ext uri="{FF2B5EF4-FFF2-40B4-BE49-F238E27FC236}">
                <a16:creationId xmlns:a16="http://schemas.microsoft.com/office/drawing/2014/main" id="{3A53141C-6FE8-4A48-9271-331260D9CEFB}"/>
              </a:ext>
            </a:extLst>
          </p:cNvPr>
          <p:cNvSpPr>
            <a:spLocks/>
          </p:cNvSpPr>
          <p:nvPr/>
        </p:nvSpPr>
        <p:spPr>
          <a:xfrm>
            <a:off x="4162009" y="2051533"/>
            <a:ext cx="3696346" cy="3212894"/>
          </a:xfrm>
          <a:prstGeom prst="rect">
            <a:avLst/>
          </a:prstGeom>
          <a:gradFill>
            <a:gsLst>
              <a:gs pos="0">
                <a:srgbClr val="E6E7E7"/>
              </a:gs>
              <a:gs pos="100000">
                <a:sysClr val="window" lastClr="FFFFFF"/>
              </a:gs>
            </a:gsLst>
            <a:lin ang="54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171450" marR="0" lvl="2" indent="-171450" algn="l" defTabSz="914400" rtl="0" eaLnBrk="1" fontAlgn="base" latinLnBrk="0" hangingPunct="1">
              <a:lnSpc>
                <a:spcPct val="100000"/>
              </a:lnSpc>
              <a:spcBef>
                <a:spcPts val="600"/>
              </a:spcBef>
              <a:spcAft>
                <a:spcPts val="0"/>
              </a:spcAft>
              <a:buClr>
                <a:srgbClr val="ED7D31"/>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The technology choices were vetted by Capgemini by assessing decision basis and technology vetting to help identify any risks, challenges to help determine the best fit for Client’s migration </a:t>
            </a:r>
          </a:p>
          <a:p>
            <a:pPr marL="171450" marR="0" lvl="2" indent="-171450" algn="l" defTabSz="914400" rtl="0" eaLnBrk="1" fontAlgn="base" latinLnBrk="0" hangingPunct="1">
              <a:lnSpc>
                <a:spcPct val="100000"/>
              </a:lnSpc>
              <a:spcBef>
                <a:spcPts val="600"/>
              </a:spcBef>
              <a:spcAft>
                <a:spcPts val="0"/>
              </a:spcAft>
              <a:buClr>
                <a:srgbClr val="ED7D31"/>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Capgemini presented most cloud native and strategic option that best fitted Client’s requirements and budget.</a:t>
            </a:r>
          </a:p>
          <a:p>
            <a:pPr marL="171450" marR="0" lvl="2" indent="-171450" algn="l" defTabSz="914400" rtl="0" eaLnBrk="1" fontAlgn="base" latinLnBrk="0" hangingPunct="1">
              <a:lnSpc>
                <a:spcPct val="100000"/>
              </a:lnSpc>
              <a:spcBef>
                <a:spcPts val="600"/>
              </a:spcBef>
              <a:spcAft>
                <a:spcPts val="0"/>
              </a:spcAft>
              <a:buClr>
                <a:srgbClr val="ED7D31"/>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Our solution easily integrates with existing DevOps framework of client.</a:t>
            </a:r>
          </a:p>
          <a:p>
            <a:pPr marL="171450" marR="0" lvl="2" indent="-171450" algn="l" defTabSz="914400" rtl="0" eaLnBrk="1" fontAlgn="base" latinLnBrk="0" hangingPunct="1">
              <a:lnSpc>
                <a:spcPct val="100000"/>
              </a:lnSpc>
              <a:spcBef>
                <a:spcPts val="600"/>
              </a:spcBef>
              <a:spcAft>
                <a:spcPts val="0"/>
              </a:spcAft>
              <a:buClr>
                <a:srgbClr val="ED7D31"/>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Capgemini recommended  Azure Databricks/Spark based solution for Data Transformation with Audit Balance Control and Azure </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Datafactory</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for Scheduling the  Jobs and for Storage Azure </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DataLake</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Store is used.</a:t>
            </a:r>
          </a:p>
          <a:p>
            <a:pPr marL="171450" marR="0" lvl="2" indent="-171450" algn="l" defTabSz="914400" rtl="0" eaLnBrk="1" fontAlgn="base" latinLnBrk="0" hangingPunct="1">
              <a:lnSpc>
                <a:spcPct val="100000"/>
              </a:lnSpc>
              <a:spcBef>
                <a:spcPts val="600"/>
              </a:spcBef>
              <a:spcAft>
                <a:spcPts val="0"/>
              </a:spcAft>
              <a:buClr>
                <a:srgbClr val="ED7D31"/>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High level flow is: </a:t>
            </a:r>
          </a:p>
          <a:p>
            <a:pPr marL="457200" marR="0" lvl="1" indent="0" algn="l" defTabSz="914342"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Calibri" panose="020F0502020204030204"/>
                <a:ea typeface="+mn-ea"/>
                <a:cs typeface="+mn-cs"/>
              </a:rPr>
              <a:t>SAP</a:t>
            </a: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 Raw source </a:t>
            </a: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Universal Data Lake Store</a:t>
            </a: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 (UDL On ADLS)</a:t>
            </a: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a:t>
            </a: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    Business Data Lake Store  (BDL on ADLS) </a:t>
            </a: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a:t>
            </a: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 Product data Store  (PDS On Azure SQL DW)</a:t>
            </a:r>
          </a:p>
          <a:p>
            <a:pPr marL="171450" marR="0" lvl="2" indent="-171450" algn="l" defTabSz="914400" rtl="0" eaLnBrk="1" fontAlgn="base" latinLnBrk="0" hangingPunct="1">
              <a:lnSpc>
                <a:spcPct val="100000"/>
              </a:lnSpc>
              <a:spcBef>
                <a:spcPts val="600"/>
              </a:spcBef>
              <a:spcAft>
                <a:spcPts val="0"/>
              </a:spcAft>
              <a:buClr>
                <a:srgbClr val="ED7D31"/>
              </a:buClr>
              <a:buSzTx/>
              <a:buFont typeface="Wingdings" panose="05000000000000000000" pitchFamily="2" charset="2"/>
              <a:buChar char="§"/>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2" indent="-171450" algn="l" defTabSz="914400" rtl="0" eaLnBrk="1" fontAlgn="base" latinLnBrk="0" hangingPunct="1">
              <a:lnSpc>
                <a:spcPct val="100000"/>
              </a:lnSpc>
              <a:spcBef>
                <a:spcPts val="600"/>
              </a:spcBef>
              <a:spcAft>
                <a:spcPts val="0"/>
              </a:spcAft>
              <a:buClr>
                <a:srgbClr val="ED7D31"/>
              </a:buClr>
              <a:buSzTx/>
              <a:buFont typeface="Wingdings" panose="05000000000000000000" pitchFamily="2" charset="2"/>
              <a:buChar char="§"/>
              <a:tabLst/>
              <a:defRPr/>
            </a:pPr>
            <a:endParaRPr kumimoji="0" lang="en-US" altLang="zh-CN" sz="11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 name="Rectangle 4">
            <a:extLst>
              <a:ext uri="{FF2B5EF4-FFF2-40B4-BE49-F238E27FC236}">
                <a16:creationId xmlns:a16="http://schemas.microsoft.com/office/drawing/2014/main" id="{ED236FE0-CE08-4783-91D1-F223B80C6BB8}"/>
              </a:ext>
            </a:extLst>
          </p:cNvPr>
          <p:cNvSpPr>
            <a:spLocks/>
          </p:cNvSpPr>
          <p:nvPr/>
        </p:nvSpPr>
        <p:spPr>
          <a:xfrm>
            <a:off x="8145941" y="2082754"/>
            <a:ext cx="3681882" cy="4394246"/>
          </a:xfrm>
          <a:prstGeom prst="rect">
            <a:avLst/>
          </a:prstGeom>
          <a:gradFill>
            <a:gsLst>
              <a:gs pos="0">
                <a:srgbClr val="E6E7E7"/>
              </a:gs>
              <a:gs pos="100000">
                <a:sysClr val="window" lastClr="FFFFFF"/>
              </a:gs>
            </a:gsLst>
            <a:lin ang="54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171450" marR="0" lvl="1" indent="-171450" algn="l" defTabSz="914400" rtl="0" eaLnBrk="1" fontAlgn="base" latinLnBrk="0" hangingPunct="1">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Migration of Enterprise Analytics platform, which will help enable:</a:t>
            </a:r>
          </a:p>
          <a:p>
            <a:pPr marL="400050" marR="0" lvl="0" indent="-169863" algn="l" defTabSz="914342" rtl="0" eaLnBrk="1" fontAlgn="auto" latinLnBrk="0" hangingPunct="1">
              <a:lnSpc>
                <a:spcPct val="100000"/>
              </a:lnSpc>
              <a:spcBef>
                <a:spcPts val="0"/>
              </a:spcBef>
              <a:spcAft>
                <a:spcPts val="600"/>
              </a:spcAft>
              <a:buClr>
                <a:srgbClr val="ED7D31"/>
              </a:buClr>
              <a:buSzTx/>
              <a:buFont typeface="Wingdings" panose="05000000000000000000" pitchFamily="2" charset="2"/>
              <a:buChar char="ü"/>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Elastic compute and storage for cost control</a:t>
            </a:r>
          </a:p>
          <a:p>
            <a:pPr marL="400050" marR="0" lvl="0" indent="-169863" algn="l" defTabSz="914342" rtl="0" eaLnBrk="1" fontAlgn="auto" latinLnBrk="0" hangingPunct="1">
              <a:lnSpc>
                <a:spcPct val="100000"/>
              </a:lnSpc>
              <a:spcBef>
                <a:spcPts val="0"/>
              </a:spcBef>
              <a:spcAft>
                <a:spcPts val="600"/>
              </a:spcAft>
              <a:buClr>
                <a:srgbClr val="ED7D31"/>
              </a:buClr>
              <a:buSzTx/>
              <a:buFont typeface="Wingdings" panose="05000000000000000000" pitchFamily="2" charset="2"/>
              <a:buChar char="ü"/>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Flexibility for newer analytics</a:t>
            </a:r>
          </a:p>
          <a:p>
            <a:pPr marL="400050" marR="0" lvl="0" indent="-169863" algn="l" defTabSz="914342" rtl="0" eaLnBrk="1" fontAlgn="auto" latinLnBrk="0" hangingPunct="1">
              <a:lnSpc>
                <a:spcPct val="100000"/>
              </a:lnSpc>
              <a:spcBef>
                <a:spcPts val="0"/>
              </a:spcBef>
              <a:spcAft>
                <a:spcPts val="600"/>
              </a:spcAft>
              <a:buClr>
                <a:srgbClr val="ED7D31"/>
              </a:buClr>
              <a:buSzTx/>
              <a:buFont typeface="Wingdings" panose="05000000000000000000" pitchFamily="2" charset="2"/>
              <a:buChar char="ü"/>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Better scalability for data growth and processing</a:t>
            </a:r>
          </a:p>
          <a:p>
            <a:pPr marL="171450" marR="0" lvl="1" indent="-171450" algn="l" defTabSz="914400" rtl="0" eaLnBrk="1" fontAlgn="base" latinLnBrk="0" hangingPunct="1">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Use of Agile methodology along with existing DevOps framework for client </a:t>
            </a:r>
          </a:p>
          <a:p>
            <a:pPr marL="171450" marR="0" lvl="1" indent="-171450" algn="l" defTabSz="914400" rtl="0" eaLnBrk="1" fontAlgn="base" latinLnBrk="0" hangingPunct="1">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Leveraging our technology, domain expertise from </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CoE</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for successful engagement </a:t>
            </a:r>
          </a:p>
          <a:p>
            <a:pPr marL="171450" marR="0" lvl="1" indent="-171450" algn="l" defTabSz="914400" rtl="0" eaLnBrk="1" fontAlgn="base" latinLnBrk="0" hangingPunct="1">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End-to-End layered and configurable testing framework which manages data reconciliation and automated data validation</a:t>
            </a:r>
          </a:p>
          <a:p>
            <a:pPr marL="171450" marR="0" lvl="0" indent="-171450" algn="l" defTabSz="914400" rtl="0" eaLnBrk="1" fontAlgn="auto" latinLnBrk="0" hangingPunct="1">
              <a:lnSpc>
                <a:spcPts val="1200"/>
              </a:lnSpc>
              <a:spcBef>
                <a:spcPts val="0"/>
              </a:spcBef>
              <a:spcAft>
                <a:spcPts val="300"/>
              </a:spcAft>
              <a:buClr>
                <a:srgbClr val="FF7E83"/>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Reusable components and scripts are developed for future environment for Statistical model building.</a:t>
            </a:r>
          </a:p>
          <a:p>
            <a:pPr marL="171450" marR="0" lvl="0" indent="-171450" algn="l" defTabSz="914400" rtl="0" eaLnBrk="1" fontAlgn="auto" latinLnBrk="0" hangingPunct="1">
              <a:lnSpc>
                <a:spcPts val="1200"/>
              </a:lnSpc>
              <a:spcBef>
                <a:spcPts val="0"/>
              </a:spcBef>
              <a:spcAft>
                <a:spcPts val="300"/>
              </a:spcAft>
              <a:buClr>
                <a:srgbClr val="FF7E83"/>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30% performance improvement through scalable Azure based Architecture.</a:t>
            </a:r>
          </a:p>
          <a:p>
            <a:pPr marL="171450" marR="0" lvl="0" indent="-171450" algn="l" defTabSz="914400" rtl="0" eaLnBrk="1" fontAlgn="auto" latinLnBrk="0" hangingPunct="1">
              <a:lnSpc>
                <a:spcPts val="1200"/>
              </a:lnSpc>
              <a:spcBef>
                <a:spcPts val="0"/>
              </a:spcBef>
              <a:spcAft>
                <a:spcPts val="300"/>
              </a:spcAft>
              <a:buClr>
                <a:srgbClr val="FF7E83"/>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25% on manual effort reduction through automation.</a:t>
            </a:r>
          </a:p>
          <a:p>
            <a:pPr marL="171450" marR="0" lvl="0" indent="-171450" algn="l" defTabSz="914400" rtl="0" eaLnBrk="1" fontAlgn="auto" latinLnBrk="0" hangingPunct="1">
              <a:lnSpc>
                <a:spcPts val="1200"/>
              </a:lnSpc>
              <a:spcBef>
                <a:spcPts val="0"/>
              </a:spcBef>
              <a:spcAft>
                <a:spcPts val="300"/>
              </a:spcAft>
              <a:buClr>
                <a:srgbClr val="FF7E83"/>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50% Infrastructure cost reduction through Cloud based Azure Architecture.</a:t>
            </a:r>
          </a:p>
          <a:p>
            <a:pPr marL="171450" marR="0" lvl="1" indent="-171450" algn="l" defTabSz="914400" rtl="0" eaLnBrk="1" fontAlgn="base" latinLnBrk="0" hangingPunct="1">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1" indent="-171450" algn="l" defTabSz="914400" rtl="0" eaLnBrk="1" fontAlgn="base" latinLnBrk="0" hangingPunct="1">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1" indent="-171450" algn="l" defTabSz="914400" rtl="0" eaLnBrk="1" fontAlgn="base" latinLnBrk="0" hangingPunct="1">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 name="Group 5">
            <a:extLst>
              <a:ext uri="{FF2B5EF4-FFF2-40B4-BE49-F238E27FC236}">
                <a16:creationId xmlns:a16="http://schemas.microsoft.com/office/drawing/2014/main" id="{05645C00-63EC-4B07-BD15-C0BD9897D4C9}"/>
              </a:ext>
            </a:extLst>
          </p:cNvPr>
          <p:cNvGrpSpPr/>
          <p:nvPr/>
        </p:nvGrpSpPr>
        <p:grpSpPr>
          <a:xfrm>
            <a:off x="8145941" y="1409362"/>
            <a:ext cx="3408980" cy="673392"/>
            <a:chOff x="7483175" y="1647487"/>
            <a:chExt cx="3408980" cy="673392"/>
          </a:xfrm>
        </p:grpSpPr>
        <p:sp>
          <p:nvSpPr>
            <p:cNvPr id="7" name="Rounded Rectangle 12">
              <a:extLst>
                <a:ext uri="{FF2B5EF4-FFF2-40B4-BE49-F238E27FC236}">
                  <a16:creationId xmlns:a16="http://schemas.microsoft.com/office/drawing/2014/main" id="{D3614D2E-0B19-4B8B-95FB-ADA2FF04162F}"/>
                </a:ext>
              </a:extLst>
            </p:cNvPr>
            <p:cNvSpPr/>
            <p:nvPr/>
          </p:nvSpPr>
          <p:spPr>
            <a:xfrm>
              <a:off x="7672161" y="1776788"/>
              <a:ext cx="3219994" cy="315634"/>
            </a:xfrm>
            <a:prstGeom prst="roundRect">
              <a:avLst>
                <a:gd name="adj" fmla="val 50000"/>
              </a:avLst>
            </a:prstGeom>
            <a:solidFill>
              <a:schemeClr val="bg1"/>
            </a:solidFill>
            <a:ln>
              <a:solidFill>
                <a:schemeClr val="accent2"/>
              </a:solidFill>
            </a:ln>
            <a:effectLst/>
          </p:spPr>
          <p:style>
            <a:lnRef idx="1">
              <a:schemeClr val="dk1"/>
            </a:lnRef>
            <a:fillRef idx="3">
              <a:schemeClr val="dk1"/>
            </a:fillRef>
            <a:effectRef idx="2">
              <a:schemeClr val="dk1"/>
            </a:effectRef>
            <a:fontRef idx="minor">
              <a:schemeClr val="lt1"/>
            </a:fontRef>
          </p:style>
          <p:txBody>
            <a:bodyPr wrap="square" lIns="609600" tIns="0" rIns="45812" bIns="0" rtlCol="0" anchor="ctr"/>
            <a:lstStyle/>
            <a:p>
              <a:pPr marL="0" marR="0" lvl="0" indent="0" algn="l" defTabSz="11636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ED7D31"/>
                  </a:solidFill>
                  <a:effectLst/>
                  <a:uLnTx/>
                  <a:uFillTx/>
                  <a:latin typeface="Calibri" panose="020F0502020204030204"/>
                  <a:ea typeface="+mn-ea"/>
                  <a:cs typeface="Arial"/>
                </a:rPr>
                <a:t>Client Benefits</a:t>
              </a:r>
            </a:p>
          </p:txBody>
        </p:sp>
        <p:sp>
          <p:nvSpPr>
            <p:cNvPr id="8" name="Oval 20">
              <a:extLst>
                <a:ext uri="{FF2B5EF4-FFF2-40B4-BE49-F238E27FC236}">
                  <a16:creationId xmlns:a16="http://schemas.microsoft.com/office/drawing/2014/main" id="{3F3E45AE-B137-4715-B457-9400AF269C4B}"/>
                </a:ext>
              </a:extLst>
            </p:cNvPr>
            <p:cNvSpPr/>
            <p:nvPr/>
          </p:nvSpPr>
          <p:spPr>
            <a:xfrm>
              <a:off x="7483175" y="1647487"/>
              <a:ext cx="712710" cy="673392"/>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accent2"/>
            </a:solidFill>
            <a:ln w="19050" cap="flat" cmpd="sng" algn="ctr">
              <a:solidFill>
                <a:schemeClr val="accent2"/>
              </a:solidFill>
              <a:prstDash val="solid"/>
              <a:miter lim="800000"/>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pt-PT" sz="2400" b="0" i="0" u="none" strike="noStrike" kern="0" cap="none" spc="0" normalizeH="0" baseline="0" noProof="0">
                <a:ln>
                  <a:noFill/>
                </a:ln>
                <a:solidFill>
                  <a:prstClr val="white"/>
                </a:solidFill>
                <a:effectLst/>
                <a:uLnTx/>
                <a:uFillTx/>
                <a:latin typeface="Verdana"/>
                <a:ea typeface="+mn-ea"/>
                <a:cs typeface="+mn-cs"/>
              </a:endParaRPr>
            </a:p>
          </p:txBody>
        </p:sp>
        <p:sp>
          <p:nvSpPr>
            <p:cNvPr id="9" name="Freeform 50">
              <a:extLst>
                <a:ext uri="{FF2B5EF4-FFF2-40B4-BE49-F238E27FC236}">
                  <a16:creationId xmlns:a16="http://schemas.microsoft.com/office/drawing/2014/main" id="{7C5FC1E2-FC3A-4F94-866B-3DE07948D5DB}"/>
                </a:ext>
              </a:extLst>
            </p:cNvPr>
            <p:cNvSpPr/>
            <p:nvPr/>
          </p:nvSpPr>
          <p:spPr>
            <a:xfrm>
              <a:off x="7672361" y="1817981"/>
              <a:ext cx="334341" cy="332407"/>
            </a:xfrm>
            <a:custGeom>
              <a:avLst/>
              <a:gdLst>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65723 h 644769"/>
                <a:gd name="connsiteX1" fmla="*/ 230554 w 762000"/>
                <a:gd name="connsiteY1" fmla="*/ 445477 h 644769"/>
                <a:gd name="connsiteX2" fmla="*/ 707292 w 762000"/>
                <a:gd name="connsiteY2" fmla="*/ 0 h 644769"/>
                <a:gd name="connsiteX3" fmla="*/ 762000 w 762000"/>
                <a:gd name="connsiteY3" fmla="*/ 156308 h 644769"/>
                <a:gd name="connsiteX4" fmla="*/ 250092 w 762000"/>
                <a:gd name="connsiteY4" fmla="*/ 644769 h 644769"/>
                <a:gd name="connsiteX5" fmla="*/ 0 w 762000"/>
                <a:gd name="connsiteY5" fmla="*/ 465016 h 644769"/>
                <a:gd name="connsiteX6" fmla="*/ 85969 w 762000"/>
                <a:gd name="connsiteY6" fmla="*/ 265723 h 644769"/>
                <a:gd name="connsiteX0" fmla="*/ 85969 w 762000"/>
                <a:gd name="connsiteY0" fmla="*/ 265723 h 644769"/>
                <a:gd name="connsiteX1" fmla="*/ 230554 w 762000"/>
                <a:gd name="connsiteY1" fmla="*/ 445477 h 644769"/>
                <a:gd name="connsiteX2" fmla="*/ 707292 w 762000"/>
                <a:gd name="connsiteY2" fmla="*/ 0 h 644769"/>
                <a:gd name="connsiteX3" fmla="*/ 762000 w 762000"/>
                <a:gd name="connsiteY3" fmla="*/ 156308 h 644769"/>
                <a:gd name="connsiteX4" fmla="*/ 250092 w 762000"/>
                <a:gd name="connsiteY4" fmla="*/ 644769 h 644769"/>
                <a:gd name="connsiteX5" fmla="*/ 0 w 762000"/>
                <a:gd name="connsiteY5" fmla="*/ 465016 h 644769"/>
                <a:gd name="connsiteX6" fmla="*/ 85969 w 762000"/>
                <a:gd name="connsiteY6" fmla="*/ 265723 h 644769"/>
                <a:gd name="connsiteX0" fmla="*/ 85969 w 762000"/>
                <a:gd name="connsiteY0" fmla="*/ 285262 h 664308"/>
                <a:gd name="connsiteX1" fmla="*/ 230554 w 762000"/>
                <a:gd name="connsiteY1" fmla="*/ 465016 h 664308"/>
                <a:gd name="connsiteX2" fmla="*/ 652584 w 762000"/>
                <a:gd name="connsiteY2" fmla="*/ 0 h 664308"/>
                <a:gd name="connsiteX3" fmla="*/ 762000 w 762000"/>
                <a:gd name="connsiteY3" fmla="*/ 175847 h 664308"/>
                <a:gd name="connsiteX4" fmla="*/ 250092 w 762000"/>
                <a:gd name="connsiteY4" fmla="*/ 664308 h 664308"/>
                <a:gd name="connsiteX5" fmla="*/ 0 w 762000"/>
                <a:gd name="connsiteY5" fmla="*/ 484555 h 664308"/>
                <a:gd name="connsiteX6" fmla="*/ 85969 w 762000"/>
                <a:gd name="connsiteY6" fmla="*/ 285262 h 664308"/>
                <a:gd name="connsiteX0" fmla="*/ 85969 w 699477"/>
                <a:gd name="connsiteY0" fmla="*/ 285262 h 664308"/>
                <a:gd name="connsiteX1" fmla="*/ 230554 w 699477"/>
                <a:gd name="connsiteY1" fmla="*/ 465016 h 664308"/>
                <a:gd name="connsiteX2" fmla="*/ 652584 w 699477"/>
                <a:gd name="connsiteY2" fmla="*/ 0 h 664308"/>
                <a:gd name="connsiteX3" fmla="*/ 699477 w 699477"/>
                <a:gd name="connsiteY3" fmla="*/ 140677 h 664308"/>
                <a:gd name="connsiteX4" fmla="*/ 250092 w 699477"/>
                <a:gd name="connsiteY4" fmla="*/ 664308 h 664308"/>
                <a:gd name="connsiteX5" fmla="*/ 0 w 699477"/>
                <a:gd name="connsiteY5" fmla="*/ 484555 h 664308"/>
                <a:gd name="connsiteX6" fmla="*/ 85969 w 699477"/>
                <a:gd name="connsiteY6" fmla="*/ 285262 h 664308"/>
                <a:gd name="connsiteX0" fmla="*/ 85969 w 699477"/>
                <a:gd name="connsiteY0" fmla="*/ 285262 h 664308"/>
                <a:gd name="connsiteX1" fmla="*/ 230554 w 699477"/>
                <a:gd name="connsiteY1" fmla="*/ 465016 h 664308"/>
                <a:gd name="connsiteX2" fmla="*/ 652584 w 699477"/>
                <a:gd name="connsiteY2" fmla="*/ 0 h 664308"/>
                <a:gd name="connsiteX3" fmla="*/ 699477 w 699477"/>
                <a:gd name="connsiteY3" fmla="*/ 140677 h 664308"/>
                <a:gd name="connsiteX4" fmla="*/ 250092 w 699477"/>
                <a:gd name="connsiteY4" fmla="*/ 664308 h 664308"/>
                <a:gd name="connsiteX5" fmla="*/ 0 w 699477"/>
                <a:gd name="connsiteY5" fmla="*/ 484555 h 664308"/>
                <a:gd name="connsiteX6" fmla="*/ 85969 w 699477"/>
                <a:gd name="connsiteY6" fmla="*/ 285262 h 664308"/>
                <a:gd name="connsiteX0" fmla="*/ 85969 w 699477"/>
                <a:gd name="connsiteY0" fmla="*/ 285262 h 664308"/>
                <a:gd name="connsiteX1" fmla="*/ 230554 w 699477"/>
                <a:gd name="connsiteY1" fmla="*/ 465016 h 664308"/>
                <a:gd name="connsiteX2" fmla="*/ 652584 w 699477"/>
                <a:gd name="connsiteY2" fmla="*/ 0 h 664308"/>
                <a:gd name="connsiteX3" fmla="*/ 699477 w 699477"/>
                <a:gd name="connsiteY3" fmla="*/ 140677 h 664308"/>
                <a:gd name="connsiteX4" fmla="*/ 250092 w 699477"/>
                <a:gd name="connsiteY4" fmla="*/ 664308 h 664308"/>
                <a:gd name="connsiteX5" fmla="*/ 0 w 699477"/>
                <a:gd name="connsiteY5" fmla="*/ 484555 h 664308"/>
                <a:gd name="connsiteX6" fmla="*/ 85969 w 699477"/>
                <a:gd name="connsiteY6" fmla="*/ 285262 h 664308"/>
                <a:gd name="connsiteX0" fmla="*/ 62523 w 676031"/>
                <a:gd name="connsiteY0" fmla="*/ 285262 h 664308"/>
                <a:gd name="connsiteX1" fmla="*/ 207108 w 676031"/>
                <a:gd name="connsiteY1" fmla="*/ 465016 h 664308"/>
                <a:gd name="connsiteX2" fmla="*/ 629138 w 676031"/>
                <a:gd name="connsiteY2" fmla="*/ 0 h 664308"/>
                <a:gd name="connsiteX3" fmla="*/ 676031 w 676031"/>
                <a:gd name="connsiteY3" fmla="*/ 140677 h 664308"/>
                <a:gd name="connsiteX4" fmla="*/ 226646 w 676031"/>
                <a:gd name="connsiteY4" fmla="*/ 664308 h 664308"/>
                <a:gd name="connsiteX5" fmla="*/ 0 w 676031"/>
                <a:gd name="connsiteY5" fmla="*/ 457201 h 664308"/>
                <a:gd name="connsiteX6" fmla="*/ 62523 w 676031"/>
                <a:gd name="connsiteY6" fmla="*/ 285262 h 664308"/>
                <a:gd name="connsiteX0" fmla="*/ 62523 w 676031"/>
                <a:gd name="connsiteY0" fmla="*/ 285262 h 664308"/>
                <a:gd name="connsiteX1" fmla="*/ 207108 w 676031"/>
                <a:gd name="connsiteY1" fmla="*/ 465016 h 664308"/>
                <a:gd name="connsiteX2" fmla="*/ 629138 w 676031"/>
                <a:gd name="connsiteY2" fmla="*/ 0 h 664308"/>
                <a:gd name="connsiteX3" fmla="*/ 676031 w 676031"/>
                <a:gd name="connsiteY3" fmla="*/ 140677 h 664308"/>
                <a:gd name="connsiteX4" fmla="*/ 226646 w 676031"/>
                <a:gd name="connsiteY4" fmla="*/ 664308 h 664308"/>
                <a:gd name="connsiteX5" fmla="*/ 0 w 676031"/>
                <a:gd name="connsiteY5" fmla="*/ 457201 h 664308"/>
                <a:gd name="connsiteX6" fmla="*/ 62523 w 676031"/>
                <a:gd name="connsiteY6" fmla="*/ 285262 h 664308"/>
                <a:gd name="connsiteX0" fmla="*/ 62523 w 676031"/>
                <a:gd name="connsiteY0" fmla="*/ 285262 h 664308"/>
                <a:gd name="connsiteX1" fmla="*/ 207108 w 676031"/>
                <a:gd name="connsiteY1" fmla="*/ 465016 h 664308"/>
                <a:gd name="connsiteX2" fmla="*/ 629138 w 676031"/>
                <a:gd name="connsiteY2" fmla="*/ 0 h 664308"/>
                <a:gd name="connsiteX3" fmla="*/ 676031 w 676031"/>
                <a:gd name="connsiteY3" fmla="*/ 140677 h 664308"/>
                <a:gd name="connsiteX4" fmla="*/ 226646 w 676031"/>
                <a:gd name="connsiteY4" fmla="*/ 664308 h 664308"/>
                <a:gd name="connsiteX5" fmla="*/ 0 w 676031"/>
                <a:gd name="connsiteY5" fmla="*/ 457201 h 664308"/>
                <a:gd name="connsiteX6" fmla="*/ 62523 w 676031"/>
                <a:gd name="connsiteY6" fmla="*/ 285262 h 664308"/>
                <a:gd name="connsiteX0" fmla="*/ 62523 w 676031"/>
                <a:gd name="connsiteY0" fmla="*/ 285262 h 664308"/>
                <a:gd name="connsiteX1" fmla="*/ 207108 w 676031"/>
                <a:gd name="connsiteY1" fmla="*/ 465016 h 664308"/>
                <a:gd name="connsiteX2" fmla="*/ 629138 w 676031"/>
                <a:gd name="connsiteY2" fmla="*/ 0 h 664308"/>
                <a:gd name="connsiteX3" fmla="*/ 676031 w 676031"/>
                <a:gd name="connsiteY3" fmla="*/ 140677 h 664308"/>
                <a:gd name="connsiteX4" fmla="*/ 226646 w 676031"/>
                <a:gd name="connsiteY4" fmla="*/ 664308 h 664308"/>
                <a:gd name="connsiteX5" fmla="*/ 0 w 676031"/>
                <a:gd name="connsiteY5" fmla="*/ 457201 h 664308"/>
                <a:gd name="connsiteX6" fmla="*/ 62523 w 676031"/>
                <a:gd name="connsiteY6" fmla="*/ 285262 h 664308"/>
                <a:gd name="connsiteX0" fmla="*/ 62523 w 676031"/>
                <a:gd name="connsiteY0" fmla="*/ 285262 h 672123"/>
                <a:gd name="connsiteX1" fmla="*/ 207108 w 676031"/>
                <a:gd name="connsiteY1" fmla="*/ 465016 h 672123"/>
                <a:gd name="connsiteX2" fmla="*/ 629138 w 676031"/>
                <a:gd name="connsiteY2" fmla="*/ 0 h 672123"/>
                <a:gd name="connsiteX3" fmla="*/ 676031 w 676031"/>
                <a:gd name="connsiteY3" fmla="*/ 140677 h 672123"/>
                <a:gd name="connsiteX4" fmla="*/ 218831 w 676031"/>
                <a:gd name="connsiteY4" fmla="*/ 672123 h 672123"/>
                <a:gd name="connsiteX5" fmla="*/ 0 w 676031"/>
                <a:gd name="connsiteY5" fmla="*/ 457201 h 672123"/>
                <a:gd name="connsiteX6" fmla="*/ 62523 w 676031"/>
                <a:gd name="connsiteY6" fmla="*/ 285262 h 672123"/>
                <a:gd name="connsiteX0" fmla="*/ 62523 w 676031"/>
                <a:gd name="connsiteY0" fmla="*/ 285262 h 672123"/>
                <a:gd name="connsiteX1" fmla="*/ 207108 w 676031"/>
                <a:gd name="connsiteY1" fmla="*/ 465016 h 672123"/>
                <a:gd name="connsiteX2" fmla="*/ 629138 w 676031"/>
                <a:gd name="connsiteY2" fmla="*/ 0 h 672123"/>
                <a:gd name="connsiteX3" fmla="*/ 676031 w 676031"/>
                <a:gd name="connsiteY3" fmla="*/ 140677 h 672123"/>
                <a:gd name="connsiteX4" fmla="*/ 218831 w 676031"/>
                <a:gd name="connsiteY4" fmla="*/ 672123 h 672123"/>
                <a:gd name="connsiteX5" fmla="*/ 0 w 676031"/>
                <a:gd name="connsiteY5" fmla="*/ 457201 h 672123"/>
                <a:gd name="connsiteX6" fmla="*/ 62523 w 676031"/>
                <a:gd name="connsiteY6" fmla="*/ 285262 h 672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031" h="672123">
                  <a:moveTo>
                    <a:pt x="62523" y="285262"/>
                  </a:moveTo>
                  <a:lnTo>
                    <a:pt x="207108" y="465016"/>
                  </a:lnTo>
                  <a:cubicBezTo>
                    <a:pt x="379048" y="182360"/>
                    <a:pt x="465015" y="106810"/>
                    <a:pt x="629138" y="0"/>
                  </a:cubicBezTo>
                  <a:lnTo>
                    <a:pt x="676031" y="140677"/>
                  </a:lnTo>
                  <a:cubicBezTo>
                    <a:pt x="454595" y="276143"/>
                    <a:pt x="362113" y="352995"/>
                    <a:pt x="218831" y="672123"/>
                  </a:cubicBezTo>
                  <a:cubicBezTo>
                    <a:pt x="104206" y="506698"/>
                    <a:pt x="83364" y="517119"/>
                    <a:pt x="0" y="457201"/>
                  </a:cubicBezTo>
                  <a:cubicBezTo>
                    <a:pt x="59917" y="386862"/>
                    <a:pt x="49497" y="347785"/>
                    <a:pt x="62523" y="285262"/>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grpSp>
      <p:grpSp>
        <p:nvGrpSpPr>
          <p:cNvPr id="10" name="Group 9">
            <a:extLst>
              <a:ext uri="{FF2B5EF4-FFF2-40B4-BE49-F238E27FC236}">
                <a16:creationId xmlns:a16="http://schemas.microsoft.com/office/drawing/2014/main" id="{1DA1D133-5A82-42B5-93D4-10692FACD11E}"/>
              </a:ext>
            </a:extLst>
          </p:cNvPr>
          <p:cNvGrpSpPr/>
          <p:nvPr/>
        </p:nvGrpSpPr>
        <p:grpSpPr>
          <a:xfrm>
            <a:off x="4162009" y="1409362"/>
            <a:ext cx="3278390" cy="673392"/>
            <a:chOff x="3803299" y="1647487"/>
            <a:chExt cx="3278390" cy="673392"/>
          </a:xfrm>
        </p:grpSpPr>
        <p:sp>
          <p:nvSpPr>
            <p:cNvPr id="11" name="Rounded Rectangle 11">
              <a:extLst>
                <a:ext uri="{FF2B5EF4-FFF2-40B4-BE49-F238E27FC236}">
                  <a16:creationId xmlns:a16="http://schemas.microsoft.com/office/drawing/2014/main" id="{D56900DD-F120-4A23-957F-25B3BA286040}"/>
                </a:ext>
              </a:extLst>
            </p:cNvPr>
            <p:cNvSpPr/>
            <p:nvPr/>
          </p:nvSpPr>
          <p:spPr>
            <a:xfrm>
              <a:off x="3984347" y="1776788"/>
              <a:ext cx="3097342" cy="315634"/>
            </a:xfrm>
            <a:prstGeom prst="roundRect">
              <a:avLst>
                <a:gd name="adj" fmla="val 50000"/>
              </a:avLst>
            </a:prstGeom>
            <a:solidFill>
              <a:schemeClr val="bg1"/>
            </a:solidFill>
            <a:ln>
              <a:solidFill>
                <a:schemeClr val="tx2"/>
              </a:solidFill>
            </a:ln>
            <a:effectLst/>
          </p:spPr>
          <p:style>
            <a:lnRef idx="1">
              <a:schemeClr val="dk1"/>
            </a:lnRef>
            <a:fillRef idx="3">
              <a:schemeClr val="dk1"/>
            </a:fillRef>
            <a:effectRef idx="2">
              <a:schemeClr val="dk1"/>
            </a:effectRef>
            <a:fontRef idx="minor">
              <a:schemeClr val="lt1"/>
            </a:fontRef>
          </p:style>
          <p:txBody>
            <a:bodyPr wrap="square" lIns="609600" tIns="0" rIns="45812" bIns="0" rtlCol="0" anchor="ctr"/>
            <a:lstStyle/>
            <a:p>
              <a:pPr marL="0" marR="0" lvl="0" indent="0" algn="l" defTabSz="11636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44546A"/>
                  </a:solidFill>
                  <a:effectLst/>
                  <a:uLnTx/>
                  <a:uFillTx/>
                  <a:latin typeface="Calibri" panose="020F0502020204030204"/>
                  <a:ea typeface="+mn-ea"/>
                  <a:cs typeface="Arial"/>
                </a:rPr>
                <a:t>Solution Approach</a:t>
              </a:r>
            </a:p>
          </p:txBody>
        </p:sp>
        <p:sp>
          <p:nvSpPr>
            <p:cNvPr id="12" name="Oval 20">
              <a:extLst>
                <a:ext uri="{FF2B5EF4-FFF2-40B4-BE49-F238E27FC236}">
                  <a16:creationId xmlns:a16="http://schemas.microsoft.com/office/drawing/2014/main" id="{2D8353B5-D7DB-4F2B-9BC1-2A65558FFD83}"/>
                </a:ext>
              </a:extLst>
            </p:cNvPr>
            <p:cNvSpPr/>
            <p:nvPr/>
          </p:nvSpPr>
          <p:spPr>
            <a:xfrm>
              <a:off x="3803299" y="1647487"/>
              <a:ext cx="712710" cy="673392"/>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tx2"/>
            </a:solidFill>
            <a:ln w="19050" cap="flat" cmpd="sng" algn="ctr">
              <a:solidFill>
                <a:schemeClr val="tx2"/>
              </a:solidFill>
              <a:prstDash val="solid"/>
              <a:miter lim="800000"/>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pt-PT" sz="2400" b="0" i="0" u="none" strike="noStrike" kern="0" cap="none" spc="0" normalizeH="0" baseline="0" noProof="0">
                <a:ln>
                  <a:noFill/>
                </a:ln>
                <a:solidFill>
                  <a:prstClr val="white"/>
                </a:solidFill>
                <a:effectLst/>
                <a:uLnTx/>
                <a:uFillTx/>
                <a:latin typeface="Verdana"/>
                <a:ea typeface="+mn-ea"/>
                <a:cs typeface="+mn-cs"/>
              </a:endParaRPr>
            </a:p>
          </p:txBody>
        </p:sp>
        <p:grpSp>
          <p:nvGrpSpPr>
            <p:cNvPr id="13" name="Group 100">
              <a:extLst>
                <a:ext uri="{FF2B5EF4-FFF2-40B4-BE49-F238E27FC236}">
                  <a16:creationId xmlns:a16="http://schemas.microsoft.com/office/drawing/2014/main" id="{E7B65B02-B34D-4347-99BC-89C90D5C7B2F}"/>
                </a:ext>
              </a:extLst>
            </p:cNvPr>
            <p:cNvGrpSpPr/>
            <p:nvPr/>
          </p:nvGrpSpPr>
          <p:grpSpPr>
            <a:xfrm>
              <a:off x="3975876" y="1800406"/>
              <a:ext cx="367554" cy="367554"/>
              <a:chOff x="8807450" y="4772025"/>
              <a:chExt cx="250825" cy="250825"/>
            </a:xfrm>
          </p:grpSpPr>
          <p:sp>
            <p:nvSpPr>
              <p:cNvPr id="14" name="Freeform 32">
                <a:extLst>
                  <a:ext uri="{FF2B5EF4-FFF2-40B4-BE49-F238E27FC236}">
                    <a16:creationId xmlns:a16="http://schemas.microsoft.com/office/drawing/2014/main" id="{A7DE415B-18DA-434A-A93A-4B200C2FE6F7}"/>
                  </a:ext>
                </a:extLst>
              </p:cNvPr>
              <p:cNvSpPr>
                <a:spLocks/>
              </p:cNvSpPr>
              <p:nvPr/>
            </p:nvSpPr>
            <p:spPr bwMode="auto">
              <a:xfrm>
                <a:off x="8807450" y="4848225"/>
                <a:ext cx="176212" cy="174625"/>
              </a:xfrm>
              <a:custGeom>
                <a:avLst/>
                <a:gdLst/>
                <a:ahLst/>
                <a:cxnLst>
                  <a:cxn ang="0">
                    <a:pos x="44" y="10"/>
                  </a:cxn>
                  <a:cxn ang="0">
                    <a:pos x="44" y="10"/>
                  </a:cxn>
                  <a:cxn ang="0">
                    <a:pos x="47" y="23"/>
                  </a:cxn>
                  <a:cxn ang="0">
                    <a:pos x="24" y="47"/>
                  </a:cxn>
                  <a:cxn ang="0">
                    <a:pos x="0" y="23"/>
                  </a:cxn>
                  <a:cxn ang="0">
                    <a:pos x="24" y="0"/>
                  </a:cxn>
                  <a:cxn ang="0">
                    <a:pos x="37" y="4"/>
                  </a:cxn>
                </a:cxnLst>
                <a:rect l="0" t="0" r="r" b="b"/>
                <a:pathLst>
                  <a:path w="47" h="47">
                    <a:moveTo>
                      <a:pt x="44" y="10"/>
                    </a:moveTo>
                    <a:cubicBezTo>
                      <a:pt x="44" y="10"/>
                      <a:pt x="44" y="10"/>
                      <a:pt x="44" y="10"/>
                    </a:cubicBezTo>
                    <a:cubicBezTo>
                      <a:pt x="46" y="14"/>
                      <a:pt x="47" y="19"/>
                      <a:pt x="47" y="23"/>
                    </a:cubicBezTo>
                    <a:cubicBezTo>
                      <a:pt x="47" y="37"/>
                      <a:pt x="37" y="47"/>
                      <a:pt x="24" y="47"/>
                    </a:cubicBezTo>
                    <a:cubicBezTo>
                      <a:pt x="11" y="47"/>
                      <a:pt x="0" y="37"/>
                      <a:pt x="0" y="23"/>
                    </a:cubicBezTo>
                    <a:cubicBezTo>
                      <a:pt x="0" y="10"/>
                      <a:pt x="11" y="0"/>
                      <a:pt x="24" y="0"/>
                    </a:cubicBezTo>
                    <a:cubicBezTo>
                      <a:pt x="29" y="0"/>
                      <a:pt x="33" y="2"/>
                      <a:pt x="37" y="4"/>
                    </a:cubicBezTo>
                  </a:path>
                </a:pathLst>
              </a:custGeom>
              <a:solidFill>
                <a:schemeClr val="accent5"/>
              </a:solidFill>
              <a:ln w="19050" cap="rnd">
                <a:solidFill>
                  <a:schemeClr val="accent5"/>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234B"/>
                  </a:solidFill>
                  <a:effectLst/>
                  <a:uLnTx/>
                  <a:uFillTx/>
                  <a:latin typeface="Verdana"/>
                  <a:ea typeface="+mn-ea"/>
                  <a:cs typeface="+mn-cs"/>
                </a:endParaRPr>
              </a:p>
            </p:txBody>
          </p:sp>
          <p:sp>
            <p:nvSpPr>
              <p:cNvPr id="15" name="Freeform 34">
                <a:extLst>
                  <a:ext uri="{FF2B5EF4-FFF2-40B4-BE49-F238E27FC236}">
                    <a16:creationId xmlns:a16="http://schemas.microsoft.com/office/drawing/2014/main" id="{1BA46DB5-DA5F-4887-AE76-FAAD28FBE1D1}"/>
                  </a:ext>
                </a:extLst>
              </p:cNvPr>
              <p:cNvSpPr>
                <a:spLocks/>
              </p:cNvSpPr>
              <p:nvPr/>
            </p:nvSpPr>
            <p:spPr bwMode="auto">
              <a:xfrm>
                <a:off x="8845550" y="4881563"/>
                <a:ext cx="104775" cy="107950"/>
              </a:xfrm>
              <a:custGeom>
                <a:avLst/>
                <a:gdLst/>
                <a:ahLst/>
                <a:cxnLst>
                  <a:cxn ang="0">
                    <a:pos x="26" y="7"/>
                  </a:cxn>
                  <a:cxn ang="0">
                    <a:pos x="26" y="7"/>
                  </a:cxn>
                  <a:cxn ang="0">
                    <a:pos x="28" y="14"/>
                  </a:cxn>
                  <a:cxn ang="0">
                    <a:pos x="14" y="29"/>
                  </a:cxn>
                  <a:cxn ang="0">
                    <a:pos x="0" y="14"/>
                  </a:cxn>
                  <a:cxn ang="0">
                    <a:pos x="14" y="0"/>
                  </a:cxn>
                  <a:cxn ang="0">
                    <a:pos x="22" y="3"/>
                  </a:cxn>
                </a:cxnLst>
                <a:rect l="0" t="0" r="r" b="b"/>
                <a:pathLst>
                  <a:path w="28" h="29">
                    <a:moveTo>
                      <a:pt x="26" y="7"/>
                    </a:moveTo>
                    <a:cubicBezTo>
                      <a:pt x="26" y="7"/>
                      <a:pt x="26" y="7"/>
                      <a:pt x="26" y="7"/>
                    </a:cubicBezTo>
                    <a:cubicBezTo>
                      <a:pt x="27" y="9"/>
                      <a:pt x="28" y="12"/>
                      <a:pt x="28" y="14"/>
                    </a:cubicBezTo>
                    <a:cubicBezTo>
                      <a:pt x="28" y="22"/>
                      <a:pt x="22" y="29"/>
                      <a:pt x="14" y="29"/>
                    </a:cubicBezTo>
                    <a:cubicBezTo>
                      <a:pt x="6" y="29"/>
                      <a:pt x="0" y="22"/>
                      <a:pt x="0" y="14"/>
                    </a:cubicBezTo>
                    <a:cubicBezTo>
                      <a:pt x="0" y="7"/>
                      <a:pt x="6" y="0"/>
                      <a:pt x="14" y="0"/>
                    </a:cubicBezTo>
                    <a:cubicBezTo>
                      <a:pt x="17" y="0"/>
                      <a:pt x="19" y="1"/>
                      <a:pt x="22" y="3"/>
                    </a:cubicBezTo>
                  </a:path>
                </a:pathLst>
              </a:custGeom>
              <a:solidFill>
                <a:sysClr val="window" lastClr="FFFFFF"/>
              </a:solidFill>
              <a:ln w="1905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234B"/>
                  </a:solidFill>
                  <a:effectLst/>
                  <a:uLnTx/>
                  <a:uFillTx/>
                  <a:latin typeface="Verdana"/>
                  <a:ea typeface="+mn-ea"/>
                  <a:cs typeface="+mn-cs"/>
                </a:endParaRPr>
              </a:p>
            </p:txBody>
          </p:sp>
          <p:sp>
            <p:nvSpPr>
              <p:cNvPr id="16" name="Line 36">
                <a:extLst>
                  <a:ext uri="{FF2B5EF4-FFF2-40B4-BE49-F238E27FC236}">
                    <a16:creationId xmlns:a16="http://schemas.microsoft.com/office/drawing/2014/main" id="{0C6DC925-0C9E-496B-8E20-9A195C67BEFE}"/>
                  </a:ext>
                </a:extLst>
              </p:cNvPr>
              <p:cNvSpPr>
                <a:spLocks noChangeShapeType="1"/>
              </p:cNvSpPr>
              <p:nvPr/>
            </p:nvSpPr>
            <p:spPr bwMode="auto">
              <a:xfrm flipV="1">
                <a:off x="8897938" y="4806950"/>
                <a:ext cx="127000" cy="130175"/>
              </a:xfrm>
              <a:prstGeom prst="line">
                <a:avLst/>
              </a:prstGeom>
              <a:solidFill>
                <a:srgbClr val="95E616"/>
              </a:solidFill>
              <a:ln w="19050" cap="rnd">
                <a:solidFill>
                  <a:schemeClr val="accent5"/>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234B"/>
                  </a:solidFill>
                  <a:effectLst/>
                  <a:uLnTx/>
                  <a:uFillTx/>
                  <a:latin typeface="Verdana"/>
                  <a:ea typeface="+mn-ea"/>
                  <a:cs typeface="+mn-cs"/>
                </a:endParaRPr>
              </a:p>
            </p:txBody>
          </p:sp>
          <p:sp>
            <p:nvSpPr>
              <p:cNvPr id="17" name="Freeform 37">
                <a:extLst>
                  <a:ext uri="{FF2B5EF4-FFF2-40B4-BE49-F238E27FC236}">
                    <a16:creationId xmlns:a16="http://schemas.microsoft.com/office/drawing/2014/main" id="{BF774D10-6D0F-4C81-A0D8-A907DBEE8BD2}"/>
                  </a:ext>
                </a:extLst>
              </p:cNvPr>
              <p:cNvSpPr>
                <a:spLocks/>
              </p:cNvSpPr>
              <p:nvPr/>
            </p:nvSpPr>
            <p:spPr bwMode="auto">
              <a:xfrm>
                <a:off x="8983663" y="4772025"/>
                <a:ext cx="30162" cy="57150"/>
              </a:xfrm>
              <a:custGeom>
                <a:avLst/>
                <a:gdLst/>
                <a:ahLst/>
                <a:cxnLst>
                  <a:cxn ang="0">
                    <a:pos x="0" y="36"/>
                  </a:cxn>
                  <a:cxn ang="0">
                    <a:pos x="0" y="19"/>
                  </a:cxn>
                  <a:cxn ang="0">
                    <a:pos x="19" y="0"/>
                  </a:cxn>
                  <a:cxn ang="0">
                    <a:pos x="19" y="17"/>
                  </a:cxn>
                  <a:cxn ang="0">
                    <a:pos x="0" y="36"/>
                  </a:cxn>
                  <a:cxn ang="0">
                    <a:pos x="0" y="36"/>
                  </a:cxn>
                </a:cxnLst>
                <a:rect l="0" t="0" r="r" b="b"/>
                <a:pathLst>
                  <a:path w="19" h="36">
                    <a:moveTo>
                      <a:pt x="0" y="36"/>
                    </a:moveTo>
                    <a:lnTo>
                      <a:pt x="0" y="19"/>
                    </a:lnTo>
                    <a:lnTo>
                      <a:pt x="19" y="0"/>
                    </a:lnTo>
                    <a:lnTo>
                      <a:pt x="19" y="17"/>
                    </a:lnTo>
                    <a:lnTo>
                      <a:pt x="0" y="36"/>
                    </a:lnTo>
                    <a:lnTo>
                      <a:pt x="0" y="36"/>
                    </a:lnTo>
                    <a:close/>
                  </a:path>
                </a:pathLst>
              </a:custGeom>
              <a:solidFill>
                <a:schemeClr val="accent5"/>
              </a:solidFill>
              <a:ln w="19050" cap="rnd">
                <a:solidFill>
                  <a:schemeClr val="accent5"/>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234B"/>
                  </a:solidFill>
                  <a:effectLst/>
                  <a:uLnTx/>
                  <a:uFillTx/>
                  <a:latin typeface="Verdana"/>
                  <a:ea typeface="+mn-ea"/>
                  <a:cs typeface="+mn-cs"/>
                </a:endParaRPr>
              </a:p>
            </p:txBody>
          </p:sp>
          <p:sp>
            <p:nvSpPr>
              <p:cNvPr id="18" name="Freeform 38">
                <a:extLst>
                  <a:ext uri="{FF2B5EF4-FFF2-40B4-BE49-F238E27FC236}">
                    <a16:creationId xmlns:a16="http://schemas.microsoft.com/office/drawing/2014/main" id="{7EA5392C-08DB-4D66-BB23-417B5F8B5F47}"/>
                  </a:ext>
                </a:extLst>
              </p:cNvPr>
              <p:cNvSpPr>
                <a:spLocks/>
              </p:cNvSpPr>
              <p:nvPr/>
            </p:nvSpPr>
            <p:spPr bwMode="auto">
              <a:xfrm>
                <a:off x="9002713" y="4813300"/>
                <a:ext cx="55562" cy="34925"/>
              </a:xfrm>
              <a:custGeom>
                <a:avLst/>
                <a:gdLst/>
                <a:ahLst/>
                <a:cxnLst>
                  <a:cxn ang="0">
                    <a:pos x="0" y="22"/>
                  </a:cxn>
                  <a:cxn ang="0">
                    <a:pos x="17" y="19"/>
                  </a:cxn>
                  <a:cxn ang="0">
                    <a:pos x="35" y="0"/>
                  </a:cxn>
                  <a:cxn ang="0">
                    <a:pos x="19" y="3"/>
                  </a:cxn>
                  <a:cxn ang="0">
                    <a:pos x="0" y="22"/>
                  </a:cxn>
                  <a:cxn ang="0">
                    <a:pos x="0" y="22"/>
                  </a:cxn>
                </a:cxnLst>
                <a:rect l="0" t="0" r="r" b="b"/>
                <a:pathLst>
                  <a:path w="35" h="22">
                    <a:moveTo>
                      <a:pt x="0" y="22"/>
                    </a:moveTo>
                    <a:lnTo>
                      <a:pt x="17" y="19"/>
                    </a:lnTo>
                    <a:lnTo>
                      <a:pt x="35" y="0"/>
                    </a:lnTo>
                    <a:lnTo>
                      <a:pt x="19" y="3"/>
                    </a:lnTo>
                    <a:lnTo>
                      <a:pt x="0" y="22"/>
                    </a:lnTo>
                    <a:lnTo>
                      <a:pt x="0" y="22"/>
                    </a:lnTo>
                    <a:close/>
                  </a:path>
                </a:pathLst>
              </a:custGeom>
              <a:solidFill>
                <a:schemeClr val="accent5"/>
              </a:solidFill>
              <a:ln w="19050" cap="rnd">
                <a:solidFill>
                  <a:schemeClr val="accent5"/>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234B"/>
                  </a:solidFill>
                  <a:effectLst/>
                  <a:uLnTx/>
                  <a:uFillTx/>
                  <a:latin typeface="Verdana"/>
                  <a:ea typeface="+mn-ea"/>
                  <a:cs typeface="+mn-cs"/>
                </a:endParaRPr>
              </a:p>
            </p:txBody>
          </p:sp>
        </p:grpSp>
      </p:grpSp>
      <p:grpSp>
        <p:nvGrpSpPr>
          <p:cNvPr id="19" name="Group 18">
            <a:extLst>
              <a:ext uri="{FF2B5EF4-FFF2-40B4-BE49-F238E27FC236}">
                <a16:creationId xmlns:a16="http://schemas.microsoft.com/office/drawing/2014/main" id="{9A1C8835-DC16-45B8-8B4C-0320D4D89690}"/>
              </a:ext>
            </a:extLst>
          </p:cNvPr>
          <p:cNvGrpSpPr/>
          <p:nvPr/>
        </p:nvGrpSpPr>
        <p:grpSpPr>
          <a:xfrm>
            <a:off x="137471" y="1409362"/>
            <a:ext cx="3486331" cy="673392"/>
            <a:chOff x="137471" y="1647487"/>
            <a:chExt cx="3486331" cy="673392"/>
          </a:xfrm>
        </p:grpSpPr>
        <p:sp>
          <p:nvSpPr>
            <p:cNvPr id="20" name="Rounded Rectangle 10">
              <a:extLst>
                <a:ext uri="{FF2B5EF4-FFF2-40B4-BE49-F238E27FC236}">
                  <a16:creationId xmlns:a16="http://schemas.microsoft.com/office/drawing/2014/main" id="{F8BC6CC8-3AC5-4B41-88A6-AD2DB3306A14}"/>
                </a:ext>
              </a:extLst>
            </p:cNvPr>
            <p:cNvSpPr/>
            <p:nvPr/>
          </p:nvSpPr>
          <p:spPr>
            <a:xfrm>
              <a:off x="323851" y="1776788"/>
              <a:ext cx="3299951" cy="315634"/>
            </a:xfrm>
            <a:prstGeom prst="roundRect">
              <a:avLst>
                <a:gd name="adj" fmla="val 50000"/>
              </a:avLst>
            </a:prstGeom>
            <a:solidFill>
              <a:schemeClr val="bg1"/>
            </a:solidFill>
            <a:ln>
              <a:solidFill>
                <a:schemeClr val="accent3"/>
              </a:solidFill>
            </a:ln>
            <a:effectLst/>
          </p:spPr>
          <p:style>
            <a:lnRef idx="1">
              <a:schemeClr val="dk1"/>
            </a:lnRef>
            <a:fillRef idx="3">
              <a:schemeClr val="dk1"/>
            </a:fillRef>
            <a:effectRef idx="2">
              <a:schemeClr val="dk1"/>
            </a:effectRef>
            <a:fontRef idx="minor">
              <a:schemeClr val="lt1"/>
            </a:fontRef>
          </p:style>
          <p:txBody>
            <a:bodyPr wrap="square" lIns="609600" tIns="0" rIns="45812" bIns="0" rtlCol="0" anchor="ctr"/>
            <a:lstStyle/>
            <a:p>
              <a:pPr marL="0" marR="0" lvl="0" indent="0" algn="l" defTabSz="11636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A5A5A5"/>
                  </a:solidFill>
                  <a:effectLst/>
                  <a:uLnTx/>
                  <a:uFillTx/>
                  <a:latin typeface="Calibri" panose="020F0502020204030204"/>
                  <a:ea typeface="+mn-ea"/>
                  <a:cs typeface="Arial"/>
                </a:rPr>
                <a:t>Situation</a:t>
              </a:r>
            </a:p>
          </p:txBody>
        </p:sp>
        <p:sp>
          <p:nvSpPr>
            <p:cNvPr id="21" name="Oval 20">
              <a:extLst>
                <a:ext uri="{FF2B5EF4-FFF2-40B4-BE49-F238E27FC236}">
                  <a16:creationId xmlns:a16="http://schemas.microsoft.com/office/drawing/2014/main" id="{A33C7501-80BC-4903-BEBB-2348A4D4CB44}"/>
                </a:ext>
              </a:extLst>
            </p:cNvPr>
            <p:cNvSpPr/>
            <p:nvPr/>
          </p:nvSpPr>
          <p:spPr>
            <a:xfrm>
              <a:off x="137471" y="1647487"/>
              <a:ext cx="712710" cy="673392"/>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accent3"/>
            </a:solidFill>
            <a:ln w="19050" cap="flat" cmpd="sng" algn="ctr">
              <a:solidFill>
                <a:schemeClr val="accent3"/>
              </a:solidFill>
              <a:prstDash val="solid"/>
              <a:miter lim="800000"/>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pt-PT" sz="2400" b="0" i="0" u="none" strike="noStrike" kern="0" cap="none" spc="0" normalizeH="0" baseline="0" noProof="0">
                <a:ln>
                  <a:noFill/>
                </a:ln>
                <a:solidFill>
                  <a:prstClr val="white"/>
                </a:solidFill>
                <a:effectLst/>
                <a:uLnTx/>
                <a:uFillTx/>
                <a:latin typeface="Verdana"/>
                <a:ea typeface="+mn-ea"/>
                <a:cs typeface="+mn-cs"/>
              </a:endParaRPr>
            </a:p>
          </p:txBody>
        </p:sp>
        <p:grpSp>
          <p:nvGrpSpPr>
            <p:cNvPr id="22" name="Group 21">
              <a:extLst>
                <a:ext uri="{FF2B5EF4-FFF2-40B4-BE49-F238E27FC236}">
                  <a16:creationId xmlns:a16="http://schemas.microsoft.com/office/drawing/2014/main" id="{60AAA644-915C-426A-A321-A3077F4CCF0E}"/>
                </a:ext>
              </a:extLst>
            </p:cNvPr>
            <p:cNvGrpSpPr>
              <a:grpSpLocks noChangeAspect="1"/>
            </p:cNvGrpSpPr>
            <p:nvPr/>
          </p:nvGrpSpPr>
          <p:grpSpPr bwMode="auto">
            <a:xfrm>
              <a:off x="297864" y="1764467"/>
              <a:ext cx="391925" cy="439434"/>
              <a:chOff x="890" y="777"/>
              <a:chExt cx="2879" cy="3228"/>
            </a:xfrm>
            <a:noFill/>
          </p:grpSpPr>
          <p:sp>
            <p:nvSpPr>
              <p:cNvPr id="23" name="Freeform 66">
                <a:extLst>
                  <a:ext uri="{FF2B5EF4-FFF2-40B4-BE49-F238E27FC236}">
                    <a16:creationId xmlns:a16="http://schemas.microsoft.com/office/drawing/2014/main" id="{09E2A2AD-CDFB-49E3-8D8B-F388F297A430}"/>
                  </a:ext>
                </a:extLst>
              </p:cNvPr>
              <p:cNvSpPr>
                <a:spLocks/>
              </p:cNvSpPr>
              <p:nvPr/>
            </p:nvSpPr>
            <p:spPr bwMode="auto">
              <a:xfrm>
                <a:off x="1725" y="1961"/>
                <a:ext cx="2044" cy="2044"/>
              </a:xfrm>
              <a:custGeom>
                <a:avLst/>
                <a:gdLst/>
                <a:ahLst/>
                <a:cxnLst>
                  <a:cxn ang="0">
                    <a:pos x="1775" y="956"/>
                  </a:cxn>
                  <a:cxn ang="0">
                    <a:pos x="1912" y="808"/>
                  </a:cxn>
                  <a:cxn ang="0">
                    <a:pos x="1858" y="606"/>
                  </a:cxn>
                  <a:cxn ang="0">
                    <a:pos x="1665" y="546"/>
                  </a:cxn>
                  <a:cxn ang="0">
                    <a:pos x="1710" y="350"/>
                  </a:cxn>
                  <a:cxn ang="0">
                    <a:pos x="1562" y="202"/>
                  </a:cxn>
                  <a:cxn ang="0">
                    <a:pos x="1365" y="246"/>
                  </a:cxn>
                  <a:cxn ang="0">
                    <a:pos x="1306" y="54"/>
                  </a:cxn>
                  <a:cxn ang="0">
                    <a:pos x="1104" y="0"/>
                  </a:cxn>
                  <a:cxn ang="0">
                    <a:pos x="956" y="137"/>
                  </a:cxn>
                  <a:cxn ang="0">
                    <a:pos x="808" y="0"/>
                  </a:cxn>
                  <a:cxn ang="0">
                    <a:pos x="606" y="54"/>
                  </a:cxn>
                  <a:cxn ang="0">
                    <a:pos x="546" y="246"/>
                  </a:cxn>
                  <a:cxn ang="0">
                    <a:pos x="350" y="202"/>
                  </a:cxn>
                  <a:cxn ang="0">
                    <a:pos x="202" y="350"/>
                  </a:cxn>
                  <a:cxn ang="0">
                    <a:pos x="246" y="546"/>
                  </a:cxn>
                  <a:cxn ang="0">
                    <a:pos x="54" y="606"/>
                  </a:cxn>
                  <a:cxn ang="0">
                    <a:pos x="0" y="808"/>
                  </a:cxn>
                  <a:cxn ang="0">
                    <a:pos x="137" y="956"/>
                  </a:cxn>
                  <a:cxn ang="0">
                    <a:pos x="0" y="1104"/>
                  </a:cxn>
                  <a:cxn ang="0">
                    <a:pos x="54" y="1306"/>
                  </a:cxn>
                  <a:cxn ang="0">
                    <a:pos x="246" y="1365"/>
                  </a:cxn>
                  <a:cxn ang="0">
                    <a:pos x="202" y="1562"/>
                  </a:cxn>
                  <a:cxn ang="0">
                    <a:pos x="350" y="1709"/>
                  </a:cxn>
                  <a:cxn ang="0">
                    <a:pos x="546" y="1665"/>
                  </a:cxn>
                  <a:cxn ang="0">
                    <a:pos x="606" y="1858"/>
                  </a:cxn>
                  <a:cxn ang="0">
                    <a:pos x="808" y="1912"/>
                  </a:cxn>
                  <a:cxn ang="0">
                    <a:pos x="956" y="1775"/>
                  </a:cxn>
                  <a:cxn ang="0">
                    <a:pos x="1104" y="1912"/>
                  </a:cxn>
                  <a:cxn ang="0">
                    <a:pos x="1306" y="1858"/>
                  </a:cxn>
                  <a:cxn ang="0">
                    <a:pos x="1365" y="1665"/>
                  </a:cxn>
                  <a:cxn ang="0">
                    <a:pos x="1562" y="1710"/>
                  </a:cxn>
                  <a:cxn ang="0">
                    <a:pos x="1710" y="1562"/>
                  </a:cxn>
                  <a:cxn ang="0">
                    <a:pos x="1665" y="1365"/>
                  </a:cxn>
                  <a:cxn ang="0">
                    <a:pos x="1858" y="1306"/>
                  </a:cxn>
                  <a:cxn ang="0">
                    <a:pos x="1912" y="1104"/>
                  </a:cxn>
                  <a:cxn ang="0">
                    <a:pos x="1775" y="956"/>
                  </a:cxn>
                </a:cxnLst>
                <a:rect l="0" t="0" r="r" b="b"/>
                <a:pathLst>
                  <a:path w="1912" h="1912">
                    <a:moveTo>
                      <a:pt x="1775" y="956"/>
                    </a:moveTo>
                    <a:cubicBezTo>
                      <a:pt x="1775" y="877"/>
                      <a:pt x="1835" y="813"/>
                      <a:pt x="1912" y="808"/>
                    </a:cubicBezTo>
                    <a:cubicBezTo>
                      <a:pt x="1901" y="738"/>
                      <a:pt x="1883" y="670"/>
                      <a:pt x="1858" y="606"/>
                    </a:cubicBezTo>
                    <a:cubicBezTo>
                      <a:pt x="1788" y="639"/>
                      <a:pt x="1704" y="614"/>
                      <a:pt x="1665" y="546"/>
                    </a:cubicBezTo>
                    <a:cubicBezTo>
                      <a:pt x="1626" y="479"/>
                      <a:pt x="1646" y="393"/>
                      <a:pt x="1710" y="350"/>
                    </a:cubicBezTo>
                    <a:cubicBezTo>
                      <a:pt x="1666" y="295"/>
                      <a:pt x="1616" y="246"/>
                      <a:pt x="1562" y="202"/>
                    </a:cubicBezTo>
                    <a:cubicBezTo>
                      <a:pt x="1518" y="265"/>
                      <a:pt x="1433" y="285"/>
                      <a:pt x="1365" y="246"/>
                    </a:cubicBezTo>
                    <a:cubicBezTo>
                      <a:pt x="1297" y="207"/>
                      <a:pt x="1272" y="123"/>
                      <a:pt x="1306" y="54"/>
                    </a:cubicBezTo>
                    <a:cubicBezTo>
                      <a:pt x="1241" y="29"/>
                      <a:pt x="1174" y="10"/>
                      <a:pt x="1104" y="0"/>
                    </a:cubicBezTo>
                    <a:cubicBezTo>
                      <a:pt x="1098" y="76"/>
                      <a:pt x="1034" y="137"/>
                      <a:pt x="956" y="137"/>
                    </a:cubicBezTo>
                    <a:cubicBezTo>
                      <a:pt x="877" y="137"/>
                      <a:pt x="813" y="76"/>
                      <a:pt x="808" y="0"/>
                    </a:cubicBezTo>
                    <a:cubicBezTo>
                      <a:pt x="738" y="10"/>
                      <a:pt x="670" y="29"/>
                      <a:pt x="606" y="54"/>
                    </a:cubicBezTo>
                    <a:cubicBezTo>
                      <a:pt x="639" y="123"/>
                      <a:pt x="614" y="207"/>
                      <a:pt x="546" y="246"/>
                    </a:cubicBezTo>
                    <a:cubicBezTo>
                      <a:pt x="479" y="285"/>
                      <a:pt x="393" y="265"/>
                      <a:pt x="350" y="202"/>
                    </a:cubicBezTo>
                    <a:cubicBezTo>
                      <a:pt x="295" y="246"/>
                      <a:pt x="246" y="295"/>
                      <a:pt x="202" y="350"/>
                    </a:cubicBezTo>
                    <a:cubicBezTo>
                      <a:pt x="265" y="393"/>
                      <a:pt x="286" y="479"/>
                      <a:pt x="246" y="546"/>
                    </a:cubicBezTo>
                    <a:cubicBezTo>
                      <a:pt x="207" y="614"/>
                      <a:pt x="123" y="639"/>
                      <a:pt x="54" y="606"/>
                    </a:cubicBezTo>
                    <a:cubicBezTo>
                      <a:pt x="29" y="670"/>
                      <a:pt x="10" y="738"/>
                      <a:pt x="0" y="808"/>
                    </a:cubicBezTo>
                    <a:cubicBezTo>
                      <a:pt x="76" y="813"/>
                      <a:pt x="137" y="877"/>
                      <a:pt x="137" y="956"/>
                    </a:cubicBezTo>
                    <a:cubicBezTo>
                      <a:pt x="137" y="1034"/>
                      <a:pt x="76" y="1098"/>
                      <a:pt x="0" y="1104"/>
                    </a:cubicBezTo>
                    <a:cubicBezTo>
                      <a:pt x="10" y="1174"/>
                      <a:pt x="29" y="1241"/>
                      <a:pt x="54" y="1306"/>
                    </a:cubicBezTo>
                    <a:cubicBezTo>
                      <a:pt x="123" y="1272"/>
                      <a:pt x="207" y="1297"/>
                      <a:pt x="246" y="1365"/>
                    </a:cubicBezTo>
                    <a:cubicBezTo>
                      <a:pt x="286" y="1433"/>
                      <a:pt x="265" y="1518"/>
                      <a:pt x="202" y="1562"/>
                    </a:cubicBezTo>
                    <a:cubicBezTo>
                      <a:pt x="246" y="1616"/>
                      <a:pt x="295" y="1666"/>
                      <a:pt x="350" y="1709"/>
                    </a:cubicBezTo>
                    <a:cubicBezTo>
                      <a:pt x="393" y="1646"/>
                      <a:pt x="479" y="1626"/>
                      <a:pt x="546" y="1665"/>
                    </a:cubicBezTo>
                    <a:cubicBezTo>
                      <a:pt x="614" y="1704"/>
                      <a:pt x="639" y="1788"/>
                      <a:pt x="606" y="1858"/>
                    </a:cubicBezTo>
                    <a:cubicBezTo>
                      <a:pt x="670" y="1883"/>
                      <a:pt x="738" y="1901"/>
                      <a:pt x="808" y="1912"/>
                    </a:cubicBezTo>
                    <a:cubicBezTo>
                      <a:pt x="814" y="1835"/>
                      <a:pt x="877" y="1775"/>
                      <a:pt x="956" y="1775"/>
                    </a:cubicBezTo>
                    <a:cubicBezTo>
                      <a:pt x="1034" y="1775"/>
                      <a:pt x="1098" y="1835"/>
                      <a:pt x="1104" y="1912"/>
                    </a:cubicBezTo>
                    <a:cubicBezTo>
                      <a:pt x="1174" y="1901"/>
                      <a:pt x="1241" y="1883"/>
                      <a:pt x="1306" y="1858"/>
                    </a:cubicBezTo>
                    <a:cubicBezTo>
                      <a:pt x="1272" y="1788"/>
                      <a:pt x="1297" y="1704"/>
                      <a:pt x="1365" y="1665"/>
                    </a:cubicBezTo>
                    <a:cubicBezTo>
                      <a:pt x="1433" y="1626"/>
                      <a:pt x="1518" y="1646"/>
                      <a:pt x="1562" y="1710"/>
                    </a:cubicBezTo>
                    <a:cubicBezTo>
                      <a:pt x="1616" y="1666"/>
                      <a:pt x="1666" y="1616"/>
                      <a:pt x="1710" y="1562"/>
                    </a:cubicBezTo>
                    <a:cubicBezTo>
                      <a:pt x="1646" y="1518"/>
                      <a:pt x="1626" y="1433"/>
                      <a:pt x="1665" y="1365"/>
                    </a:cubicBezTo>
                    <a:cubicBezTo>
                      <a:pt x="1704" y="1297"/>
                      <a:pt x="1788" y="1272"/>
                      <a:pt x="1858" y="1306"/>
                    </a:cubicBezTo>
                    <a:cubicBezTo>
                      <a:pt x="1883" y="1241"/>
                      <a:pt x="1901" y="1174"/>
                      <a:pt x="1912" y="1104"/>
                    </a:cubicBezTo>
                    <a:cubicBezTo>
                      <a:pt x="1835" y="1098"/>
                      <a:pt x="1775" y="1034"/>
                      <a:pt x="1775" y="956"/>
                    </a:cubicBezTo>
                    <a:close/>
                  </a:path>
                </a:pathLst>
              </a:custGeom>
              <a:solidFill>
                <a:schemeClr val="bg1"/>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5B065CBB-BFFB-402B-91D2-D540AEE92B3A}"/>
                  </a:ext>
                </a:extLst>
              </p:cNvPr>
              <p:cNvSpPr>
                <a:spLocks noChangeArrowheads="1"/>
              </p:cNvSpPr>
              <p:nvPr/>
            </p:nvSpPr>
            <p:spPr bwMode="auto">
              <a:xfrm>
                <a:off x="2468" y="2704"/>
                <a:ext cx="557" cy="557"/>
              </a:xfrm>
              <a:prstGeom prst="ellipse">
                <a:avLst/>
              </a:prstGeom>
              <a:solidFill>
                <a:schemeClr val="accent3"/>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Freeform 68">
                <a:extLst>
                  <a:ext uri="{FF2B5EF4-FFF2-40B4-BE49-F238E27FC236}">
                    <a16:creationId xmlns:a16="http://schemas.microsoft.com/office/drawing/2014/main" id="{7613EADB-F12A-4341-9A34-8CCC1998099C}"/>
                  </a:ext>
                </a:extLst>
              </p:cNvPr>
              <p:cNvSpPr>
                <a:spLocks/>
              </p:cNvSpPr>
              <p:nvPr/>
            </p:nvSpPr>
            <p:spPr bwMode="auto">
              <a:xfrm>
                <a:off x="890" y="1134"/>
                <a:ext cx="1366" cy="1366"/>
              </a:xfrm>
              <a:custGeom>
                <a:avLst/>
                <a:gdLst/>
                <a:ahLst/>
                <a:cxnLst>
                  <a:cxn ang="0">
                    <a:pos x="1146" y="638"/>
                  </a:cxn>
                  <a:cxn ang="0">
                    <a:pos x="1278" y="491"/>
                  </a:cxn>
                  <a:cxn ang="0">
                    <a:pos x="1195" y="291"/>
                  </a:cxn>
                  <a:cxn ang="0">
                    <a:pos x="997" y="280"/>
                  </a:cxn>
                  <a:cxn ang="0">
                    <a:pos x="986" y="83"/>
                  </a:cxn>
                  <a:cxn ang="0">
                    <a:pos x="786" y="0"/>
                  </a:cxn>
                  <a:cxn ang="0">
                    <a:pos x="639" y="131"/>
                  </a:cxn>
                  <a:cxn ang="0">
                    <a:pos x="491" y="0"/>
                  </a:cxn>
                  <a:cxn ang="0">
                    <a:pos x="291" y="83"/>
                  </a:cxn>
                  <a:cxn ang="0">
                    <a:pos x="280" y="280"/>
                  </a:cxn>
                  <a:cxn ang="0">
                    <a:pos x="83" y="291"/>
                  </a:cxn>
                  <a:cxn ang="0">
                    <a:pos x="0" y="491"/>
                  </a:cxn>
                  <a:cxn ang="0">
                    <a:pos x="131" y="638"/>
                  </a:cxn>
                  <a:cxn ang="0">
                    <a:pos x="0" y="786"/>
                  </a:cxn>
                  <a:cxn ang="0">
                    <a:pos x="83" y="986"/>
                  </a:cxn>
                  <a:cxn ang="0">
                    <a:pos x="280" y="997"/>
                  </a:cxn>
                  <a:cxn ang="0">
                    <a:pos x="291" y="1194"/>
                  </a:cxn>
                  <a:cxn ang="0">
                    <a:pos x="491" y="1277"/>
                  </a:cxn>
                  <a:cxn ang="0">
                    <a:pos x="639" y="1146"/>
                  </a:cxn>
                  <a:cxn ang="0">
                    <a:pos x="786" y="1277"/>
                  </a:cxn>
                  <a:cxn ang="0">
                    <a:pos x="986" y="1194"/>
                  </a:cxn>
                  <a:cxn ang="0">
                    <a:pos x="997" y="997"/>
                  </a:cxn>
                  <a:cxn ang="0">
                    <a:pos x="1195" y="986"/>
                  </a:cxn>
                  <a:cxn ang="0">
                    <a:pos x="1278" y="786"/>
                  </a:cxn>
                  <a:cxn ang="0">
                    <a:pos x="1146" y="638"/>
                  </a:cxn>
                </a:cxnLst>
                <a:rect l="0" t="0" r="r" b="b"/>
                <a:pathLst>
                  <a:path w="1278" h="1277">
                    <a:moveTo>
                      <a:pt x="1146" y="638"/>
                    </a:moveTo>
                    <a:cubicBezTo>
                      <a:pt x="1146" y="562"/>
                      <a:pt x="1203" y="499"/>
                      <a:pt x="1278" y="491"/>
                    </a:cubicBezTo>
                    <a:cubicBezTo>
                      <a:pt x="1261" y="419"/>
                      <a:pt x="1233" y="352"/>
                      <a:pt x="1195" y="291"/>
                    </a:cubicBezTo>
                    <a:cubicBezTo>
                      <a:pt x="1136" y="337"/>
                      <a:pt x="1051" y="334"/>
                      <a:pt x="997" y="280"/>
                    </a:cubicBezTo>
                    <a:cubicBezTo>
                      <a:pt x="943" y="226"/>
                      <a:pt x="940" y="141"/>
                      <a:pt x="986" y="83"/>
                    </a:cubicBezTo>
                    <a:cubicBezTo>
                      <a:pt x="925" y="44"/>
                      <a:pt x="858" y="16"/>
                      <a:pt x="786" y="0"/>
                    </a:cubicBezTo>
                    <a:cubicBezTo>
                      <a:pt x="778" y="74"/>
                      <a:pt x="715" y="131"/>
                      <a:pt x="639" y="131"/>
                    </a:cubicBezTo>
                    <a:cubicBezTo>
                      <a:pt x="562" y="131"/>
                      <a:pt x="499" y="74"/>
                      <a:pt x="491" y="0"/>
                    </a:cubicBezTo>
                    <a:cubicBezTo>
                      <a:pt x="419" y="16"/>
                      <a:pt x="352" y="44"/>
                      <a:pt x="291" y="83"/>
                    </a:cubicBezTo>
                    <a:cubicBezTo>
                      <a:pt x="338" y="141"/>
                      <a:pt x="334" y="226"/>
                      <a:pt x="280" y="280"/>
                    </a:cubicBezTo>
                    <a:cubicBezTo>
                      <a:pt x="226" y="334"/>
                      <a:pt x="141" y="337"/>
                      <a:pt x="83" y="291"/>
                    </a:cubicBezTo>
                    <a:cubicBezTo>
                      <a:pt x="45" y="352"/>
                      <a:pt x="16" y="419"/>
                      <a:pt x="0" y="491"/>
                    </a:cubicBezTo>
                    <a:cubicBezTo>
                      <a:pt x="74" y="499"/>
                      <a:pt x="131" y="562"/>
                      <a:pt x="131" y="638"/>
                    </a:cubicBezTo>
                    <a:cubicBezTo>
                      <a:pt x="131" y="715"/>
                      <a:pt x="74" y="778"/>
                      <a:pt x="0" y="786"/>
                    </a:cubicBezTo>
                    <a:cubicBezTo>
                      <a:pt x="16" y="858"/>
                      <a:pt x="45" y="925"/>
                      <a:pt x="83" y="986"/>
                    </a:cubicBezTo>
                    <a:cubicBezTo>
                      <a:pt x="141" y="940"/>
                      <a:pt x="226" y="943"/>
                      <a:pt x="280" y="997"/>
                    </a:cubicBezTo>
                    <a:cubicBezTo>
                      <a:pt x="334" y="1051"/>
                      <a:pt x="338" y="1136"/>
                      <a:pt x="291" y="1194"/>
                    </a:cubicBezTo>
                    <a:cubicBezTo>
                      <a:pt x="352" y="1233"/>
                      <a:pt x="419" y="1261"/>
                      <a:pt x="491" y="1277"/>
                    </a:cubicBezTo>
                    <a:cubicBezTo>
                      <a:pt x="499" y="1203"/>
                      <a:pt x="562" y="1146"/>
                      <a:pt x="639" y="1146"/>
                    </a:cubicBezTo>
                    <a:cubicBezTo>
                      <a:pt x="715" y="1146"/>
                      <a:pt x="778" y="1203"/>
                      <a:pt x="786" y="1277"/>
                    </a:cubicBezTo>
                    <a:cubicBezTo>
                      <a:pt x="858" y="1261"/>
                      <a:pt x="925" y="1233"/>
                      <a:pt x="986" y="1194"/>
                    </a:cubicBezTo>
                    <a:cubicBezTo>
                      <a:pt x="940" y="1136"/>
                      <a:pt x="943" y="1051"/>
                      <a:pt x="997" y="997"/>
                    </a:cubicBezTo>
                    <a:cubicBezTo>
                      <a:pt x="1051" y="943"/>
                      <a:pt x="1136" y="940"/>
                      <a:pt x="1195" y="986"/>
                    </a:cubicBezTo>
                    <a:cubicBezTo>
                      <a:pt x="1233" y="925"/>
                      <a:pt x="1261" y="858"/>
                      <a:pt x="1278" y="786"/>
                    </a:cubicBezTo>
                    <a:cubicBezTo>
                      <a:pt x="1203" y="778"/>
                      <a:pt x="1146" y="715"/>
                      <a:pt x="1146" y="638"/>
                    </a:cubicBezTo>
                    <a:close/>
                  </a:path>
                </a:pathLst>
              </a:custGeom>
              <a:solidFill>
                <a:srgbClr val="00C27A"/>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C7735F13-17CA-47C1-B366-C08850532ED3}"/>
                  </a:ext>
                </a:extLst>
              </p:cNvPr>
              <p:cNvSpPr>
                <a:spLocks noChangeArrowheads="1"/>
              </p:cNvSpPr>
              <p:nvPr/>
            </p:nvSpPr>
            <p:spPr bwMode="auto">
              <a:xfrm>
                <a:off x="1308" y="1552"/>
                <a:ext cx="529" cy="529"/>
              </a:xfrm>
              <a:prstGeom prst="ellipse">
                <a:avLst/>
              </a:prstGeom>
              <a:solidFill>
                <a:schemeClr val="accent3"/>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Freeform 70">
                <a:extLst>
                  <a:ext uri="{FF2B5EF4-FFF2-40B4-BE49-F238E27FC236}">
                    <a16:creationId xmlns:a16="http://schemas.microsoft.com/office/drawing/2014/main" id="{FCE03229-3423-4663-ABEB-537678F1ADFC}"/>
                  </a:ext>
                </a:extLst>
              </p:cNvPr>
              <p:cNvSpPr>
                <a:spLocks/>
              </p:cNvSpPr>
              <p:nvPr/>
            </p:nvSpPr>
            <p:spPr bwMode="auto">
              <a:xfrm>
                <a:off x="2067" y="777"/>
                <a:ext cx="1119" cy="1074"/>
              </a:xfrm>
              <a:custGeom>
                <a:avLst/>
                <a:gdLst/>
                <a:ahLst/>
                <a:cxnLst>
                  <a:cxn ang="0">
                    <a:pos x="848" y="690"/>
                  </a:cxn>
                  <a:cxn ang="0">
                    <a:pos x="1032" y="626"/>
                  </a:cxn>
                  <a:cxn ang="0">
                    <a:pos x="1047" y="502"/>
                  </a:cxn>
                  <a:cxn ang="0">
                    <a:pos x="1032" y="378"/>
                  </a:cxn>
                  <a:cxn ang="0">
                    <a:pos x="848" y="315"/>
                  </a:cxn>
                  <a:cxn ang="0">
                    <a:pos x="885" y="124"/>
                  </a:cxn>
                  <a:cxn ang="0">
                    <a:pos x="670" y="0"/>
                  </a:cxn>
                  <a:cxn ang="0">
                    <a:pos x="523" y="127"/>
                  </a:cxn>
                  <a:cxn ang="0">
                    <a:pos x="376" y="0"/>
                  </a:cxn>
                  <a:cxn ang="0">
                    <a:pos x="162" y="124"/>
                  </a:cxn>
                  <a:cxn ang="0">
                    <a:pos x="199" y="315"/>
                  </a:cxn>
                  <a:cxn ang="0">
                    <a:pos x="15" y="378"/>
                  </a:cxn>
                  <a:cxn ang="0">
                    <a:pos x="0" y="502"/>
                  </a:cxn>
                  <a:cxn ang="0">
                    <a:pos x="15" y="626"/>
                  </a:cxn>
                  <a:cxn ang="0">
                    <a:pos x="199" y="690"/>
                  </a:cxn>
                  <a:cxn ang="0">
                    <a:pos x="162" y="880"/>
                  </a:cxn>
                  <a:cxn ang="0">
                    <a:pos x="376" y="1004"/>
                  </a:cxn>
                  <a:cxn ang="0">
                    <a:pos x="523" y="877"/>
                  </a:cxn>
                  <a:cxn ang="0">
                    <a:pos x="670" y="1004"/>
                  </a:cxn>
                  <a:cxn ang="0">
                    <a:pos x="885" y="880"/>
                  </a:cxn>
                  <a:cxn ang="0">
                    <a:pos x="848" y="690"/>
                  </a:cxn>
                </a:cxnLst>
                <a:rect l="0" t="0" r="r" b="b"/>
                <a:pathLst>
                  <a:path w="1047" h="1004">
                    <a:moveTo>
                      <a:pt x="848" y="690"/>
                    </a:moveTo>
                    <a:cubicBezTo>
                      <a:pt x="885" y="625"/>
                      <a:pt x="964" y="599"/>
                      <a:pt x="1032" y="626"/>
                    </a:cubicBezTo>
                    <a:cubicBezTo>
                      <a:pt x="1041" y="586"/>
                      <a:pt x="1047" y="545"/>
                      <a:pt x="1047" y="502"/>
                    </a:cubicBezTo>
                    <a:cubicBezTo>
                      <a:pt x="1047" y="459"/>
                      <a:pt x="1041" y="418"/>
                      <a:pt x="1032" y="378"/>
                    </a:cubicBezTo>
                    <a:cubicBezTo>
                      <a:pt x="964" y="405"/>
                      <a:pt x="885" y="379"/>
                      <a:pt x="848" y="315"/>
                    </a:cubicBezTo>
                    <a:cubicBezTo>
                      <a:pt x="811" y="250"/>
                      <a:pt x="828" y="169"/>
                      <a:pt x="885" y="124"/>
                    </a:cubicBezTo>
                    <a:cubicBezTo>
                      <a:pt x="825" y="67"/>
                      <a:pt x="752" y="23"/>
                      <a:pt x="670" y="0"/>
                    </a:cubicBezTo>
                    <a:cubicBezTo>
                      <a:pt x="660" y="72"/>
                      <a:pt x="598" y="127"/>
                      <a:pt x="523" y="127"/>
                    </a:cubicBezTo>
                    <a:cubicBezTo>
                      <a:pt x="448" y="127"/>
                      <a:pt x="387" y="72"/>
                      <a:pt x="376" y="0"/>
                    </a:cubicBezTo>
                    <a:cubicBezTo>
                      <a:pt x="295" y="23"/>
                      <a:pt x="222" y="67"/>
                      <a:pt x="162" y="124"/>
                    </a:cubicBezTo>
                    <a:cubicBezTo>
                      <a:pt x="219" y="169"/>
                      <a:pt x="236" y="250"/>
                      <a:pt x="199" y="315"/>
                    </a:cubicBezTo>
                    <a:cubicBezTo>
                      <a:pt x="161" y="379"/>
                      <a:pt x="82" y="405"/>
                      <a:pt x="15" y="378"/>
                    </a:cubicBezTo>
                    <a:cubicBezTo>
                      <a:pt x="5" y="418"/>
                      <a:pt x="0" y="459"/>
                      <a:pt x="0" y="502"/>
                    </a:cubicBezTo>
                    <a:cubicBezTo>
                      <a:pt x="0" y="545"/>
                      <a:pt x="5" y="586"/>
                      <a:pt x="15" y="626"/>
                    </a:cubicBezTo>
                    <a:cubicBezTo>
                      <a:pt x="82" y="599"/>
                      <a:pt x="161" y="625"/>
                      <a:pt x="199" y="690"/>
                    </a:cubicBezTo>
                    <a:cubicBezTo>
                      <a:pt x="236" y="754"/>
                      <a:pt x="219" y="836"/>
                      <a:pt x="162" y="880"/>
                    </a:cubicBezTo>
                    <a:cubicBezTo>
                      <a:pt x="222" y="938"/>
                      <a:pt x="295" y="981"/>
                      <a:pt x="376" y="1004"/>
                    </a:cubicBezTo>
                    <a:cubicBezTo>
                      <a:pt x="387" y="932"/>
                      <a:pt x="448" y="877"/>
                      <a:pt x="523" y="877"/>
                    </a:cubicBezTo>
                    <a:cubicBezTo>
                      <a:pt x="598" y="877"/>
                      <a:pt x="660" y="932"/>
                      <a:pt x="670" y="1004"/>
                    </a:cubicBezTo>
                    <a:cubicBezTo>
                      <a:pt x="752" y="981"/>
                      <a:pt x="825" y="938"/>
                      <a:pt x="885" y="880"/>
                    </a:cubicBezTo>
                    <a:cubicBezTo>
                      <a:pt x="828" y="836"/>
                      <a:pt x="811" y="754"/>
                      <a:pt x="848" y="690"/>
                    </a:cubicBezTo>
                    <a:close/>
                  </a:path>
                </a:pathLst>
              </a:custGeom>
              <a:solidFill>
                <a:schemeClr val="bg1"/>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87DAE89C-1F3D-451C-A9C2-56F079C4AE29}"/>
                  </a:ext>
                </a:extLst>
              </p:cNvPr>
              <p:cNvSpPr>
                <a:spLocks noChangeArrowheads="1"/>
              </p:cNvSpPr>
              <p:nvPr/>
            </p:nvSpPr>
            <p:spPr bwMode="auto">
              <a:xfrm>
                <a:off x="2465" y="1152"/>
                <a:ext cx="323" cy="323"/>
              </a:xfrm>
              <a:prstGeom prst="ellipse">
                <a:avLst/>
              </a:prstGeom>
              <a:solidFill>
                <a:schemeClr val="accent3"/>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29" name="Rectangle 28">
            <a:extLst>
              <a:ext uri="{FF2B5EF4-FFF2-40B4-BE49-F238E27FC236}">
                <a16:creationId xmlns:a16="http://schemas.microsoft.com/office/drawing/2014/main" id="{74F75097-27F8-470E-868D-9A6C9333CAC9}"/>
              </a:ext>
            </a:extLst>
          </p:cNvPr>
          <p:cNvSpPr/>
          <p:nvPr/>
        </p:nvSpPr>
        <p:spPr>
          <a:xfrm>
            <a:off x="0" y="700136"/>
            <a:ext cx="12192000" cy="641157"/>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Ins="3657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Client – CP company headquartered in the UK</a:t>
            </a:r>
          </a:p>
        </p:txBody>
      </p:sp>
    </p:spTree>
    <p:extLst>
      <p:ext uri="{BB962C8B-B14F-4D97-AF65-F5344CB8AC3E}">
        <p14:creationId xmlns:p14="http://schemas.microsoft.com/office/powerpoint/2010/main" val="1048595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58565-E995-4F48-8219-C44E02CA90AC}"/>
              </a:ext>
            </a:extLst>
          </p:cNvPr>
          <p:cNvSpPr>
            <a:spLocks noGrp="1"/>
          </p:cNvSpPr>
          <p:nvPr>
            <p:ph type="title"/>
          </p:nvPr>
        </p:nvSpPr>
        <p:spPr>
          <a:xfrm>
            <a:off x="0" y="50863"/>
            <a:ext cx="12056882" cy="949340"/>
          </a:xfrm>
        </p:spPr>
        <p:txBody>
          <a:bodyPr>
            <a:noAutofit/>
          </a:bodyPr>
          <a:lstStyle/>
          <a:p>
            <a:r>
              <a:rPr lang="en-US" sz="2800" b="1" dirty="0"/>
              <a:t>Case Study  – Supply Chain Procurement in Azure Data Lake </a:t>
            </a:r>
          </a:p>
        </p:txBody>
      </p:sp>
      <p:sp>
        <p:nvSpPr>
          <p:cNvPr id="3" name="Rectangle 2">
            <a:extLst>
              <a:ext uri="{FF2B5EF4-FFF2-40B4-BE49-F238E27FC236}">
                <a16:creationId xmlns:a16="http://schemas.microsoft.com/office/drawing/2014/main" id="{FE1DFE3E-F98A-464A-BA41-B3162FC01DCF}"/>
              </a:ext>
            </a:extLst>
          </p:cNvPr>
          <p:cNvSpPr/>
          <p:nvPr/>
        </p:nvSpPr>
        <p:spPr>
          <a:xfrm>
            <a:off x="135292" y="1572361"/>
            <a:ext cx="3735578" cy="4444517"/>
          </a:xfrm>
          <a:prstGeom prst="rect">
            <a:avLst/>
          </a:prstGeom>
          <a:gradFill>
            <a:gsLst>
              <a:gs pos="0">
                <a:srgbClr val="E6E7E7"/>
              </a:gs>
              <a:gs pos="100000">
                <a:sysClr val="window" lastClr="FFFFFF"/>
              </a:gs>
            </a:gsLst>
            <a:lin ang="54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lvl="1">
              <a:spcBef>
                <a:spcPts val="600"/>
              </a:spcBef>
              <a:buClr>
                <a:srgbClr val="ED7D31"/>
              </a:buClr>
              <a:buSzPct val="100000"/>
              <a:tabLst>
                <a:tab pos="6464138" algn="r"/>
              </a:tabLst>
            </a:pPr>
            <a:r>
              <a:rPr lang="en-US" sz="1200" dirty="0">
                <a:solidFill>
                  <a:prstClr val="black"/>
                </a:solidFill>
              </a:rPr>
              <a:t>Client is embarking to strengthen and expand its analytics platform by using data from the Teradata, SAP HANA &amp; Oracle MDM system to the Azure cloud system for processing and to have supply chain analytics/analysis in place for effective management decisions.</a:t>
            </a:r>
          </a:p>
          <a:p>
            <a:pPr marL="0" lvl="1">
              <a:spcBef>
                <a:spcPts val="600"/>
              </a:spcBef>
              <a:buClr>
                <a:srgbClr val="ED7D31"/>
              </a:buClr>
              <a:buSzPct val="100000"/>
              <a:tabLst>
                <a:tab pos="6464138" algn="r"/>
              </a:tabLst>
            </a:pPr>
            <a:r>
              <a:rPr lang="en-US" sz="1200" dirty="0">
                <a:solidFill>
                  <a:prstClr val="black"/>
                </a:solidFill>
              </a:rPr>
              <a:t>And a</a:t>
            </a:r>
            <a:r>
              <a:rPr lang="en-IN" sz="1200" dirty="0">
                <a:solidFill>
                  <a:prstClr val="black"/>
                </a:solidFill>
              </a:rPr>
              <a:t>s the growth of data both internal and external grows exponentially, the traditional methods of storing vast volumes of data in a database or data warehouse are no longer sustainable or cost effective</a:t>
            </a:r>
            <a:endParaRPr lang="en-US" sz="1200" dirty="0">
              <a:solidFill>
                <a:prstClr val="black"/>
              </a:solidFill>
            </a:endParaRPr>
          </a:p>
          <a:p>
            <a:pPr marL="171450" lvl="1" indent="-171450">
              <a:spcBef>
                <a:spcPts val="600"/>
              </a:spcBef>
              <a:buClr>
                <a:srgbClr val="ED7D31"/>
              </a:buClr>
              <a:buSzPct val="100000"/>
              <a:buFont typeface="Wingdings" panose="05000000000000000000" pitchFamily="2" charset="2"/>
              <a:buChar char="§"/>
              <a:tabLst>
                <a:tab pos="6464138" algn="r"/>
              </a:tabLst>
            </a:pPr>
            <a:r>
              <a:rPr lang="en-US" sz="1200" dirty="0">
                <a:solidFill>
                  <a:prstClr val="black"/>
                </a:solidFill>
              </a:rPr>
              <a:t>Client high level scope of work includes:</a:t>
            </a:r>
          </a:p>
          <a:p>
            <a:pPr marL="400050" lvl="1" indent="-169863">
              <a:spcBef>
                <a:spcPts val="600"/>
              </a:spcBef>
              <a:buClr>
                <a:srgbClr val="ED7D31"/>
              </a:buClr>
              <a:buSzPct val="100000"/>
              <a:buFont typeface="Wingdings" panose="05000000000000000000" pitchFamily="2" charset="2"/>
              <a:buChar char="ü"/>
              <a:tabLst>
                <a:tab pos="6464138" algn="r"/>
              </a:tabLst>
            </a:pPr>
            <a:r>
              <a:rPr lang="en-US" sz="1200" dirty="0">
                <a:solidFill>
                  <a:prstClr val="black"/>
                </a:solidFill>
              </a:rPr>
              <a:t>Ingest Historical data (~5 years) from Teradata / </a:t>
            </a:r>
            <a:r>
              <a:rPr lang="en-US" sz="1200">
                <a:solidFill>
                  <a:prstClr val="black"/>
                </a:solidFill>
              </a:rPr>
              <a:t>SAP /oracle </a:t>
            </a:r>
            <a:r>
              <a:rPr lang="en-US" sz="1200" dirty="0">
                <a:solidFill>
                  <a:prstClr val="black"/>
                </a:solidFill>
              </a:rPr>
              <a:t>MDM to Azure cloud (UDL)</a:t>
            </a:r>
          </a:p>
          <a:p>
            <a:pPr marL="400050" lvl="1" indent="-169863">
              <a:spcBef>
                <a:spcPts val="600"/>
              </a:spcBef>
              <a:buClr>
                <a:srgbClr val="ED7D31"/>
              </a:buClr>
              <a:buSzPct val="100000"/>
              <a:buFont typeface="Wingdings" panose="05000000000000000000" pitchFamily="2" charset="2"/>
              <a:buChar char="ü"/>
              <a:tabLst>
                <a:tab pos="6464138" algn="r"/>
              </a:tabLst>
            </a:pPr>
            <a:r>
              <a:rPr lang="en-US" sz="1200" dirty="0">
                <a:solidFill>
                  <a:prstClr val="black"/>
                </a:solidFill>
              </a:rPr>
              <a:t>Transform the source data into BDL (Biz data lake) using the Azure Data Bricks </a:t>
            </a:r>
          </a:p>
          <a:p>
            <a:pPr marL="400050" lvl="1" indent="-169863">
              <a:spcBef>
                <a:spcPts val="600"/>
              </a:spcBef>
              <a:buClr>
                <a:srgbClr val="ED7D31"/>
              </a:buClr>
              <a:buSzPct val="100000"/>
              <a:buFont typeface="Wingdings" panose="05000000000000000000" pitchFamily="2" charset="2"/>
              <a:buChar char="ü"/>
              <a:tabLst>
                <a:tab pos="6464138" algn="r"/>
              </a:tabLst>
            </a:pPr>
            <a:r>
              <a:rPr lang="en-US" sz="1200" dirty="0">
                <a:solidFill>
                  <a:prstClr val="black"/>
                </a:solidFill>
              </a:rPr>
              <a:t>Test all modules in scope (functional and non-functional)</a:t>
            </a:r>
          </a:p>
          <a:p>
            <a:pPr marL="400050" lvl="1" indent="-169863">
              <a:spcBef>
                <a:spcPts val="600"/>
              </a:spcBef>
              <a:buClr>
                <a:srgbClr val="ED7D31"/>
              </a:buClr>
              <a:buSzPct val="100000"/>
              <a:buFont typeface="Wingdings" panose="05000000000000000000" pitchFamily="2" charset="2"/>
              <a:buChar char="ü"/>
              <a:tabLst>
                <a:tab pos="6464138" algn="r"/>
              </a:tabLst>
            </a:pPr>
            <a:r>
              <a:rPr lang="en-US" sz="1200" dirty="0">
                <a:solidFill>
                  <a:prstClr val="black"/>
                </a:solidFill>
              </a:rPr>
              <a:t>Adopt CI/CD modules</a:t>
            </a:r>
          </a:p>
          <a:p>
            <a:pPr marL="400050" lvl="1" indent="-169863">
              <a:spcBef>
                <a:spcPts val="600"/>
              </a:spcBef>
              <a:buClr>
                <a:srgbClr val="ED7D31"/>
              </a:buClr>
              <a:buSzPct val="100000"/>
              <a:buFont typeface="Wingdings" panose="05000000000000000000" pitchFamily="2" charset="2"/>
              <a:buChar char="ü"/>
              <a:tabLst>
                <a:tab pos="6464138" algn="r"/>
              </a:tabLst>
            </a:pPr>
            <a:r>
              <a:rPr lang="en-US" sz="1200" dirty="0">
                <a:solidFill>
                  <a:prstClr val="black"/>
                </a:solidFill>
              </a:rPr>
              <a:t>Ensure high availability and disaster recovery</a:t>
            </a:r>
          </a:p>
          <a:p>
            <a:pPr marL="400050" lvl="1" indent="-169863">
              <a:spcBef>
                <a:spcPts val="600"/>
              </a:spcBef>
              <a:buClr>
                <a:srgbClr val="ED7D31"/>
              </a:buClr>
              <a:buSzPct val="100000"/>
              <a:buFont typeface="Wingdings" panose="05000000000000000000" pitchFamily="2" charset="2"/>
              <a:buChar char="ü"/>
              <a:tabLst>
                <a:tab pos="6464138" algn="r"/>
              </a:tabLst>
            </a:pPr>
            <a:r>
              <a:rPr lang="en-US" sz="1200" dirty="0">
                <a:solidFill>
                  <a:prstClr val="black"/>
                </a:solidFill>
              </a:rPr>
              <a:t>Re-develop current Tableau reports in Power BI</a:t>
            </a:r>
          </a:p>
        </p:txBody>
      </p:sp>
      <p:sp>
        <p:nvSpPr>
          <p:cNvPr id="4" name="Rectangle 3">
            <a:extLst>
              <a:ext uri="{FF2B5EF4-FFF2-40B4-BE49-F238E27FC236}">
                <a16:creationId xmlns:a16="http://schemas.microsoft.com/office/drawing/2014/main" id="{3A53141C-6FE8-4A48-9271-331260D9CEFB}"/>
              </a:ext>
            </a:extLst>
          </p:cNvPr>
          <p:cNvSpPr>
            <a:spLocks/>
          </p:cNvSpPr>
          <p:nvPr/>
        </p:nvSpPr>
        <p:spPr>
          <a:xfrm>
            <a:off x="4199717" y="1600936"/>
            <a:ext cx="3696346" cy="3965779"/>
          </a:xfrm>
          <a:prstGeom prst="rect">
            <a:avLst/>
          </a:prstGeom>
          <a:gradFill>
            <a:gsLst>
              <a:gs pos="0">
                <a:srgbClr val="E6E7E7"/>
              </a:gs>
              <a:gs pos="100000">
                <a:sysClr val="window" lastClr="FFFFFF"/>
              </a:gs>
            </a:gsLst>
            <a:lin ang="54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171450" lvl="2" indent="-171450" fontAlgn="base">
              <a:spcBef>
                <a:spcPts val="600"/>
              </a:spcBef>
              <a:buClr>
                <a:srgbClr val="ED7D31"/>
              </a:buClr>
              <a:buFont typeface="Wingdings" panose="05000000000000000000" pitchFamily="2" charset="2"/>
              <a:buChar char="§"/>
              <a:defRPr/>
            </a:pPr>
            <a:r>
              <a:rPr lang="en-US" sz="1200" dirty="0">
                <a:solidFill>
                  <a:prstClr val="black"/>
                </a:solidFill>
              </a:rPr>
              <a:t>The technology choices were vetted by Capgemini by assessing decision basis and technology vetting to help identify any risks, challenges to help determine the best fit for the Client’s end solution</a:t>
            </a:r>
          </a:p>
          <a:p>
            <a:pPr marL="171450" lvl="2" indent="-171450" fontAlgn="base">
              <a:spcBef>
                <a:spcPts val="600"/>
              </a:spcBef>
              <a:buClr>
                <a:srgbClr val="ED7D31"/>
              </a:buClr>
              <a:buFont typeface="Wingdings" panose="05000000000000000000" pitchFamily="2" charset="2"/>
              <a:buChar char="§"/>
              <a:defRPr/>
            </a:pPr>
            <a:r>
              <a:rPr lang="en-US" sz="1200" dirty="0">
                <a:solidFill>
                  <a:prstClr val="black"/>
                </a:solidFill>
              </a:rPr>
              <a:t>Capgemini presented most cloud native and strategic option that best fitted Client’s requirements and budget.</a:t>
            </a:r>
          </a:p>
          <a:p>
            <a:pPr marL="171450" lvl="2" indent="-171450" fontAlgn="base">
              <a:spcBef>
                <a:spcPts val="600"/>
              </a:spcBef>
              <a:buClr>
                <a:srgbClr val="ED7D31"/>
              </a:buClr>
              <a:buFont typeface="Wingdings" panose="05000000000000000000" pitchFamily="2" charset="2"/>
              <a:buChar char="§"/>
              <a:defRPr/>
            </a:pPr>
            <a:r>
              <a:rPr lang="en-US" sz="1200" dirty="0">
                <a:solidFill>
                  <a:prstClr val="black"/>
                </a:solidFill>
              </a:rPr>
              <a:t>Our solution easily integrates with existing DevOps framework of client.</a:t>
            </a:r>
          </a:p>
          <a:p>
            <a:pPr marL="171450" lvl="2" indent="-171450" fontAlgn="base">
              <a:spcBef>
                <a:spcPts val="600"/>
              </a:spcBef>
              <a:buClr>
                <a:srgbClr val="ED7D31"/>
              </a:buClr>
              <a:buFont typeface="Wingdings" panose="05000000000000000000" pitchFamily="2" charset="2"/>
              <a:buChar char="§"/>
              <a:defRPr/>
            </a:pPr>
            <a:r>
              <a:rPr lang="en-IN" sz="1200" dirty="0">
                <a:solidFill>
                  <a:prstClr val="black"/>
                </a:solidFill>
              </a:rPr>
              <a:t>Sprint Phased approach with minimal disruption, Testing &amp; Validation centricity and Agility in Execution</a:t>
            </a:r>
            <a:endParaRPr lang="en-US" sz="1200" strike="sngStrike" dirty="0">
              <a:solidFill>
                <a:prstClr val="black"/>
              </a:solidFill>
            </a:endParaRPr>
          </a:p>
          <a:p>
            <a:pPr marL="171450" lvl="2" indent="-171450" fontAlgn="base">
              <a:spcBef>
                <a:spcPts val="600"/>
              </a:spcBef>
              <a:buClr>
                <a:srgbClr val="ED7D31"/>
              </a:buClr>
              <a:buFont typeface="Wingdings" panose="05000000000000000000" pitchFamily="2" charset="2"/>
              <a:buChar char="§"/>
              <a:defRPr/>
            </a:pPr>
            <a:r>
              <a:rPr lang="en-US" sz="1200" dirty="0">
                <a:solidFill>
                  <a:prstClr val="black"/>
                </a:solidFill>
              </a:rPr>
              <a:t>Capgemini recommended  Azure Data Bricks/Spark based solution with Audit Balance Control and Scheduling approach</a:t>
            </a:r>
          </a:p>
          <a:p>
            <a:pPr marL="171450" lvl="2" indent="-171450" fontAlgn="base">
              <a:spcBef>
                <a:spcPts val="600"/>
              </a:spcBef>
              <a:buClr>
                <a:srgbClr val="ED7D31"/>
              </a:buClr>
              <a:buFont typeface="Wingdings" panose="05000000000000000000" pitchFamily="2" charset="2"/>
              <a:buChar char="§"/>
              <a:defRPr/>
            </a:pPr>
            <a:r>
              <a:rPr lang="en-US" sz="1200" dirty="0">
                <a:solidFill>
                  <a:prstClr val="black"/>
                </a:solidFill>
              </a:rPr>
              <a:t>High level flow is: </a:t>
            </a:r>
          </a:p>
          <a:p>
            <a:pPr lvl="1" defTabSz="914342">
              <a:defRPr/>
            </a:pPr>
            <a:r>
              <a:rPr lang="en-US" sz="1050" dirty="0"/>
              <a:t>SAP</a:t>
            </a:r>
            <a:r>
              <a:rPr lang="en-US" sz="1050" dirty="0">
                <a:solidFill>
                  <a:schemeClr val="tx1"/>
                </a:solidFill>
              </a:rPr>
              <a:t> Raw source </a:t>
            </a:r>
            <a:r>
              <a:rPr lang="en-US" sz="1050" dirty="0">
                <a:solidFill>
                  <a:schemeClr val="tx1"/>
                </a:solidFill>
                <a:sym typeface="Wingdings" panose="05000000000000000000" pitchFamily="2" charset="2"/>
              </a:rPr>
              <a:t>Universal Data Lake Store</a:t>
            </a:r>
            <a:r>
              <a:rPr lang="en-US" sz="1050" dirty="0">
                <a:solidFill>
                  <a:schemeClr val="tx1"/>
                </a:solidFill>
              </a:rPr>
              <a:t>  (On ADLS)</a:t>
            </a:r>
            <a:r>
              <a:rPr lang="en-US" sz="1050" dirty="0">
                <a:solidFill>
                  <a:schemeClr val="tx1"/>
                </a:solidFill>
                <a:sym typeface="Wingdings" panose="05000000000000000000" pitchFamily="2" charset="2"/>
              </a:rPr>
              <a:t></a:t>
            </a:r>
            <a:r>
              <a:rPr lang="en-US" sz="1050" dirty="0">
                <a:solidFill>
                  <a:schemeClr val="tx1"/>
                </a:solidFill>
              </a:rPr>
              <a:t>    Business Data Lake Store (on ADLS) </a:t>
            </a:r>
            <a:r>
              <a:rPr lang="en-US" sz="1050" dirty="0">
                <a:solidFill>
                  <a:schemeClr val="tx1"/>
                </a:solidFill>
                <a:sym typeface="Wingdings" panose="05000000000000000000" pitchFamily="2" charset="2"/>
              </a:rPr>
              <a:t></a:t>
            </a:r>
            <a:r>
              <a:rPr lang="en-US" sz="1050" dirty="0">
                <a:solidFill>
                  <a:schemeClr val="tx1"/>
                </a:solidFill>
              </a:rPr>
              <a:t> Product data Store  (On Azure SQL DW) </a:t>
            </a:r>
            <a:r>
              <a:rPr lang="en-US" sz="1050" dirty="0">
                <a:solidFill>
                  <a:schemeClr val="tx1"/>
                </a:solidFill>
                <a:sym typeface="Wingdings" panose="05000000000000000000" pitchFamily="2" charset="2"/>
              </a:rPr>
              <a:t> Azure Analysis services</a:t>
            </a:r>
            <a:r>
              <a:rPr lang="en-US" sz="1050" dirty="0">
                <a:solidFill>
                  <a:schemeClr val="tx1"/>
                </a:solidFill>
              </a:rPr>
              <a:t> </a:t>
            </a:r>
            <a:r>
              <a:rPr lang="en-US" sz="1050" dirty="0">
                <a:solidFill>
                  <a:schemeClr val="tx1"/>
                </a:solidFill>
                <a:sym typeface="Wingdings" panose="05000000000000000000" pitchFamily="2" charset="2"/>
              </a:rPr>
              <a:t>Power BI Visualization</a:t>
            </a:r>
            <a:endParaRPr lang="en-US" sz="1050" dirty="0">
              <a:solidFill>
                <a:schemeClr val="tx1"/>
              </a:solidFill>
            </a:endParaRPr>
          </a:p>
          <a:p>
            <a:pPr marL="171450" lvl="2" indent="-171450" fontAlgn="base">
              <a:spcBef>
                <a:spcPts val="600"/>
              </a:spcBef>
              <a:buClr>
                <a:srgbClr val="ED7D31"/>
              </a:buClr>
              <a:buFont typeface="Wingdings" panose="05000000000000000000" pitchFamily="2" charset="2"/>
              <a:buChar char="§"/>
              <a:defRPr/>
            </a:pPr>
            <a:endParaRPr lang="en-US" sz="1100" dirty="0">
              <a:solidFill>
                <a:prstClr val="black"/>
              </a:solidFill>
            </a:endParaRPr>
          </a:p>
          <a:p>
            <a:pPr marL="171450" lvl="2" indent="-171450" fontAlgn="base">
              <a:spcBef>
                <a:spcPts val="600"/>
              </a:spcBef>
              <a:buClr>
                <a:srgbClr val="ED7D31"/>
              </a:buClr>
              <a:buFont typeface="Wingdings" panose="05000000000000000000" pitchFamily="2" charset="2"/>
              <a:buChar char="§"/>
              <a:defRPr/>
            </a:pPr>
            <a:endParaRPr lang="en-US" altLang="zh-CN" sz="1100" dirty="0">
              <a:solidFill>
                <a:prstClr val="black"/>
              </a:solidFill>
            </a:endParaRPr>
          </a:p>
        </p:txBody>
      </p:sp>
      <p:sp>
        <p:nvSpPr>
          <p:cNvPr id="5" name="Rectangle 4">
            <a:extLst>
              <a:ext uri="{FF2B5EF4-FFF2-40B4-BE49-F238E27FC236}">
                <a16:creationId xmlns:a16="http://schemas.microsoft.com/office/drawing/2014/main" id="{ED236FE0-CE08-4783-91D1-F223B80C6BB8}"/>
              </a:ext>
            </a:extLst>
          </p:cNvPr>
          <p:cNvSpPr>
            <a:spLocks/>
          </p:cNvSpPr>
          <p:nvPr/>
        </p:nvSpPr>
        <p:spPr>
          <a:xfrm>
            <a:off x="8183649" y="1622633"/>
            <a:ext cx="3681882" cy="4394246"/>
          </a:xfrm>
          <a:prstGeom prst="rect">
            <a:avLst/>
          </a:prstGeom>
          <a:gradFill>
            <a:gsLst>
              <a:gs pos="0">
                <a:srgbClr val="E6E7E7"/>
              </a:gs>
              <a:gs pos="100000">
                <a:sysClr val="window" lastClr="FFFFFF"/>
              </a:gs>
            </a:gsLst>
            <a:lin ang="54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171450" lvl="1" indent="-171450" fontAlgn="base">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r>
              <a:rPr lang="en-US" sz="1200" dirty="0">
                <a:solidFill>
                  <a:prstClr val="black"/>
                </a:solidFill>
              </a:rPr>
              <a:t>Enterprise Analytics platform, which will help enable:</a:t>
            </a:r>
          </a:p>
          <a:p>
            <a:pPr marL="400050" indent="-169863" defTabSz="914342">
              <a:spcAft>
                <a:spcPts val="600"/>
              </a:spcAft>
              <a:buClr>
                <a:srgbClr val="ED7D31"/>
              </a:buClr>
              <a:buFont typeface="Wingdings" panose="05000000000000000000" pitchFamily="2" charset="2"/>
              <a:buChar char="ü"/>
              <a:defRPr/>
            </a:pPr>
            <a:r>
              <a:rPr lang="en-US" sz="1200" dirty="0">
                <a:solidFill>
                  <a:prstClr val="black"/>
                </a:solidFill>
              </a:rPr>
              <a:t>Elastic compute and storage for cost control</a:t>
            </a:r>
          </a:p>
          <a:p>
            <a:pPr marL="400050" indent="-169863" defTabSz="914342">
              <a:spcAft>
                <a:spcPts val="600"/>
              </a:spcAft>
              <a:buClr>
                <a:srgbClr val="ED7D31"/>
              </a:buClr>
              <a:buFont typeface="Wingdings" panose="05000000000000000000" pitchFamily="2" charset="2"/>
              <a:buChar char="ü"/>
              <a:defRPr/>
            </a:pPr>
            <a:r>
              <a:rPr lang="en-US" sz="1200" dirty="0">
                <a:solidFill>
                  <a:prstClr val="black"/>
                </a:solidFill>
              </a:rPr>
              <a:t>Flexibility for newer analytics</a:t>
            </a:r>
          </a:p>
          <a:p>
            <a:pPr marL="400050" indent="-169863" defTabSz="914342">
              <a:spcAft>
                <a:spcPts val="600"/>
              </a:spcAft>
              <a:buClr>
                <a:srgbClr val="ED7D31"/>
              </a:buClr>
              <a:buFont typeface="Wingdings" panose="05000000000000000000" pitchFamily="2" charset="2"/>
              <a:buChar char="ü"/>
              <a:defRPr/>
            </a:pPr>
            <a:r>
              <a:rPr lang="en-US" sz="1200" dirty="0">
                <a:solidFill>
                  <a:prstClr val="black"/>
                </a:solidFill>
              </a:rPr>
              <a:t>Better scalability for data growth and processing</a:t>
            </a:r>
          </a:p>
          <a:p>
            <a:pPr marL="400050" indent="-169863" defTabSz="914342">
              <a:spcAft>
                <a:spcPts val="600"/>
              </a:spcAft>
              <a:buClr>
                <a:srgbClr val="ED7D31"/>
              </a:buClr>
              <a:buFont typeface="Wingdings" panose="05000000000000000000" pitchFamily="2" charset="2"/>
              <a:buChar char="ü"/>
              <a:defRPr/>
            </a:pPr>
            <a:r>
              <a:rPr lang="en-US" sz="1200" dirty="0">
                <a:solidFill>
                  <a:prstClr val="black"/>
                </a:solidFill>
              </a:rPr>
              <a:t>Self service BI (cube connected to MS excel)</a:t>
            </a:r>
          </a:p>
          <a:p>
            <a:pPr marL="171450" lvl="1" indent="-171450" fontAlgn="base">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r>
              <a:rPr lang="en-US" sz="1200" dirty="0">
                <a:solidFill>
                  <a:prstClr val="black"/>
                </a:solidFill>
              </a:rPr>
              <a:t>Use of Agile methodology along with DevOps framework for client</a:t>
            </a:r>
          </a:p>
          <a:p>
            <a:pPr marL="171450" lvl="1" indent="-171450" fontAlgn="base">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r>
              <a:rPr lang="en-US" sz="1200" dirty="0">
                <a:solidFill>
                  <a:prstClr val="black"/>
                </a:solidFill>
              </a:rPr>
              <a:t>Leveraging our technology, domain expertise from CoE for successful engagement </a:t>
            </a:r>
          </a:p>
          <a:p>
            <a:pPr marL="171450" lvl="1" indent="-171450" fontAlgn="base">
              <a:lnSpc>
                <a:spcPct val="105000"/>
              </a:lnSpc>
              <a:spcBef>
                <a:spcPts val="400"/>
              </a:spcBef>
              <a:spcAft>
                <a:spcPts val="200"/>
              </a:spcAft>
              <a:buClr>
                <a:srgbClr val="ED7D31"/>
              </a:buClr>
              <a:buSzPct val="100000"/>
              <a:buFont typeface="Wingdings" panose="05000000000000000000" pitchFamily="2" charset="2"/>
              <a:buChar char="§"/>
              <a:tabLst>
                <a:tab pos="6464138" algn="r"/>
              </a:tabLst>
              <a:defRPr/>
            </a:pPr>
            <a:r>
              <a:rPr lang="en-US" sz="1200" dirty="0">
                <a:solidFill>
                  <a:prstClr val="black"/>
                </a:solidFill>
              </a:rPr>
              <a:t>End-to-End layered and configurable testing framework which manages data reconciliation and automated data validation</a:t>
            </a:r>
          </a:p>
          <a:p>
            <a:pPr marL="171450" indent="-171450">
              <a:lnSpc>
                <a:spcPts val="1200"/>
              </a:lnSpc>
              <a:spcAft>
                <a:spcPts val="300"/>
              </a:spcAft>
              <a:buClr>
                <a:srgbClr val="FF7E83"/>
              </a:buClr>
              <a:buFont typeface="Wingdings" panose="05000000000000000000" pitchFamily="2" charset="2"/>
              <a:buChar char="§"/>
            </a:pPr>
            <a:r>
              <a:rPr lang="en-US" sz="1200" dirty="0">
                <a:solidFill>
                  <a:prstClr val="black"/>
                </a:solidFill>
              </a:rPr>
              <a:t>Reusable components and scripts are developed for future environment for Statistical model building.</a:t>
            </a:r>
          </a:p>
          <a:p>
            <a:pPr marL="171450" indent="-171450">
              <a:lnSpc>
                <a:spcPts val="1200"/>
              </a:lnSpc>
              <a:spcAft>
                <a:spcPts val="300"/>
              </a:spcAft>
              <a:buClr>
                <a:srgbClr val="FF7E83"/>
              </a:buClr>
              <a:buFont typeface="Wingdings" panose="05000000000000000000" pitchFamily="2" charset="2"/>
              <a:buChar char="§"/>
            </a:pPr>
            <a:r>
              <a:rPr lang="en-US" sz="1200" dirty="0">
                <a:solidFill>
                  <a:prstClr val="black"/>
                </a:solidFill>
              </a:rPr>
              <a:t>30% performance improvement through scalable Azure based Architecture.</a:t>
            </a:r>
          </a:p>
          <a:p>
            <a:pPr marL="171450" indent="-171450">
              <a:lnSpc>
                <a:spcPts val="1200"/>
              </a:lnSpc>
              <a:spcAft>
                <a:spcPts val="300"/>
              </a:spcAft>
              <a:buClr>
                <a:srgbClr val="FF7E83"/>
              </a:buClr>
              <a:buFont typeface="Wingdings" panose="05000000000000000000" pitchFamily="2" charset="2"/>
              <a:buChar char="§"/>
            </a:pPr>
            <a:r>
              <a:rPr lang="en-US" sz="1200" dirty="0">
                <a:solidFill>
                  <a:prstClr val="black"/>
                </a:solidFill>
              </a:rPr>
              <a:t>35% on manual effort reduction through automation.</a:t>
            </a:r>
          </a:p>
          <a:p>
            <a:pPr marL="171450" indent="-171450">
              <a:lnSpc>
                <a:spcPts val="1200"/>
              </a:lnSpc>
              <a:spcAft>
                <a:spcPts val="300"/>
              </a:spcAft>
              <a:buClr>
                <a:srgbClr val="FF7E83"/>
              </a:buClr>
              <a:buFont typeface="Wingdings" panose="05000000000000000000" pitchFamily="2" charset="2"/>
              <a:buChar char="§"/>
            </a:pPr>
            <a:r>
              <a:rPr lang="en-US" sz="1200" dirty="0">
                <a:solidFill>
                  <a:prstClr val="black"/>
                </a:solidFill>
              </a:rPr>
              <a:t>50% Infrastructure cost reduction through Cloud based Azure Architecture.</a:t>
            </a:r>
          </a:p>
        </p:txBody>
      </p:sp>
      <p:grpSp>
        <p:nvGrpSpPr>
          <p:cNvPr id="6" name="Group 5">
            <a:extLst>
              <a:ext uri="{FF2B5EF4-FFF2-40B4-BE49-F238E27FC236}">
                <a16:creationId xmlns:a16="http://schemas.microsoft.com/office/drawing/2014/main" id="{05645C00-63EC-4B07-BD15-C0BD9897D4C9}"/>
              </a:ext>
            </a:extLst>
          </p:cNvPr>
          <p:cNvGrpSpPr/>
          <p:nvPr/>
        </p:nvGrpSpPr>
        <p:grpSpPr>
          <a:xfrm>
            <a:off x="8183649" y="958766"/>
            <a:ext cx="3408980" cy="673392"/>
            <a:chOff x="7483175" y="1647487"/>
            <a:chExt cx="3408980" cy="673392"/>
          </a:xfrm>
        </p:grpSpPr>
        <p:sp>
          <p:nvSpPr>
            <p:cNvPr id="7" name="Rounded Rectangle 12">
              <a:extLst>
                <a:ext uri="{FF2B5EF4-FFF2-40B4-BE49-F238E27FC236}">
                  <a16:creationId xmlns:a16="http://schemas.microsoft.com/office/drawing/2014/main" id="{D3614D2E-0B19-4B8B-95FB-ADA2FF04162F}"/>
                </a:ext>
              </a:extLst>
            </p:cNvPr>
            <p:cNvSpPr/>
            <p:nvPr/>
          </p:nvSpPr>
          <p:spPr>
            <a:xfrm>
              <a:off x="7672161" y="1776788"/>
              <a:ext cx="3219994" cy="315634"/>
            </a:xfrm>
            <a:prstGeom prst="roundRect">
              <a:avLst>
                <a:gd name="adj" fmla="val 50000"/>
              </a:avLst>
            </a:prstGeom>
            <a:solidFill>
              <a:schemeClr val="bg1"/>
            </a:solidFill>
            <a:ln>
              <a:solidFill>
                <a:schemeClr val="accent2"/>
              </a:solidFill>
            </a:ln>
            <a:effectLst/>
          </p:spPr>
          <p:style>
            <a:lnRef idx="1">
              <a:schemeClr val="dk1"/>
            </a:lnRef>
            <a:fillRef idx="3">
              <a:schemeClr val="dk1"/>
            </a:fillRef>
            <a:effectRef idx="2">
              <a:schemeClr val="dk1"/>
            </a:effectRef>
            <a:fontRef idx="minor">
              <a:schemeClr val="lt1"/>
            </a:fontRef>
          </p:style>
          <p:txBody>
            <a:bodyPr wrap="square" lIns="609600" tIns="0" rIns="45812" bIns="0" rtlCol="0" anchor="ctr"/>
            <a:lstStyle/>
            <a:p>
              <a:pPr defTabSz="1163600"/>
              <a:r>
                <a:rPr lang="en-GB" sz="1600" b="1" kern="0" dirty="0">
                  <a:solidFill>
                    <a:srgbClr val="ED7D31"/>
                  </a:solidFill>
                  <a:cs typeface="Arial"/>
                </a:rPr>
                <a:t>Client Benefits</a:t>
              </a:r>
            </a:p>
          </p:txBody>
        </p:sp>
        <p:sp>
          <p:nvSpPr>
            <p:cNvPr id="8" name="Oval 20">
              <a:extLst>
                <a:ext uri="{FF2B5EF4-FFF2-40B4-BE49-F238E27FC236}">
                  <a16:creationId xmlns:a16="http://schemas.microsoft.com/office/drawing/2014/main" id="{3F3E45AE-B137-4715-B457-9400AF269C4B}"/>
                </a:ext>
              </a:extLst>
            </p:cNvPr>
            <p:cNvSpPr/>
            <p:nvPr/>
          </p:nvSpPr>
          <p:spPr>
            <a:xfrm>
              <a:off x="7483175" y="1647487"/>
              <a:ext cx="712710" cy="673392"/>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accent2"/>
            </a:solidFill>
            <a:ln w="19050" cap="flat" cmpd="sng" algn="ctr">
              <a:solidFill>
                <a:schemeClr val="accent2"/>
              </a:solidFill>
              <a:prstDash val="solid"/>
              <a:miter lim="800000"/>
            </a:ln>
            <a:effectLst/>
          </p:spPr>
          <p:txBody>
            <a:bodyPr rtlCol="0" anchor="ctr"/>
            <a:lstStyle/>
            <a:p>
              <a:pPr algn="ctr" defTabSz="1219170">
                <a:defRPr/>
              </a:pPr>
              <a:endParaRPr lang="pt-PT" sz="2400" kern="0">
                <a:solidFill>
                  <a:prstClr val="white"/>
                </a:solidFill>
                <a:latin typeface="Verdana"/>
              </a:endParaRPr>
            </a:p>
          </p:txBody>
        </p:sp>
        <p:sp>
          <p:nvSpPr>
            <p:cNvPr id="9" name="Freeform 50">
              <a:extLst>
                <a:ext uri="{FF2B5EF4-FFF2-40B4-BE49-F238E27FC236}">
                  <a16:creationId xmlns:a16="http://schemas.microsoft.com/office/drawing/2014/main" id="{7C5FC1E2-FC3A-4F94-866B-3DE07948D5DB}"/>
                </a:ext>
              </a:extLst>
            </p:cNvPr>
            <p:cNvSpPr/>
            <p:nvPr/>
          </p:nvSpPr>
          <p:spPr>
            <a:xfrm>
              <a:off x="7672361" y="1817981"/>
              <a:ext cx="334341" cy="332407"/>
            </a:xfrm>
            <a:custGeom>
              <a:avLst/>
              <a:gdLst>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57907 h 636953"/>
                <a:gd name="connsiteX1" fmla="*/ 230554 w 762000"/>
                <a:gd name="connsiteY1" fmla="*/ 437661 h 636953"/>
                <a:gd name="connsiteX2" fmla="*/ 664308 w 762000"/>
                <a:gd name="connsiteY2" fmla="*/ 0 h 636953"/>
                <a:gd name="connsiteX3" fmla="*/ 762000 w 762000"/>
                <a:gd name="connsiteY3" fmla="*/ 148492 h 636953"/>
                <a:gd name="connsiteX4" fmla="*/ 250092 w 762000"/>
                <a:gd name="connsiteY4" fmla="*/ 636953 h 636953"/>
                <a:gd name="connsiteX5" fmla="*/ 0 w 762000"/>
                <a:gd name="connsiteY5" fmla="*/ 457200 h 636953"/>
                <a:gd name="connsiteX6" fmla="*/ 85969 w 762000"/>
                <a:gd name="connsiteY6" fmla="*/ 257907 h 636953"/>
                <a:gd name="connsiteX0" fmla="*/ 85969 w 762000"/>
                <a:gd name="connsiteY0" fmla="*/ 265723 h 644769"/>
                <a:gd name="connsiteX1" fmla="*/ 230554 w 762000"/>
                <a:gd name="connsiteY1" fmla="*/ 445477 h 644769"/>
                <a:gd name="connsiteX2" fmla="*/ 707292 w 762000"/>
                <a:gd name="connsiteY2" fmla="*/ 0 h 644769"/>
                <a:gd name="connsiteX3" fmla="*/ 762000 w 762000"/>
                <a:gd name="connsiteY3" fmla="*/ 156308 h 644769"/>
                <a:gd name="connsiteX4" fmla="*/ 250092 w 762000"/>
                <a:gd name="connsiteY4" fmla="*/ 644769 h 644769"/>
                <a:gd name="connsiteX5" fmla="*/ 0 w 762000"/>
                <a:gd name="connsiteY5" fmla="*/ 465016 h 644769"/>
                <a:gd name="connsiteX6" fmla="*/ 85969 w 762000"/>
                <a:gd name="connsiteY6" fmla="*/ 265723 h 644769"/>
                <a:gd name="connsiteX0" fmla="*/ 85969 w 762000"/>
                <a:gd name="connsiteY0" fmla="*/ 265723 h 644769"/>
                <a:gd name="connsiteX1" fmla="*/ 230554 w 762000"/>
                <a:gd name="connsiteY1" fmla="*/ 445477 h 644769"/>
                <a:gd name="connsiteX2" fmla="*/ 707292 w 762000"/>
                <a:gd name="connsiteY2" fmla="*/ 0 h 644769"/>
                <a:gd name="connsiteX3" fmla="*/ 762000 w 762000"/>
                <a:gd name="connsiteY3" fmla="*/ 156308 h 644769"/>
                <a:gd name="connsiteX4" fmla="*/ 250092 w 762000"/>
                <a:gd name="connsiteY4" fmla="*/ 644769 h 644769"/>
                <a:gd name="connsiteX5" fmla="*/ 0 w 762000"/>
                <a:gd name="connsiteY5" fmla="*/ 465016 h 644769"/>
                <a:gd name="connsiteX6" fmla="*/ 85969 w 762000"/>
                <a:gd name="connsiteY6" fmla="*/ 265723 h 644769"/>
                <a:gd name="connsiteX0" fmla="*/ 85969 w 762000"/>
                <a:gd name="connsiteY0" fmla="*/ 285262 h 664308"/>
                <a:gd name="connsiteX1" fmla="*/ 230554 w 762000"/>
                <a:gd name="connsiteY1" fmla="*/ 465016 h 664308"/>
                <a:gd name="connsiteX2" fmla="*/ 652584 w 762000"/>
                <a:gd name="connsiteY2" fmla="*/ 0 h 664308"/>
                <a:gd name="connsiteX3" fmla="*/ 762000 w 762000"/>
                <a:gd name="connsiteY3" fmla="*/ 175847 h 664308"/>
                <a:gd name="connsiteX4" fmla="*/ 250092 w 762000"/>
                <a:gd name="connsiteY4" fmla="*/ 664308 h 664308"/>
                <a:gd name="connsiteX5" fmla="*/ 0 w 762000"/>
                <a:gd name="connsiteY5" fmla="*/ 484555 h 664308"/>
                <a:gd name="connsiteX6" fmla="*/ 85969 w 762000"/>
                <a:gd name="connsiteY6" fmla="*/ 285262 h 664308"/>
                <a:gd name="connsiteX0" fmla="*/ 85969 w 699477"/>
                <a:gd name="connsiteY0" fmla="*/ 285262 h 664308"/>
                <a:gd name="connsiteX1" fmla="*/ 230554 w 699477"/>
                <a:gd name="connsiteY1" fmla="*/ 465016 h 664308"/>
                <a:gd name="connsiteX2" fmla="*/ 652584 w 699477"/>
                <a:gd name="connsiteY2" fmla="*/ 0 h 664308"/>
                <a:gd name="connsiteX3" fmla="*/ 699477 w 699477"/>
                <a:gd name="connsiteY3" fmla="*/ 140677 h 664308"/>
                <a:gd name="connsiteX4" fmla="*/ 250092 w 699477"/>
                <a:gd name="connsiteY4" fmla="*/ 664308 h 664308"/>
                <a:gd name="connsiteX5" fmla="*/ 0 w 699477"/>
                <a:gd name="connsiteY5" fmla="*/ 484555 h 664308"/>
                <a:gd name="connsiteX6" fmla="*/ 85969 w 699477"/>
                <a:gd name="connsiteY6" fmla="*/ 285262 h 664308"/>
                <a:gd name="connsiteX0" fmla="*/ 85969 w 699477"/>
                <a:gd name="connsiteY0" fmla="*/ 285262 h 664308"/>
                <a:gd name="connsiteX1" fmla="*/ 230554 w 699477"/>
                <a:gd name="connsiteY1" fmla="*/ 465016 h 664308"/>
                <a:gd name="connsiteX2" fmla="*/ 652584 w 699477"/>
                <a:gd name="connsiteY2" fmla="*/ 0 h 664308"/>
                <a:gd name="connsiteX3" fmla="*/ 699477 w 699477"/>
                <a:gd name="connsiteY3" fmla="*/ 140677 h 664308"/>
                <a:gd name="connsiteX4" fmla="*/ 250092 w 699477"/>
                <a:gd name="connsiteY4" fmla="*/ 664308 h 664308"/>
                <a:gd name="connsiteX5" fmla="*/ 0 w 699477"/>
                <a:gd name="connsiteY5" fmla="*/ 484555 h 664308"/>
                <a:gd name="connsiteX6" fmla="*/ 85969 w 699477"/>
                <a:gd name="connsiteY6" fmla="*/ 285262 h 664308"/>
                <a:gd name="connsiteX0" fmla="*/ 85969 w 699477"/>
                <a:gd name="connsiteY0" fmla="*/ 285262 h 664308"/>
                <a:gd name="connsiteX1" fmla="*/ 230554 w 699477"/>
                <a:gd name="connsiteY1" fmla="*/ 465016 h 664308"/>
                <a:gd name="connsiteX2" fmla="*/ 652584 w 699477"/>
                <a:gd name="connsiteY2" fmla="*/ 0 h 664308"/>
                <a:gd name="connsiteX3" fmla="*/ 699477 w 699477"/>
                <a:gd name="connsiteY3" fmla="*/ 140677 h 664308"/>
                <a:gd name="connsiteX4" fmla="*/ 250092 w 699477"/>
                <a:gd name="connsiteY4" fmla="*/ 664308 h 664308"/>
                <a:gd name="connsiteX5" fmla="*/ 0 w 699477"/>
                <a:gd name="connsiteY5" fmla="*/ 484555 h 664308"/>
                <a:gd name="connsiteX6" fmla="*/ 85969 w 699477"/>
                <a:gd name="connsiteY6" fmla="*/ 285262 h 664308"/>
                <a:gd name="connsiteX0" fmla="*/ 62523 w 676031"/>
                <a:gd name="connsiteY0" fmla="*/ 285262 h 664308"/>
                <a:gd name="connsiteX1" fmla="*/ 207108 w 676031"/>
                <a:gd name="connsiteY1" fmla="*/ 465016 h 664308"/>
                <a:gd name="connsiteX2" fmla="*/ 629138 w 676031"/>
                <a:gd name="connsiteY2" fmla="*/ 0 h 664308"/>
                <a:gd name="connsiteX3" fmla="*/ 676031 w 676031"/>
                <a:gd name="connsiteY3" fmla="*/ 140677 h 664308"/>
                <a:gd name="connsiteX4" fmla="*/ 226646 w 676031"/>
                <a:gd name="connsiteY4" fmla="*/ 664308 h 664308"/>
                <a:gd name="connsiteX5" fmla="*/ 0 w 676031"/>
                <a:gd name="connsiteY5" fmla="*/ 457201 h 664308"/>
                <a:gd name="connsiteX6" fmla="*/ 62523 w 676031"/>
                <a:gd name="connsiteY6" fmla="*/ 285262 h 664308"/>
                <a:gd name="connsiteX0" fmla="*/ 62523 w 676031"/>
                <a:gd name="connsiteY0" fmla="*/ 285262 h 664308"/>
                <a:gd name="connsiteX1" fmla="*/ 207108 w 676031"/>
                <a:gd name="connsiteY1" fmla="*/ 465016 h 664308"/>
                <a:gd name="connsiteX2" fmla="*/ 629138 w 676031"/>
                <a:gd name="connsiteY2" fmla="*/ 0 h 664308"/>
                <a:gd name="connsiteX3" fmla="*/ 676031 w 676031"/>
                <a:gd name="connsiteY3" fmla="*/ 140677 h 664308"/>
                <a:gd name="connsiteX4" fmla="*/ 226646 w 676031"/>
                <a:gd name="connsiteY4" fmla="*/ 664308 h 664308"/>
                <a:gd name="connsiteX5" fmla="*/ 0 w 676031"/>
                <a:gd name="connsiteY5" fmla="*/ 457201 h 664308"/>
                <a:gd name="connsiteX6" fmla="*/ 62523 w 676031"/>
                <a:gd name="connsiteY6" fmla="*/ 285262 h 664308"/>
                <a:gd name="connsiteX0" fmla="*/ 62523 w 676031"/>
                <a:gd name="connsiteY0" fmla="*/ 285262 h 664308"/>
                <a:gd name="connsiteX1" fmla="*/ 207108 w 676031"/>
                <a:gd name="connsiteY1" fmla="*/ 465016 h 664308"/>
                <a:gd name="connsiteX2" fmla="*/ 629138 w 676031"/>
                <a:gd name="connsiteY2" fmla="*/ 0 h 664308"/>
                <a:gd name="connsiteX3" fmla="*/ 676031 w 676031"/>
                <a:gd name="connsiteY3" fmla="*/ 140677 h 664308"/>
                <a:gd name="connsiteX4" fmla="*/ 226646 w 676031"/>
                <a:gd name="connsiteY4" fmla="*/ 664308 h 664308"/>
                <a:gd name="connsiteX5" fmla="*/ 0 w 676031"/>
                <a:gd name="connsiteY5" fmla="*/ 457201 h 664308"/>
                <a:gd name="connsiteX6" fmla="*/ 62523 w 676031"/>
                <a:gd name="connsiteY6" fmla="*/ 285262 h 664308"/>
                <a:gd name="connsiteX0" fmla="*/ 62523 w 676031"/>
                <a:gd name="connsiteY0" fmla="*/ 285262 h 664308"/>
                <a:gd name="connsiteX1" fmla="*/ 207108 w 676031"/>
                <a:gd name="connsiteY1" fmla="*/ 465016 h 664308"/>
                <a:gd name="connsiteX2" fmla="*/ 629138 w 676031"/>
                <a:gd name="connsiteY2" fmla="*/ 0 h 664308"/>
                <a:gd name="connsiteX3" fmla="*/ 676031 w 676031"/>
                <a:gd name="connsiteY3" fmla="*/ 140677 h 664308"/>
                <a:gd name="connsiteX4" fmla="*/ 226646 w 676031"/>
                <a:gd name="connsiteY4" fmla="*/ 664308 h 664308"/>
                <a:gd name="connsiteX5" fmla="*/ 0 w 676031"/>
                <a:gd name="connsiteY5" fmla="*/ 457201 h 664308"/>
                <a:gd name="connsiteX6" fmla="*/ 62523 w 676031"/>
                <a:gd name="connsiteY6" fmla="*/ 285262 h 664308"/>
                <a:gd name="connsiteX0" fmla="*/ 62523 w 676031"/>
                <a:gd name="connsiteY0" fmla="*/ 285262 h 672123"/>
                <a:gd name="connsiteX1" fmla="*/ 207108 w 676031"/>
                <a:gd name="connsiteY1" fmla="*/ 465016 h 672123"/>
                <a:gd name="connsiteX2" fmla="*/ 629138 w 676031"/>
                <a:gd name="connsiteY2" fmla="*/ 0 h 672123"/>
                <a:gd name="connsiteX3" fmla="*/ 676031 w 676031"/>
                <a:gd name="connsiteY3" fmla="*/ 140677 h 672123"/>
                <a:gd name="connsiteX4" fmla="*/ 218831 w 676031"/>
                <a:gd name="connsiteY4" fmla="*/ 672123 h 672123"/>
                <a:gd name="connsiteX5" fmla="*/ 0 w 676031"/>
                <a:gd name="connsiteY5" fmla="*/ 457201 h 672123"/>
                <a:gd name="connsiteX6" fmla="*/ 62523 w 676031"/>
                <a:gd name="connsiteY6" fmla="*/ 285262 h 672123"/>
                <a:gd name="connsiteX0" fmla="*/ 62523 w 676031"/>
                <a:gd name="connsiteY0" fmla="*/ 285262 h 672123"/>
                <a:gd name="connsiteX1" fmla="*/ 207108 w 676031"/>
                <a:gd name="connsiteY1" fmla="*/ 465016 h 672123"/>
                <a:gd name="connsiteX2" fmla="*/ 629138 w 676031"/>
                <a:gd name="connsiteY2" fmla="*/ 0 h 672123"/>
                <a:gd name="connsiteX3" fmla="*/ 676031 w 676031"/>
                <a:gd name="connsiteY3" fmla="*/ 140677 h 672123"/>
                <a:gd name="connsiteX4" fmla="*/ 218831 w 676031"/>
                <a:gd name="connsiteY4" fmla="*/ 672123 h 672123"/>
                <a:gd name="connsiteX5" fmla="*/ 0 w 676031"/>
                <a:gd name="connsiteY5" fmla="*/ 457201 h 672123"/>
                <a:gd name="connsiteX6" fmla="*/ 62523 w 676031"/>
                <a:gd name="connsiteY6" fmla="*/ 285262 h 672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031" h="672123">
                  <a:moveTo>
                    <a:pt x="62523" y="285262"/>
                  </a:moveTo>
                  <a:lnTo>
                    <a:pt x="207108" y="465016"/>
                  </a:lnTo>
                  <a:cubicBezTo>
                    <a:pt x="379048" y="182360"/>
                    <a:pt x="465015" y="106810"/>
                    <a:pt x="629138" y="0"/>
                  </a:cubicBezTo>
                  <a:lnTo>
                    <a:pt x="676031" y="140677"/>
                  </a:lnTo>
                  <a:cubicBezTo>
                    <a:pt x="454595" y="276143"/>
                    <a:pt x="362113" y="352995"/>
                    <a:pt x="218831" y="672123"/>
                  </a:cubicBezTo>
                  <a:cubicBezTo>
                    <a:pt x="104206" y="506698"/>
                    <a:pt x="83364" y="517119"/>
                    <a:pt x="0" y="457201"/>
                  </a:cubicBezTo>
                  <a:cubicBezTo>
                    <a:pt x="59917" y="386862"/>
                    <a:pt x="49497" y="347785"/>
                    <a:pt x="62523" y="285262"/>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prstClr val="white"/>
                </a:solidFill>
                <a:latin typeface="Arial" pitchFamily="34" charset="0"/>
                <a:cs typeface="Arial" pitchFamily="34" charset="0"/>
              </a:endParaRPr>
            </a:p>
          </p:txBody>
        </p:sp>
      </p:grpSp>
      <p:grpSp>
        <p:nvGrpSpPr>
          <p:cNvPr id="10" name="Group 9">
            <a:extLst>
              <a:ext uri="{FF2B5EF4-FFF2-40B4-BE49-F238E27FC236}">
                <a16:creationId xmlns:a16="http://schemas.microsoft.com/office/drawing/2014/main" id="{1DA1D133-5A82-42B5-93D4-10692FACD11E}"/>
              </a:ext>
            </a:extLst>
          </p:cNvPr>
          <p:cNvGrpSpPr/>
          <p:nvPr/>
        </p:nvGrpSpPr>
        <p:grpSpPr>
          <a:xfrm>
            <a:off x="4199717" y="958766"/>
            <a:ext cx="3278390" cy="673392"/>
            <a:chOff x="3803299" y="1647487"/>
            <a:chExt cx="3278390" cy="673392"/>
          </a:xfrm>
        </p:grpSpPr>
        <p:sp>
          <p:nvSpPr>
            <p:cNvPr id="11" name="Rounded Rectangle 11">
              <a:extLst>
                <a:ext uri="{FF2B5EF4-FFF2-40B4-BE49-F238E27FC236}">
                  <a16:creationId xmlns:a16="http://schemas.microsoft.com/office/drawing/2014/main" id="{D56900DD-F120-4A23-957F-25B3BA286040}"/>
                </a:ext>
              </a:extLst>
            </p:cNvPr>
            <p:cNvSpPr/>
            <p:nvPr/>
          </p:nvSpPr>
          <p:spPr>
            <a:xfrm>
              <a:off x="3984347" y="1776788"/>
              <a:ext cx="3097342" cy="315634"/>
            </a:xfrm>
            <a:prstGeom prst="roundRect">
              <a:avLst>
                <a:gd name="adj" fmla="val 50000"/>
              </a:avLst>
            </a:prstGeom>
            <a:solidFill>
              <a:schemeClr val="bg1"/>
            </a:solidFill>
            <a:ln>
              <a:solidFill>
                <a:schemeClr val="tx2"/>
              </a:solidFill>
            </a:ln>
            <a:effectLst/>
          </p:spPr>
          <p:style>
            <a:lnRef idx="1">
              <a:schemeClr val="dk1"/>
            </a:lnRef>
            <a:fillRef idx="3">
              <a:schemeClr val="dk1"/>
            </a:fillRef>
            <a:effectRef idx="2">
              <a:schemeClr val="dk1"/>
            </a:effectRef>
            <a:fontRef idx="minor">
              <a:schemeClr val="lt1"/>
            </a:fontRef>
          </p:style>
          <p:txBody>
            <a:bodyPr wrap="square" lIns="609600" tIns="0" rIns="45812" bIns="0" rtlCol="0" anchor="ctr"/>
            <a:lstStyle/>
            <a:p>
              <a:pPr defTabSz="1163600"/>
              <a:r>
                <a:rPr lang="en-GB" sz="1600" b="1" kern="0" dirty="0">
                  <a:solidFill>
                    <a:srgbClr val="44546A"/>
                  </a:solidFill>
                  <a:cs typeface="Arial"/>
                </a:rPr>
                <a:t>Solution Approach</a:t>
              </a:r>
            </a:p>
          </p:txBody>
        </p:sp>
        <p:sp>
          <p:nvSpPr>
            <p:cNvPr id="12" name="Oval 20">
              <a:extLst>
                <a:ext uri="{FF2B5EF4-FFF2-40B4-BE49-F238E27FC236}">
                  <a16:creationId xmlns:a16="http://schemas.microsoft.com/office/drawing/2014/main" id="{2D8353B5-D7DB-4F2B-9BC1-2A65558FFD83}"/>
                </a:ext>
              </a:extLst>
            </p:cNvPr>
            <p:cNvSpPr/>
            <p:nvPr/>
          </p:nvSpPr>
          <p:spPr>
            <a:xfrm>
              <a:off x="3803299" y="1647487"/>
              <a:ext cx="712710" cy="673392"/>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tx2"/>
            </a:solidFill>
            <a:ln w="19050" cap="flat" cmpd="sng" algn="ctr">
              <a:solidFill>
                <a:schemeClr val="tx2"/>
              </a:solidFill>
              <a:prstDash val="solid"/>
              <a:miter lim="800000"/>
            </a:ln>
            <a:effectLst/>
          </p:spPr>
          <p:txBody>
            <a:bodyPr rtlCol="0" anchor="ctr"/>
            <a:lstStyle/>
            <a:p>
              <a:pPr algn="ctr" defTabSz="1219170">
                <a:defRPr/>
              </a:pPr>
              <a:endParaRPr lang="pt-PT" sz="2400" kern="0">
                <a:solidFill>
                  <a:prstClr val="white"/>
                </a:solidFill>
                <a:latin typeface="Verdana"/>
              </a:endParaRPr>
            </a:p>
          </p:txBody>
        </p:sp>
        <p:grpSp>
          <p:nvGrpSpPr>
            <p:cNvPr id="13" name="Group 100">
              <a:extLst>
                <a:ext uri="{FF2B5EF4-FFF2-40B4-BE49-F238E27FC236}">
                  <a16:creationId xmlns:a16="http://schemas.microsoft.com/office/drawing/2014/main" id="{E7B65B02-B34D-4347-99BC-89C90D5C7B2F}"/>
                </a:ext>
              </a:extLst>
            </p:cNvPr>
            <p:cNvGrpSpPr/>
            <p:nvPr/>
          </p:nvGrpSpPr>
          <p:grpSpPr>
            <a:xfrm>
              <a:off x="3975876" y="1800406"/>
              <a:ext cx="367554" cy="367554"/>
              <a:chOff x="8807450" y="4772025"/>
              <a:chExt cx="250825" cy="250825"/>
            </a:xfrm>
          </p:grpSpPr>
          <p:sp>
            <p:nvSpPr>
              <p:cNvPr id="14" name="Freeform 32">
                <a:extLst>
                  <a:ext uri="{FF2B5EF4-FFF2-40B4-BE49-F238E27FC236}">
                    <a16:creationId xmlns:a16="http://schemas.microsoft.com/office/drawing/2014/main" id="{A7DE415B-18DA-434A-A93A-4B200C2FE6F7}"/>
                  </a:ext>
                </a:extLst>
              </p:cNvPr>
              <p:cNvSpPr>
                <a:spLocks/>
              </p:cNvSpPr>
              <p:nvPr/>
            </p:nvSpPr>
            <p:spPr bwMode="auto">
              <a:xfrm>
                <a:off x="8807450" y="4848225"/>
                <a:ext cx="176212" cy="174625"/>
              </a:xfrm>
              <a:custGeom>
                <a:avLst/>
                <a:gdLst/>
                <a:ahLst/>
                <a:cxnLst>
                  <a:cxn ang="0">
                    <a:pos x="44" y="10"/>
                  </a:cxn>
                  <a:cxn ang="0">
                    <a:pos x="44" y="10"/>
                  </a:cxn>
                  <a:cxn ang="0">
                    <a:pos x="47" y="23"/>
                  </a:cxn>
                  <a:cxn ang="0">
                    <a:pos x="24" y="47"/>
                  </a:cxn>
                  <a:cxn ang="0">
                    <a:pos x="0" y="23"/>
                  </a:cxn>
                  <a:cxn ang="0">
                    <a:pos x="24" y="0"/>
                  </a:cxn>
                  <a:cxn ang="0">
                    <a:pos x="37" y="4"/>
                  </a:cxn>
                </a:cxnLst>
                <a:rect l="0" t="0" r="r" b="b"/>
                <a:pathLst>
                  <a:path w="47" h="47">
                    <a:moveTo>
                      <a:pt x="44" y="10"/>
                    </a:moveTo>
                    <a:cubicBezTo>
                      <a:pt x="44" y="10"/>
                      <a:pt x="44" y="10"/>
                      <a:pt x="44" y="10"/>
                    </a:cubicBezTo>
                    <a:cubicBezTo>
                      <a:pt x="46" y="14"/>
                      <a:pt x="47" y="19"/>
                      <a:pt x="47" y="23"/>
                    </a:cubicBezTo>
                    <a:cubicBezTo>
                      <a:pt x="47" y="37"/>
                      <a:pt x="37" y="47"/>
                      <a:pt x="24" y="47"/>
                    </a:cubicBezTo>
                    <a:cubicBezTo>
                      <a:pt x="11" y="47"/>
                      <a:pt x="0" y="37"/>
                      <a:pt x="0" y="23"/>
                    </a:cubicBezTo>
                    <a:cubicBezTo>
                      <a:pt x="0" y="10"/>
                      <a:pt x="11" y="0"/>
                      <a:pt x="24" y="0"/>
                    </a:cubicBezTo>
                    <a:cubicBezTo>
                      <a:pt x="29" y="0"/>
                      <a:pt x="33" y="2"/>
                      <a:pt x="37" y="4"/>
                    </a:cubicBezTo>
                  </a:path>
                </a:pathLst>
              </a:custGeom>
              <a:solidFill>
                <a:schemeClr val="accent5"/>
              </a:solidFill>
              <a:ln w="19050" cap="rnd">
                <a:solidFill>
                  <a:schemeClr val="accent5"/>
                </a:solidFill>
                <a:prstDash val="solid"/>
                <a:round/>
                <a:headEnd/>
                <a:tailEnd/>
              </a:ln>
            </p:spPr>
            <p:txBody>
              <a:bodyPr vert="horz" wrap="square" lIns="121920" tIns="60960" rIns="121920" bIns="60960" numCol="1" anchor="t" anchorCtr="0" compatLnSpc="1">
                <a:prstTxWarp prst="textNoShape">
                  <a:avLst/>
                </a:prstTxWarp>
              </a:bodyPr>
              <a:lstStyle/>
              <a:p>
                <a:pPr defTabSz="1219170">
                  <a:defRPr/>
                </a:pPr>
                <a:endParaRPr lang="en-US" sz="2400" kern="0" dirty="0">
                  <a:solidFill>
                    <a:srgbClr val="00234B"/>
                  </a:solidFill>
                  <a:latin typeface="Verdana"/>
                </a:endParaRPr>
              </a:p>
            </p:txBody>
          </p:sp>
          <p:sp>
            <p:nvSpPr>
              <p:cNvPr id="15" name="Freeform 34">
                <a:extLst>
                  <a:ext uri="{FF2B5EF4-FFF2-40B4-BE49-F238E27FC236}">
                    <a16:creationId xmlns:a16="http://schemas.microsoft.com/office/drawing/2014/main" id="{1BA46DB5-DA5F-4887-AE76-FAAD28FBE1D1}"/>
                  </a:ext>
                </a:extLst>
              </p:cNvPr>
              <p:cNvSpPr>
                <a:spLocks/>
              </p:cNvSpPr>
              <p:nvPr/>
            </p:nvSpPr>
            <p:spPr bwMode="auto">
              <a:xfrm>
                <a:off x="8845550" y="4881563"/>
                <a:ext cx="104775" cy="107950"/>
              </a:xfrm>
              <a:custGeom>
                <a:avLst/>
                <a:gdLst/>
                <a:ahLst/>
                <a:cxnLst>
                  <a:cxn ang="0">
                    <a:pos x="26" y="7"/>
                  </a:cxn>
                  <a:cxn ang="0">
                    <a:pos x="26" y="7"/>
                  </a:cxn>
                  <a:cxn ang="0">
                    <a:pos x="28" y="14"/>
                  </a:cxn>
                  <a:cxn ang="0">
                    <a:pos x="14" y="29"/>
                  </a:cxn>
                  <a:cxn ang="0">
                    <a:pos x="0" y="14"/>
                  </a:cxn>
                  <a:cxn ang="0">
                    <a:pos x="14" y="0"/>
                  </a:cxn>
                  <a:cxn ang="0">
                    <a:pos x="22" y="3"/>
                  </a:cxn>
                </a:cxnLst>
                <a:rect l="0" t="0" r="r" b="b"/>
                <a:pathLst>
                  <a:path w="28" h="29">
                    <a:moveTo>
                      <a:pt x="26" y="7"/>
                    </a:moveTo>
                    <a:cubicBezTo>
                      <a:pt x="26" y="7"/>
                      <a:pt x="26" y="7"/>
                      <a:pt x="26" y="7"/>
                    </a:cubicBezTo>
                    <a:cubicBezTo>
                      <a:pt x="27" y="9"/>
                      <a:pt x="28" y="12"/>
                      <a:pt x="28" y="14"/>
                    </a:cubicBezTo>
                    <a:cubicBezTo>
                      <a:pt x="28" y="22"/>
                      <a:pt x="22" y="29"/>
                      <a:pt x="14" y="29"/>
                    </a:cubicBezTo>
                    <a:cubicBezTo>
                      <a:pt x="6" y="29"/>
                      <a:pt x="0" y="22"/>
                      <a:pt x="0" y="14"/>
                    </a:cubicBezTo>
                    <a:cubicBezTo>
                      <a:pt x="0" y="7"/>
                      <a:pt x="6" y="0"/>
                      <a:pt x="14" y="0"/>
                    </a:cubicBezTo>
                    <a:cubicBezTo>
                      <a:pt x="17" y="0"/>
                      <a:pt x="19" y="1"/>
                      <a:pt x="22" y="3"/>
                    </a:cubicBezTo>
                  </a:path>
                </a:pathLst>
              </a:custGeom>
              <a:solidFill>
                <a:sysClr val="window" lastClr="FFFFFF"/>
              </a:solidFill>
              <a:ln w="1905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defTabSz="1219170">
                  <a:defRPr/>
                </a:pPr>
                <a:endParaRPr lang="en-US" sz="2400" kern="0" dirty="0">
                  <a:solidFill>
                    <a:srgbClr val="00234B"/>
                  </a:solidFill>
                  <a:latin typeface="Verdana"/>
                </a:endParaRPr>
              </a:p>
            </p:txBody>
          </p:sp>
          <p:sp>
            <p:nvSpPr>
              <p:cNvPr id="16" name="Line 36">
                <a:extLst>
                  <a:ext uri="{FF2B5EF4-FFF2-40B4-BE49-F238E27FC236}">
                    <a16:creationId xmlns:a16="http://schemas.microsoft.com/office/drawing/2014/main" id="{0C6DC925-0C9E-496B-8E20-9A195C67BEFE}"/>
                  </a:ext>
                </a:extLst>
              </p:cNvPr>
              <p:cNvSpPr>
                <a:spLocks noChangeShapeType="1"/>
              </p:cNvSpPr>
              <p:nvPr/>
            </p:nvSpPr>
            <p:spPr bwMode="auto">
              <a:xfrm flipV="1">
                <a:off x="8897938" y="4806950"/>
                <a:ext cx="127000" cy="130175"/>
              </a:xfrm>
              <a:prstGeom prst="line">
                <a:avLst/>
              </a:prstGeom>
              <a:solidFill>
                <a:srgbClr val="95E616"/>
              </a:solidFill>
              <a:ln w="19050" cap="rnd">
                <a:solidFill>
                  <a:schemeClr val="accent5"/>
                </a:solidFill>
                <a:prstDash val="solid"/>
                <a:round/>
                <a:headEnd/>
                <a:tailEnd/>
              </a:ln>
            </p:spPr>
            <p:txBody>
              <a:bodyPr vert="horz" wrap="square" lIns="121920" tIns="60960" rIns="121920" bIns="60960" numCol="1" anchor="t" anchorCtr="0" compatLnSpc="1">
                <a:prstTxWarp prst="textNoShape">
                  <a:avLst/>
                </a:prstTxWarp>
              </a:bodyPr>
              <a:lstStyle/>
              <a:p>
                <a:pPr defTabSz="1219170">
                  <a:defRPr/>
                </a:pPr>
                <a:endParaRPr lang="en-US" sz="2400" kern="0" dirty="0">
                  <a:solidFill>
                    <a:srgbClr val="00234B"/>
                  </a:solidFill>
                  <a:latin typeface="Verdana"/>
                </a:endParaRPr>
              </a:p>
            </p:txBody>
          </p:sp>
          <p:sp>
            <p:nvSpPr>
              <p:cNvPr id="17" name="Freeform 37">
                <a:extLst>
                  <a:ext uri="{FF2B5EF4-FFF2-40B4-BE49-F238E27FC236}">
                    <a16:creationId xmlns:a16="http://schemas.microsoft.com/office/drawing/2014/main" id="{BF774D10-6D0F-4C81-A0D8-A907DBEE8BD2}"/>
                  </a:ext>
                </a:extLst>
              </p:cNvPr>
              <p:cNvSpPr>
                <a:spLocks/>
              </p:cNvSpPr>
              <p:nvPr/>
            </p:nvSpPr>
            <p:spPr bwMode="auto">
              <a:xfrm>
                <a:off x="8983663" y="4772025"/>
                <a:ext cx="30162" cy="57150"/>
              </a:xfrm>
              <a:custGeom>
                <a:avLst/>
                <a:gdLst/>
                <a:ahLst/>
                <a:cxnLst>
                  <a:cxn ang="0">
                    <a:pos x="0" y="36"/>
                  </a:cxn>
                  <a:cxn ang="0">
                    <a:pos x="0" y="19"/>
                  </a:cxn>
                  <a:cxn ang="0">
                    <a:pos x="19" y="0"/>
                  </a:cxn>
                  <a:cxn ang="0">
                    <a:pos x="19" y="17"/>
                  </a:cxn>
                  <a:cxn ang="0">
                    <a:pos x="0" y="36"/>
                  </a:cxn>
                  <a:cxn ang="0">
                    <a:pos x="0" y="36"/>
                  </a:cxn>
                </a:cxnLst>
                <a:rect l="0" t="0" r="r" b="b"/>
                <a:pathLst>
                  <a:path w="19" h="36">
                    <a:moveTo>
                      <a:pt x="0" y="36"/>
                    </a:moveTo>
                    <a:lnTo>
                      <a:pt x="0" y="19"/>
                    </a:lnTo>
                    <a:lnTo>
                      <a:pt x="19" y="0"/>
                    </a:lnTo>
                    <a:lnTo>
                      <a:pt x="19" y="17"/>
                    </a:lnTo>
                    <a:lnTo>
                      <a:pt x="0" y="36"/>
                    </a:lnTo>
                    <a:lnTo>
                      <a:pt x="0" y="36"/>
                    </a:lnTo>
                    <a:close/>
                  </a:path>
                </a:pathLst>
              </a:custGeom>
              <a:solidFill>
                <a:schemeClr val="accent5"/>
              </a:solidFill>
              <a:ln w="19050" cap="rnd">
                <a:solidFill>
                  <a:schemeClr val="accent5"/>
                </a:solidFill>
                <a:prstDash val="solid"/>
                <a:round/>
                <a:headEnd/>
                <a:tailEnd/>
              </a:ln>
            </p:spPr>
            <p:txBody>
              <a:bodyPr vert="horz" wrap="square" lIns="121920" tIns="60960" rIns="121920" bIns="60960" numCol="1" anchor="t" anchorCtr="0" compatLnSpc="1">
                <a:prstTxWarp prst="textNoShape">
                  <a:avLst/>
                </a:prstTxWarp>
              </a:bodyPr>
              <a:lstStyle/>
              <a:p>
                <a:pPr defTabSz="1219170">
                  <a:defRPr/>
                </a:pPr>
                <a:endParaRPr lang="en-US" sz="2400" kern="0" dirty="0">
                  <a:solidFill>
                    <a:srgbClr val="00234B"/>
                  </a:solidFill>
                  <a:latin typeface="Verdana"/>
                </a:endParaRPr>
              </a:p>
            </p:txBody>
          </p:sp>
          <p:sp>
            <p:nvSpPr>
              <p:cNvPr id="18" name="Freeform 38">
                <a:extLst>
                  <a:ext uri="{FF2B5EF4-FFF2-40B4-BE49-F238E27FC236}">
                    <a16:creationId xmlns:a16="http://schemas.microsoft.com/office/drawing/2014/main" id="{7EA5392C-08DB-4D66-BB23-417B5F8B5F47}"/>
                  </a:ext>
                </a:extLst>
              </p:cNvPr>
              <p:cNvSpPr>
                <a:spLocks/>
              </p:cNvSpPr>
              <p:nvPr/>
            </p:nvSpPr>
            <p:spPr bwMode="auto">
              <a:xfrm>
                <a:off x="9002713" y="4813300"/>
                <a:ext cx="55562" cy="34925"/>
              </a:xfrm>
              <a:custGeom>
                <a:avLst/>
                <a:gdLst/>
                <a:ahLst/>
                <a:cxnLst>
                  <a:cxn ang="0">
                    <a:pos x="0" y="22"/>
                  </a:cxn>
                  <a:cxn ang="0">
                    <a:pos x="17" y="19"/>
                  </a:cxn>
                  <a:cxn ang="0">
                    <a:pos x="35" y="0"/>
                  </a:cxn>
                  <a:cxn ang="0">
                    <a:pos x="19" y="3"/>
                  </a:cxn>
                  <a:cxn ang="0">
                    <a:pos x="0" y="22"/>
                  </a:cxn>
                  <a:cxn ang="0">
                    <a:pos x="0" y="22"/>
                  </a:cxn>
                </a:cxnLst>
                <a:rect l="0" t="0" r="r" b="b"/>
                <a:pathLst>
                  <a:path w="35" h="22">
                    <a:moveTo>
                      <a:pt x="0" y="22"/>
                    </a:moveTo>
                    <a:lnTo>
                      <a:pt x="17" y="19"/>
                    </a:lnTo>
                    <a:lnTo>
                      <a:pt x="35" y="0"/>
                    </a:lnTo>
                    <a:lnTo>
                      <a:pt x="19" y="3"/>
                    </a:lnTo>
                    <a:lnTo>
                      <a:pt x="0" y="22"/>
                    </a:lnTo>
                    <a:lnTo>
                      <a:pt x="0" y="22"/>
                    </a:lnTo>
                    <a:close/>
                  </a:path>
                </a:pathLst>
              </a:custGeom>
              <a:solidFill>
                <a:schemeClr val="accent5"/>
              </a:solidFill>
              <a:ln w="19050" cap="rnd">
                <a:solidFill>
                  <a:schemeClr val="accent5"/>
                </a:solidFill>
                <a:prstDash val="solid"/>
                <a:round/>
                <a:headEnd/>
                <a:tailEnd/>
              </a:ln>
            </p:spPr>
            <p:txBody>
              <a:bodyPr vert="horz" wrap="square" lIns="121920" tIns="60960" rIns="121920" bIns="60960" numCol="1" anchor="t" anchorCtr="0" compatLnSpc="1">
                <a:prstTxWarp prst="textNoShape">
                  <a:avLst/>
                </a:prstTxWarp>
              </a:bodyPr>
              <a:lstStyle/>
              <a:p>
                <a:pPr defTabSz="1219170">
                  <a:defRPr/>
                </a:pPr>
                <a:endParaRPr lang="en-US" sz="2400" kern="0" dirty="0">
                  <a:solidFill>
                    <a:srgbClr val="00234B"/>
                  </a:solidFill>
                  <a:latin typeface="Verdana"/>
                </a:endParaRPr>
              </a:p>
            </p:txBody>
          </p:sp>
        </p:grpSp>
      </p:grpSp>
      <p:grpSp>
        <p:nvGrpSpPr>
          <p:cNvPr id="19" name="Group 18">
            <a:extLst>
              <a:ext uri="{FF2B5EF4-FFF2-40B4-BE49-F238E27FC236}">
                <a16:creationId xmlns:a16="http://schemas.microsoft.com/office/drawing/2014/main" id="{9A1C8835-DC16-45B8-8B4C-0320D4D89690}"/>
              </a:ext>
            </a:extLst>
          </p:cNvPr>
          <p:cNvGrpSpPr/>
          <p:nvPr/>
        </p:nvGrpSpPr>
        <p:grpSpPr>
          <a:xfrm>
            <a:off x="175179" y="977816"/>
            <a:ext cx="3486331" cy="673392"/>
            <a:chOff x="137471" y="1647487"/>
            <a:chExt cx="3486331" cy="673392"/>
          </a:xfrm>
        </p:grpSpPr>
        <p:sp>
          <p:nvSpPr>
            <p:cNvPr id="20" name="Rounded Rectangle 10">
              <a:extLst>
                <a:ext uri="{FF2B5EF4-FFF2-40B4-BE49-F238E27FC236}">
                  <a16:creationId xmlns:a16="http://schemas.microsoft.com/office/drawing/2014/main" id="{F8BC6CC8-3AC5-4B41-88A6-AD2DB3306A14}"/>
                </a:ext>
              </a:extLst>
            </p:cNvPr>
            <p:cNvSpPr/>
            <p:nvPr/>
          </p:nvSpPr>
          <p:spPr>
            <a:xfrm>
              <a:off x="323851" y="1776788"/>
              <a:ext cx="3299951" cy="315634"/>
            </a:xfrm>
            <a:prstGeom prst="roundRect">
              <a:avLst>
                <a:gd name="adj" fmla="val 50000"/>
              </a:avLst>
            </a:prstGeom>
            <a:solidFill>
              <a:schemeClr val="bg1"/>
            </a:solidFill>
            <a:ln>
              <a:solidFill>
                <a:schemeClr val="accent3"/>
              </a:solidFill>
            </a:ln>
            <a:effectLst/>
          </p:spPr>
          <p:style>
            <a:lnRef idx="1">
              <a:schemeClr val="dk1"/>
            </a:lnRef>
            <a:fillRef idx="3">
              <a:schemeClr val="dk1"/>
            </a:fillRef>
            <a:effectRef idx="2">
              <a:schemeClr val="dk1"/>
            </a:effectRef>
            <a:fontRef idx="minor">
              <a:schemeClr val="lt1"/>
            </a:fontRef>
          </p:style>
          <p:txBody>
            <a:bodyPr wrap="square" lIns="609600" tIns="0" rIns="45812" bIns="0" rtlCol="0" anchor="ctr"/>
            <a:lstStyle/>
            <a:p>
              <a:pPr defTabSz="1163600"/>
              <a:r>
                <a:rPr lang="en-GB" sz="1600" b="1" kern="0" dirty="0">
                  <a:solidFill>
                    <a:srgbClr val="A5A5A5"/>
                  </a:solidFill>
                  <a:cs typeface="Arial"/>
                </a:rPr>
                <a:t>Situation</a:t>
              </a:r>
            </a:p>
          </p:txBody>
        </p:sp>
        <p:sp>
          <p:nvSpPr>
            <p:cNvPr id="21" name="Oval 20">
              <a:extLst>
                <a:ext uri="{FF2B5EF4-FFF2-40B4-BE49-F238E27FC236}">
                  <a16:creationId xmlns:a16="http://schemas.microsoft.com/office/drawing/2014/main" id="{A33C7501-80BC-4903-BEBB-2348A4D4CB44}"/>
                </a:ext>
              </a:extLst>
            </p:cNvPr>
            <p:cNvSpPr/>
            <p:nvPr/>
          </p:nvSpPr>
          <p:spPr>
            <a:xfrm>
              <a:off x="137471" y="1647487"/>
              <a:ext cx="712710" cy="673392"/>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accent3"/>
            </a:solidFill>
            <a:ln w="19050" cap="flat" cmpd="sng" algn="ctr">
              <a:solidFill>
                <a:schemeClr val="accent3"/>
              </a:solidFill>
              <a:prstDash val="solid"/>
              <a:miter lim="800000"/>
            </a:ln>
            <a:effectLst/>
          </p:spPr>
          <p:txBody>
            <a:bodyPr rtlCol="0" anchor="ctr"/>
            <a:lstStyle/>
            <a:p>
              <a:pPr algn="ctr" defTabSz="1219170">
                <a:defRPr/>
              </a:pPr>
              <a:endParaRPr lang="pt-PT" sz="2400" kern="0">
                <a:solidFill>
                  <a:prstClr val="white"/>
                </a:solidFill>
                <a:latin typeface="Verdana"/>
              </a:endParaRPr>
            </a:p>
          </p:txBody>
        </p:sp>
        <p:grpSp>
          <p:nvGrpSpPr>
            <p:cNvPr id="22" name="Group 21">
              <a:extLst>
                <a:ext uri="{FF2B5EF4-FFF2-40B4-BE49-F238E27FC236}">
                  <a16:creationId xmlns:a16="http://schemas.microsoft.com/office/drawing/2014/main" id="{60AAA644-915C-426A-A321-A3077F4CCF0E}"/>
                </a:ext>
              </a:extLst>
            </p:cNvPr>
            <p:cNvGrpSpPr>
              <a:grpSpLocks noChangeAspect="1"/>
            </p:cNvGrpSpPr>
            <p:nvPr/>
          </p:nvGrpSpPr>
          <p:grpSpPr bwMode="auto">
            <a:xfrm>
              <a:off x="297864" y="1764467"/>
              <a:ext cx="391925" cy="439434"/>
              <a:chOff x="890" y="777"/>
              <a:chExt cx="2879" cy="3228"/>
            </a:xfrm>
            <a:noFill/>
          </p:grpSpPr>
          <p:sp>
            <p:nvSpPr>
              <p:cNvPr id="23" name="Freeform 66">
                <a:extLst>
                  <a:ext uri="{FF2B5EF4-FFF2-40B4-BE49-F238E27FC236}">
                    <a16:creationId xmlns:a16="http://schemas.microsoft.com/office/drawing/2014/main" id="{09E2A2AD-CDFB-49E3-8D8B-F388F297A430}"/>
                  </a:ext>
                </a:extLst>
              </p:cNvPr>
              <p:cNvSpPr>
                <a:spLocks/>
              </p:cNvSpPr>
              <p:nvPr/>
            </p:nvSpPr>
            <p:spPr bwMode="auto">
              <a:xfrm>
                <a:off x="1725" y="1961"/>
                <a:ext cx="2044" cy="2044"/>
              </a:xfrm>
              <a:custGeom>
                <a:avLst/>
                <a:gdLst/>
                <a:ahLst/>
                <a:cxnLst>
                  <a:cxn ang="0">
                    <a:pos x="1775" y="956"/>
                  </a:cxn>
                  <a:cxn ang="0">
                    <a:pos x="1912" y="808"/>
                  </a:cxn>
                  <a:cxn ang="0">
                    <a:pos x="1858" y="606"/>
                  </a:cxn>
                  <a:cxn ang="0">
                    <a:pos x="1665" y="546"/>
                  </a:cxn>
                  <a:cxn ang="0">
                    <a:pos x="1710" y="350"/>
                  </a:cxn>
                  <a:cxn ang="0">
                    <a:pos x="1562" y="202"/>
                  </a:cxn>
                  <a:cxn ang="0">
                    <a:pos x="1365" y="246"/>
                  </a:cxn>
                  <a:cxn ang="0">
                    <a:pos x="1306" y="54"/>
                  </a:cxn>
                  <a:cxn ang="0">
                    <a:pos x="1104" y="0"/>
                  </a:cxn>
                  <a:cxn ang="0">
                    <a:pos x="956" y="137"/>
                  </a:cxn>
                  <a:cxn ang="0">
                    <a:pos x="808" y="0"/>
                  </a:cxn>
                  <a:cxn ang="0">
                    <a:pos x="606" y="54"/>
                  </a:cxn>
                  <a:cxn ang="0">
                    <a:pos x="546" y="246"/>
                  </a:cxn>
                  <a:cxn ang="0">
                    <a:pos x="350" y="202"/>
                  </a:cxn>
                  <a:cxn ang="0">
                    <a:pos x="202" y="350"/>
                  </a:cxn>
                  <a:cxn ang="0">
                    <a:pos x="246" y="546"/>
                  </a:cxn>
                  <a:cxn ang="0">
                    <a:pos x="54" y="606"/>
                  </a:cxn>
                  <a:cxn ang="0">
                    <a:pos x="0" y="808"/>
                  </a:cxn>
                  <a:cxn ang="0">
                    <a:pos x="137" y="956"/>
                  </a:cxn>
                  <a:cxn ang="0">
                    <a:pos x="0" y="1104"/>
                  </a:cxn>
                  <a:cxn ang="0">
                    <a:pos x="54" y="1306"/>
                  </a:cxn>
                  <a:cxn ang="0">
                    <a:pos x="246" y="1365"/>
                  </a:cxn>
                  <a:cxn ang="0">
                    <a:pos x="202" y="1562"/>
                  </a:cxn>
                  <a:cxn ang="0">
                    <a:pos x="350" y="1709"/>
                  </a:cxn>
                  <a:cxn ang="0">
                    <a:pos x="546" y="1665"/>
                  </a:cxn>
                  <a:cxn ang="0">
                    <a:pos x="606" y="1858"/>
                  </a:cxn>
                  <a:cxn ang="0">
                    <a:pos x="808" y="1912"/>
                  </a:cxn>
                  <a:cxn ang="0">
                    <a:pos x="956" y="1775"/>
                  </a:cxn>
                  <a:cxn ang="0">
                    <a:pos x="1104" y="1912"/>
                  </a:cxn>
                  <a:cxn ang="0">
                    <a:pos x="1306" y="1858"/>
                  </a:cxn>
                  <a:cxn ang="0">
                    <a:pos x="1365" y="1665"/>
                  </a:cxn>
                  <a:cxn ang="0">
                    <a:pos x="1562" y="1710"/>
                  </a:cxn>
                  <a:cxn ang="0">
                    <a:pos x="1710" y="1562"/>
                  </a:cxn>
                  <a:cxn ang="0">
                    <a:pos x="1665" y="1365"/>
                  </a:cxn>
                  <a:cxn ang="0">
                    <a:pos x="1858" y="1306"/>
                  </a:cxn>
                  <a:cxn ang="0">
                    <a:pos x="1912" y="1104"/>
                  </a:cxn>
                  <a:cxn ang="0">
                    <a:pos x="1775" y="956"/>
                  </a:cxn>
                </a:cxnLst>
                <a:rect l="0" t="0" r="r" b="b"/>
                <a:pathLst>
                  <a:path w="1912" h="1912">
                    <a:moveTo>
                      <a:pt x="1775" y="956"/>
                    </a:moveTo>
                    <a:cubicBezTo>
                      <a:pt x="1775" y="877"/>
                      <a:pt x="1835" y="813"/>
                      <a:pt x="1912" y="808"/>
                    </a:cubicBezTo>
                    <a:cubicBezTo>
                      <a:pt x="1901" y="738"/>
                      <a:pt x="1883" y="670"/>
                      <a:pt x="1858" y="606"/>
                    </a:cubicBezTo>
                    <a:cubicBezTo>
                      <a:pt x="1788" y="639"/>
                      <a:pt x="1704" y="614"/>
                      <a:pt x="1665" y="546"/>
                    </a:cubicBezTo>
                    <a:cubicBezTo>
                      <a:pt x="1626" y="479"/>
                      <a:pt x="1646" y="393"/>
                      <a:pt x="1710" y="350"/>
                    </a:cubicBezTo>
                    <a:cubicBezTo>
                      <a:pt x="1666" y="295"/>
                      <a:pt x="1616" y="246"/>
                      <a:pt x="1562" y="202"/>
                    </a:cubicBezTo>
                    <a:cubicBezTo>
                      <a:pt x="1518" y="265"/>
                      <a:pt x="1433" y="285"/>
                      <a:pt x="1365" y="246"/>
                    </a:cubicBezTo>
                    <a:cubicBezTo>
                      <a:pt x="1297" y="207"/>
                      <a:pt x="1272" y="123"/>
                      <a:pt x="1306" y="54"/>
                    </a:cubicBezTo>
                    <a:cubicBezTo>
                      <a:pt x="1241" y="29"/>
                      <a:pt x="1174" y="10"/>
                      <a:pt x="1104" y="0"/>
                    </a:cubicBezTo>
                    <a:cubicBezTo>
                      <a:pt x="1098" y="76"/>
                      <a:pt x="1034" y="137"/>
                      <a:pt x="956" y="137"/>
                    </a:cubicBezTo>
                    <a:cubicBezTo>
                      <a:pt x="877" y="137"/>
                      <a:pt x="813" y="76"/>
                      <a:pt x="808" y="0"/>
                    </a:cubicBezTo>
                    <a:cubicBezTo>
                      <a:pt x="738" y="10"/>
                      <a:pt x="670" y="29"/>
                      <a:pt x="606" y="54"/>
                    </a:cubicBezTo>
                    <a:cubicBezTo>
                      <a:pt x="639" y="123"/>
                      <a:pt x="614" y="207"/>
                      <a:pt x="546" y="246"/>
                    </a:cubicBezTo>
                    <a:cubicBezTo>
                      <a:pt x="479" y="285"/>
                      <a:pt x="393" y="265"/>
                      <a:pt x="350" y="202"/>
                    </a:cubicBezTo>
                    <a:cubicBezTo>
                      <a:pt x="295" y="246"/>
                      <a:pt x="246" y="295"/>
                      <a:pt x="202" y="350"/>
                    </a:cubicBezTo>
                    <a:cubicBezTo>
                      <a:pt x="265" y="393"/>
                      <a:pt x="286" y="479"/>
                      <a:pt x="246" y="546"/>
                    </a:cubicBezTo>
                    <a:cubicBezTo>
                      <a:pt x="207" y="614"/>
                      <a:pt x="123" y="639"/>
                      <a:pt x="54" y="606"/>
                    </a:cubicBezTo>
                    <a:cubicBezTo>
                      <a:pt x="29" y="670"/>
                      <a:pt x="10" y="738"/>
                      <a:pt x="0" y="808"/>
                    </a:cubicBezTo>
                    <a:cubicBezTo>
                      <a:pt x="76" y="813"/>
                      <a:pt x="137" y="877"/>
                      <a:pt x="137" y="956"/>
                    </a:cubicBezTo>
                    <a:cubicBezTo>
                      <a:pt x="137" y="1034"/>
                      <a:pt x="76" y="1098"/>
                      <a:pt x="0" y="1104"/>
                    </a:cubicBezTo>
                    <a:cubicBezTo>
                      <a:pt x="10" y="1174"/>
                      <a:pt x="29" y="1241"/>
                      <a:pt x="54" y="1306"/>
                    </a:cubicBezTo>
                    <a:cubicBezTo>
                      <a:pt x="123" y="1272"/>
                      <a:pt x="207" y="1297"/>
                      <a:pt x="246" y="1365"/>
                    </a:cubicBezTo>
                    <a:cubicBezTo>
                      <a:pt x="286" y="1433"/>
                      <a:pt x="265" y="1518"/>
                      <a:pt x="202" y="1562"/>
                    </a:cubicBezTo>
                    <a:cubicBezTo>
                      <a:pt x="246" y="1616"/>
                      <a:pt x="295" y="1666"/>
                      <a:pt x="350" y="1709"/>
                    </a:cubicBezTo>
                    <a:cubicBezTo>
                      <a:pt x="393" y="1646"/>
                      <a:pt x="479" y="1626"/>
                      <a:pt x="546" y="1665"/>
                    </a:cubicBezTo>
                    <a:cubicBezTo>
                      <a:pt x="614" y="1704"/>
                      <a:pt x="639" y="1788"/>
                      <a:pt x="606" y="1858"/>
                    </a:cubicBezTo>
                    <a:cubicBezTo>
                      <a:pt x="670" y="1883"/>
                      <a:pt x="738" y="1901"/>
                      <a:pt x="808" y="1912"/>
                    </a:cubicBezTo>
                    <a:cubicBezTo>
                      <a:pt x="814" y="1835"/>
                      <a:pt x="877" y="1775"/>
                      <a:pt x="956" y="1775"/>
                    </a:cubicBezTo>
                    <a:cubicBezTo>
                      <a:pt x="1034" y="1775"/>
                      <a:pt x="1098" y="1835"/>
                      <a:pt x="1104" y="1912"/>
                    </a:cubicBezTo>
                    <a:cubicBezTo>
                      <a:pt x="1174" y="1901"/>
                      <a:pt x="1241" y="1883"/>
                      <a:pt x="1306" y="1858"/>
                    </a:cubicBezTo>
                    <a:cubicBezTo>
                      <a:pt x="1272" y="1788"/>
                      <a:pt x="1297" y="1704"/>
                      <a:pt x="1365" y="1665"/>
                    </a:cubicBezTo>
                    <a:cubicBezTo>
                      <a:pt x="1433" y="1626"/>
                      <a:pt x="1518" y="1646"/>
                      <a:pt x="1562" y="1710"/>
                    </a:cubicBezTo>
                    <a:cubicBezTo>
                      <a:pt x="1616" y="1666"/>
                      <a:pt x="1666" y="1616"/>
                      <a:pt x="1710" y="1562"/>
                    </a:cubicBezTo>
                    <a:cubicBezTo>
                      <a:pt x="1646" y="1518"/>
                      <a:pt x="1626" y="1433"/>
                      <a:pt x="1665" y="1365"/>
                    </a:cubicBezTo>
                    <a:cubicBezTo>
                      <a:pt x="1704" y="1297"/>
                      <a:pt x="1788" y="1272"/>
                      <a:pt x="1858" y="1306"/>
                    </a:cubicBezTo>
                    <a:cubicBezTo>
                      <a:pt x="1883" y="1241"/>
                      <a:pt x="1901" y="1174"/>
                      <a:pt x="1912" y="1104"/>
                    </a:cubicBezTo>
                    <a:cubicBezTo>
                      <a:pt x="1835" y="1098"/>
                      <a:pt x="1775" y="1034"/>
                      <a:pt x="1775" y="956"/>
                    </a:cubicBezTo>
                    <a:close/>
                  </a:path>
                </a:pathLst>
              </a:custGeom>
              <a:solidFill>
                <a:schemeClr val="bg1"/>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2533" dirty="0">
                  <a:solidFill>
                    <a:prstClr val="black"/>
                  </a:solidFill>
                </a:endParaRPr>
              </a:p>
            </p:txBody>
          </p:sp>
          <p:sp>
            <p:nvSpPr>
              <p:cNvPr id="24" name="Oval 23">
                <a:extLst>
                  <a:ext uri="{FF2B5EF4-FFF2-40B4-BE49-F238E27FC236}">
                    <a16:creationId xmlns:a16="http://schemas.microsoft.com/office/drawing/2014/main" id="{5B065CBB-BFFB-402B-91D2-D540AEE92B3A}"/>
                  </a:ext>
                </a:extLst>
              </p:cNvPr>
              <p:cNvSpPr>
                <a:spLocks noChangeArrowheads="1"/>
              </p:cNvSpPr>
              <p:nvPr/>
            </p:nvSpPr>
            <p:spPr bwMode="auto">
              <a:xfrm>
                <a:off x="2468" y="2704"/>
                <a:ext cx="557" cy="557"/>
              </a:xfrm>
              <a:prstGeom prst="ellipse">
                <a:avLst/>
              </a:prstGeom>
              <a:solidFill>
                <a:schemeClr val="accent3"/>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2533" dirty="0">
                  <a:solidFill>
                    <a:prstClr val="black"/>
                  </a:solidFill>
                </a:endParaRPr>
              </a:p>
            </p:txBody>
          </p:sp>
          <p:sp>
            <p:nvSpPr>
              <p:cNvPr id="25" name="Freeform 68">
                <a:extLst>
                  <a:ext uri="{FF2B5EF4-FFF2-40B4-BE49-F238E27FC236}">
                    <a16:creationId xmlns:a16="http://schemas.microsoft.com/office/drawing/2014/main" id="{7613EADB-F12A-4341-9A34-8CCC1998099C}"/>
                  </a:ext>
                </a:extLst>
              </p:cNvPr>
              <p:cNvSpPr>
                <a:spLocks/>
              </p:cNvSpPr>
              <p:nvPr/>
            </p:nvSpPr>
            <p:spPr bwMode="auto">
              <a:xfrm>
                <a:off x="890" y="1134"/>
                <a:ext cx="1366" cy="1366"/>
              </a:xfrm>
              <a:custGeom>
                <a:avLst/>
                <a:gdLst/>
                <a:ahLst/>
                <a:cxnLst>
                  <a:cxn ang="0">
                    <a:pos x="1146" y="638"/>
                  </a:cxn>
                  <a:cxn ang="0">
                    <a:pos x="1278" y="491"/>
                  </a:cxn>
                  <a:cxn ang="0">
                    <a:pos x="1195" y="291"/>
                  </a:cxn>
                  <a:cxn ang="0">
                    <a:pos x="997" y="280"/>
                  </a:cxn>
                  <a:cxn ang="0">
                    <a:pos x="986" y="83"/>
                  </a:cxn>
                  <a:cxn ang="0">
                    <a:pos x="786" y="0"/>
                  </a:cxn>
                  <a:cxn ang="0">
                    <a:pos x="639" y="131"/>
                  </a:cxn>
                  <a:cxn ang="0">
                    <a:pos x="491" y="0"/>
                  </a:cxn>
                  <a:cxn ang="0">
                    <a:pos x="291" y="83"/>
                  </a:cxn>
                  <a:cxn ang="0">
                    <a:pos x="280" y="280"/>
                  </a:cxn>
                  <a:cxn ang="0">
                    <a:pos x="83" y="291"/>
                  </a:cxn>
                  <a:cxn ang="0">
                    <a:pos x="0" y="491"/>
                  </a:cxn>
                  <a:cxn ang="0">
                    <a:pos x="131" y="638"/>
                  </a:cxn>
                  <a:cxn ang="0">
                    <a:pos x="0" y="786"/>
                  </a:cxn>
                  <a:cxn ang="0">
                    <a:pos x="83" y="986"/>
                  </a:cxn>
                  <a:cxn ang="0">
                    <a:pos x="280" y="997"/>
                  </a:cxn>
                  <a:cxn ang="0">
                    <a:pos x="291" y="1194"/>
                  </a:cxn>
                  <a:cxn ang="0">
                    <a:pos x="491" y="1277"/>
                  </a:cxn>
                  <a:cxn ang="0">
                    <a:pos x="639" y="1146"/>
                  </a:cxn>
                  <a:cxn ang="0">
                    <a:pos x="786" y="1277"/>
                  </a:cxn>
                  <a:cxn ang="0">
                    <a:pos x="986" y="1194"/>
                  </a:cxn>
                  <a:cxn ang="0">
                    <a:pos x="997" y="997"/>
                  </a:cxn>
                  <a:cxn ang="0">
                    <a:pos x="1195" y="986"/>
                  </a:cxn>
                  <a:cxn ang="0">
                    <a:pos x="1278" y="786"/>
                  </a:cxn>
                  <a:cxn ang="0">
                    <a:pos x="1146" y="638"/>
                  </a:cxn>
                </a:cxnLst>
                <a:rect l="0" t="0" r="r" b="b"/>
                <a:pathLst>
                  <a:path w="1278" h="1277">
                    <a:moveTo>
                      <a:pt x="1146" y="638"/>
                    </a:moveTo>
                    <a:cubicBezTo>
                      <a:pt x="1146" y="562"/>
                      <a:pt x="1203" y="499"/>
                      <a:pt x="1278" y="491"/>
                    </a:cubicBezTo>
                    <a:cubicBezTo>
                      <a:pt x="1261" y="419"/>
                      <a:pt x="1233" y="352"/>
                      <a:pt x="1195" y="291"/>
                    </a:cubicBezTo>
                    <a:cubicBezTo>
                      <a:pt x="1136" y="337"/>
                      <a:pt x="1051" y="334"/>
                      <a:pt x="997" y="280"/>
                    </a:cubicBezTo>
                    <a:cubicBezTo>
                      <a:pt x="943" y="226"/>
                      <a:pt x="940" y="141"/>
                      <a:pt x="986" y="83"/>
                    </a:cubicBezTo>
                    <a:cubicBezTo>
                      <a:pt x="925" y="44"/>
                      <a:pt x="858" y="16"/>
                      <a:pt x="786" y="0"/>
                    </a:cubicBezTo>
                    <a:cubicBezTo>
                      <a:pt x="778" y="74"/>
                      <a:pt x="715" y="131"/>
                      <a:pt x="639" y="131"/>
                    </a:cubicBezTo>
                    <a:cubicBezTo>
                      <a:pt x="562" y="131"/>
                      <a:pt x="499" y="74"/>
                      <a:pt x="491" y="0"/>
                    </a:cubicBezTo>
                    <a:cubicBezTo>
                      <a:pt x="419" y="16"/>
                      <a:pt x="352" y="44"/>
                      <a:pt x="291" y="83"/>
                    </a:cubicBezTo>
                    <a:cubicBezTo>
                      <a:pt x="338" y="141"/>
                      <a:pt x="334" y="226"/>
                      <a:pt x="280" y="280"/>
                    </a:cubicBezTo>
                    <a:cubicBezTo>
                      <a:pt x="226" y="334"/>
                      <a:pt x="141" y="337"/>
                      <a:pt x="83" y="291"/>
                    </a:cubicBezTo>
                    <a:cubicBezTo>
                      <a:pt x="45" y="352"/>
                      <a:pt x="16" y="419"/>
                      <a:pt x="0" y="491"/>
                    </a:cubicBezTo>
                    <a:cubicBezTo>
                      <a:pt x="74" y="499"/>
                      <a:pt x="131" y="562"/>
                      <a:pt x="131" y="638"/>
                    </a:cubicBezTo>
                    <a:cubicBezTo>
                      <a:pt x="131" y="715"/>
                      <a:pt x="74" y="778"/>
                      <a:pt x="0" y="786"/>
                    </a:cubicBezTo>
                    <a:cubicBezTo>
                      <a:pt x="16" y="858"/>
                      <a:pt x="45" y="925"/>
                      <a:pt x="83" y="986"/>
                    </a:cubicBezTo>
                    <a:cubicBezTo>
                      <a:pt x="141" y="940"/>
                      <a:pt x="226" y="943"/>
                      <a:pt x="280" y="997"/>
                    </a:cubicBezTo>
                    <a:cubicBezTo>
                      <a:pt x="334" y="1051"/>
                      <a:pt x="338" y="1136"/>
                      <a:pt x="291" y="1194"/>
                    </a:cubicBezTo>
                    <a:cubicBezTo>
                      <a:pt x="352" y="1233"/>
                      <a:pt x="419" y="1261"/>
                      <a:pt x="491" y="1277"/>
                    </a:cubicBezTo>
                    <a:cubicBezTo>
                      <a:pt x="499" y="1203"/>
                      <a:pt x="562" y="1146"/>
                      <a:pt x="639" y="1146"/>
                    </a:cubicBezTo>
                    <a:cubicBezTo>
                      <a:pt x="715" y="1146"/>
                      <a:pt x="778" y="1203"/>
                      <a:pt x="786" y="1277"/>
                    </a:cubicBezTo>
                    <a:cubicBezTo>
                      <a:pt x="858" y="1261"/>
                      <a:pt x="925" y="1233"/>
                      <a:pt x="986" y="1194"/>
                    </a:cubicBezTo>
                    <a:cubicBezTo>
                      <a:pt x="940" y="1136"/>
                      <a:pt x="943" y="1051"/>
                      <a:pt x="997" y="997"/>
                    </a:cubicBezTo>
                    <a:cubicBezTo>
                      <a:pt x="1051" y="943"/>
                      <a:pt x="1136" y="940"/>
                      <a:pt x="1195" y="986"/>
                    </a:cubicBezTo>
                    <a:cubicBezTo>
                      <a:pt x="1233" y="925"/>
                      <a:pt x="1261" y="858"/>
                      <a:pt x="1278" y="786"/>
                    </a:cubicBezTo>
                    <a:cubicBezTo>
                      <a:pt x="1203" y="778"/>
                      <a:pt x="1146" y="715"/>
                      <a:pt x="1146" y="638"/>
                    </a:cubicBezTo>
                    <a:close/>
                  </a:path>
                </a:pathLst>
              </a:custGeom>
              <a:solidFill>
                <a:srgbClr val="00C27A"/>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2533" dirty="0">
                  <a:solidFill>
                    <a:prstClr val="black"/>
                  </a:solidFill>
                </a:endParaRPr>
              </a:p>
            </p:txBody>
          </p:sp>
          <p:sp>
            <p:nvSpPr>
              <p:cNvPr id="26" name="Oval 25">
                <a:extLst>
                  <a:ext uri="{FF2B5EF4-FFF2-40B4-BE49-F238E27FC236}">
                    <a16:creationId xmlns:a16="http://schemas.microsoft.com/office/drawing/2014/main" id="{C7735F13-17CA-47C1-B366-C08850532ED3}"/>
                  </a:ext>
                </a:extLst>
              </p:cNvPr>
              <p:cNvSpPr>
                <a:spLocks noChangeArrowheads="1"/>
              </p:cNvSpPr>
              <p:nvPr/>
            </p:nvSpPr>
            <p:spPr bwMode="auto">
              <a:xfrm>
                <a:off x="1308" y="1552"/>
                <a:ext cx="529" cy="529"/>
              </a:xfrm>
              <a:prstGeom prst="ellipse">
                <a:avLst/>
              </a:prstGeom>
              <a:solidFill>
                <a:schemeClr val="accent3"/>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2533" dirty="0">
                  <a:solidFill>
                    <a:prstClr val="black"/>
                  </a:solidFill>
                </a:endParaRPr>
              </a:p>
            </p:txBody>
          </p:sp>
          <p:sp>
            <p:nvSpPr>
              <p:cNvPr id="27" name="Freeform 70">
                <a:extLst>
                  <a:ext uri="{FF2B5EF4-FFF2-40B4-BE49-F238E27FC236}">
                    <a16:creationId xmlns:a16="http://schemas.microsoft.com/office/drawing/2014/main" id="{FCE03229-3423-4663-ABEB-537678F1ADFC}"/>
                  </a:ext>
                </a:extLst>
              </p:cNvPr>
              <p:cNvSpPr>
                <a:spLocks/>
              </p:cNvSpPr>
              <p:nvPr/>
            </p:nvSpPr>
            <p:spPr bwMode="auto">
              <a:xfrm>
                <a:off x="2067" y="777"/>
                <a:ext cx="1119" cy="1074"/>
              </a:xfrm>
              <a:custGeom>
                <a:avLst/>
                <a:gdLst/>
                <a:ahLst/>
                <a:cxnLst>
                  <a:cxn ang="0">
                    <a:pos x="848" y="690"/>
                  </a:cxn>
                  <a:cxn ang="0">
                    <a:pos x="1032" y="626"/>
                  </a:cxn>
                  <a:cxn ang="0">
                    <a:pos x="1047" y="502"/>
                  </a:cxn>
                  <a:cxn ang="0">
                    <a:pos x="1032" y="378"/>
                  </a:cxn>
                  <a:cxn ang="0">
                    <a:pos x="848" y="315"/>
                  </a:cxn>
                  <a:cxn ang="0">
                    <a:pos x="885" y="124"/>
                  </a:cxn>
                  <a:cxn ang="0">
                    <a:pos x="670" y="0"/>
                  </a:cxn>
                  <a:cxn ang="0">
                    <a:pos x="523" y="127"/>
                  </a:cxn>
                  <a:cxn ang="0">
                    <a:pos x="376" y="0"/>
                  </a:cxn>
                  <a:cxn ang="0">
                    <a:pos x="162" y="124"/>
                  </a:cxn>
                  <a:cxn ang="0">
                    <a:pos x="199" y="315"/>
                  </a:cxn>
                  <a:cxn ang="0">
                    <a:pos x="15" y="378"/>
                  </a:cxn>
                  <a:cxn ang="0">
                    <a:pos x="0" y="502"/>
                  </a:cxn>
                  <a:cxn ang="0">
                    <a:pos x="15" y="626"/>
                  </a:cxn>
                  <a:cxn ang="0">
                    <a:pos x="199" y="690"/>
                  </a:cxn>
                  <a:cxn ang="0">
                    <a:pos x="162" y="880"/>
                  </a:cxn>
                  <a:cxn ang="0">
                    <a:pos x="376" y="1004"/>
                  </a:cxn>
                  <a:cxn ang="0">
                    <a:pos x="523" y="877"/>
                  </a:cxn>
                  <a:cxn ang="0">
                    <a:pos x="670" y="1004"/>
                  </a:cxn>
                  <a:cxn ang="0">
                    <a:pos x="885" y="880"/>
                  </a:cxn>
                  <a:cxn ang="0">
                    <a:pos x="848" y="690"/>
                  </a:cxn>
                </a:cxnLst>
                <a:rect l="0" t="0" r="r" b="b"/>
                <a:pathLst>
                  <a:path w="1047" h="1004">
                    <a:moveTo>
                      <a:pt x="848" y="690"/>
                    </a:moveTo>
                    <a:cubicBezTo>
                      <a:pt x="885" y="625"/>
                      <a:pt x="964" y="599"/>
                      <a:pt x="1032" y="626"/>
                    </a:cubicBezTo>
                    <a:cubicBezTo>
                      <a:pt x="1041" y="586"/>
                      <a:pt x="1047" y="545"/>
                      <a:pt x="1047" y="502"/>
                    </a:cubicBezTo>
                    <a:cubicBezTo>
                      <a:pt x="1047" y="459"/>
                      <a:pt x="1041" y="418"/>
                      <a:pt x="1032" y="378"/>
                    </a:cubicBezTo>
                    <a:cubicBezTo>
                      <a:pt x="964" y="405"/>
                      <a:pt x="885" y="379"/>
                      <a:pt x="848" y="315"/>
                    </a:cubicBezTo>
                    <a:cubicBezTo>
                      <a:pt x="811" y="250"/>
                      <a:pt x="828" y="169"/>
                      <a:pt x="885" y="124"/>
                    </a:cubicBezTo>
                    <a:cubicBezTo>
                      <a:pt x="825" y="67"/>
                      <a:pt x="752" y="23"/>
                      <a:pt x="670" y="0"/>
                    </a:cubicBezTo>
                    <a:cubicBezTo>
                      <a:pt x="660" y="72"/>
                      <a:pt x="598" y="127"/>
                      <a:pt x="523" y="127"/>
                    </a:cubicBezTo>
                    <a:cubicBezTo>
                      <a:pt x="448" y="127"/>
                      <a:pt x="387" y="72"/>
                      <a:pt x="376" y="0"/>
                    </a:cubicBezTo>
                    <a:cubicBezTo>
                      <a:pt x="295" y="23"/>
                      <a:pt x="222" y="67"/>
                      <a:pt x="162" y="124"/>
                    </a:cubicBezTo>
                    <a:cubicBezTo>
                      <a:pt x="219" y="169"/>
                      <a:pt x="236" y="250"/>
                      <a:pt x="199" y="315"/>
                    </a:cubicBezTo>
                    <a:cubicBezTo>
                      <a:pt x="161" y="379"/>
                      <a:pt x="82" y="405"/>
                      <a:pt x="15" y="378"/>
                    </a:cubicBezTo>
                    <a:cubicBezTo>
                      <a:pt x="5" y="418"/>
                      <a:pt x="0" y="459"/>
                      <a:pt x="0" y="502"/>
                    </a:cubicBezTo>
                    <a:cubicBezTo>
                      <a:pt x="0" y="545"/>
                      <a:pt x="5" y="586"/>
                      <a:pt x="15" y="626"/>
                    </a:cubicBezTo>
                    <a:cubicBezTo>
                      <a:pt x="82" y="599"/>
                      <a:pt x="161" y="625"/>
                      <a:pt x="199" y="690"/>
                    </a:cubicBezTo>
                    <a:cubicBezTo>
                      <a:pt x="236" y="754"/>
                      <a:pt x="219" y="836"/>
                      <a:pt x="162" y="880"/>
                    </a:cubicBezTo>
                    <a:cubicBezTo>
                      <a:pt x="222" y="938"/>
                      <a:pt x="295" y="981"/>
                      <a:pt x="376" y="1004"/>
                    </a:cubicBezTo>
                    <a:cubicBezTo>
                      <a:pt x="387" y="932"/>
                      <a:pt x="448" y="877"/>
                      <a:pt x="523" y="877"/>
                    </a:cubicBezTo>
                    <a:cubicBezTo>
                      <a:pt x="598" y="877"/>
                      <a:pt x="660" y="932"/>
                      <a:pt x="670" y="1004"/>
                    </a:cubicBezTo>
                    <a:cubicBezTo>
                      <a:pt x="752" y="981"/>
                      <a:pt x="825" y="938"/>
                      <a:pt x="885" y="880"/>
                    </a:cubicBezTo>
                    <a:cubicBezTo>
                      <a:pt x="828" y="836"/>
                      <a:pt x="811" y="754"/>
                      <a:pt x="848" y="690"/>
                    </a:cubicBezTo>
                    <a:close/>
                  </a:path>
                </a:pathLst>
              </a:custGeom>
              <a:solidFill>
                <a:schemeClr val="bg1"/>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2533" dirty="0">
                  <a:solidFill>
                    <a:prstClr val="black"/>
                  </a:solidFill>
                </a:endParaRPr>
              </a:p>
            </p:txBody>
          </p:sp>
          <p:sp>
            <p:nvSpPr>
              <p:cNvPr id="28" name="Oval 27">
                <a:extLst>
                  <a:ext uri="{FF2B5EF4-FFF2-40B4-BE49-F238E27FC236}">
                    <a16:creationId xmlns:a16="http://schemas.microsoft.com/office/drawing/2014/main" id="{87DAE89C-1F3D-451C-A9C2-56F079C4AE29}"/>
                  </a:ext>
                </a:extLst>
              </p:cNvPr>
              <p:cNvSpPr>
                <a:spLocks noChangeArrowheads="1"/>
              </p:cNvSpPr>
              <p:nvPr/>
            </p:nvSpPr>
            <p:spPr bwMode="auto">
              <a:xfrm>
                <a:off x="2465" y="1152"/>
                <a:ext cx="323" cy="323"/>
              </a:xfrm>
              <a:prstGeom prst="ellipse">
                <a:avLst/>
              </a:prstGeom>
              <a:solidFill>
                <a:schemeClr val="accent3"/>
              </a:solidFill>
              <a:ln w="19050">
                <a:noFill/>
                <a:round/>
                <a:headEnd/>
                <a:tailEnd/>
              </a:ln>
            </p:spPr>
            <p:txBody>
              <a:bodyPr vert="horz" wrap="square" lIns="121920" tIns="60960" rIns="121920" bIns="6096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2533" dirty="0">
                  <a:solidFill>
                    <a:prstClr val="black"/>
                  </a:solidFill>
                </a:endParaRPr>
              </a:p>
            </p:txBody>
          </p:sp>
        </p:grpSp>
      </p:grpSp>
      <p:pic>
        <p:nvPicPr>
          <p:cNvPr id="30" name="Picture 29">
            <a:extLst>
              <a:ext uri="{FF2B5EF4-FFF2-40B4-BE49-F238E27FC236}">
                <a16:creationId xmlns:a16="http://schemas.microsoft.com/office/drawing/2014/main" id="{1C09CC57-B46C-400C-AD57-DA827CB37683}"/>
              </a:ext>
            </a:extLst>
          </p:cNvPr>
          <p:cNvPicPr>
            <a:picLocks noChangeAspect="1"/>
          </p:cNvPicPr>
          <p:nvPr/>
        </p:nvPicPr>
        <p:blipFill>
          <a:blip r:embed="rId3"/>
          <a:stretch>
            <a:fillRect/>
          </a:stretch>
        </p:blipFill>
        <p:spPr>
          <a:xfrm>
            <a:off x="829650" y="4395883"/>
            <a:ext cx="6278931" cy="2321005"/>
          </a:xfrm>
          <a:prstGeom prst="rect">
            <a:avLst/>
          </a:prstGeom>
        </p:spPr>
      </p:pic>
    </p:spTree>
    <p:extLst>
      <p:ext uri="{BB962C8B-B14F-4D97-AF65-F5344CB8AC3E}">
        <p14:creationId xmlns:p14="http://schemas.microsoft.com/office/powerpoint/2010/main" val="36410423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3786DEC5E3183478978B2EDA46CB23A" ma:contentTypeVersion="17" ma:contentTypeDescription="Create a new document." ma:contentTypeScope="" ma:versionID="365434800de51e46733a67919c56da07">
  <xsd:schema xmlns:xsd="http://www.w3.org/2001/XMLSchema" xmlns:xs="http://www.w3.org/2001/XMLSchema" xmlns:p="http://schemas.microsoft.com/office/2006/metadata/properties" xmlns:ns2="e25f5462-de79-40dd-b718-ac6ca6ea171b" xmlns:ns3="afc3ae6a-8500-414e-ab34-7288d69a8c30" targetNamespace="http://schemas.microsoft.com/office/2006/metadata/properties" ma:root="true" ma:fieldsID="f0951ae4b0364ad0217294c90744c97f" ns2:_="" ns3:_="">
    <xsd:import namespace="e25f5462-de79-40dd-b718-ac6ca6ea171b"/>
    <xsd:import namespace="afc3ae6a-8500-414e-ab34-7288d69a8c3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5f5462-de79-40dd-b718-ac6ca6ea17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fc3ae6a-8500-414e-ab34-7288d69a8c3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34ab78cb-0ffc-4b5a-8100-943cb5243280}" ma:internalName="TaxCatchAll" ma:showField="CatchAllData" ma:web="afc3ae6a-8500-414e-ab34-7288d69a8c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afc3ae6a-8500-414e-ab34-7288d69a8c30" xsi:nil="true"/>
    <lcf76f155ced4ddcb4097134ff3c332f xmlns="e25f5462-de79-40dd-b718-ac6ca6ea171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DBD82BA-C03E-4F96-BF3B-7A7366ED5EA5}">
  <ds:schemaRefs>
    <ds:schemaRef ds:uri="http://schemas.microsoft.com/sharepoint/v3/contenttype/forms"/>
  </ds:schemaRefs>
</ds:datastoreItem>
</file>

<file path=customXml/itemProps2.xml><?xml version="1.0" encoding="utf-8"?>
<ds:datastoreItem xmlns:ds="http://schemas.openxmlformats.org/officeDocument/2006/customXml" ds:itemID="{950A0C4F-1B23-420A-A713-63D4BAE500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5f5462-de79-40dd-b718-ac6ca6ea171b"/>
    <ds:schemaRef ds:uri="afc3ae6a-8500-414e-ab34-7288d69a8c3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795F088-DFD9-4796-BDF2-145FC7D20C72}">
  <ds:schemaRefs>
    <ds:schemaRef ds:uri="http://schemas.microsoft.com/office/infopath/2007/PartnerControls"/>
    <ds:schemaRef ds:uri="http://schemas.openxmlformats.org/package/2006/metadata/core-properties"/>
    <ds:schemaRef ds:uri="http://purl.org/dc/terms/"/>
    <ds:schemaRef ds:uri="http://schemas.microsoft.com/office/2006/metadata/properties"/>
    <ds:schemaRef ds:uri="e25f5462-de79-40dd-b718-ac6ca6ea171b"/>
    <ds:schemaRef ds:uri="http://purl.org/dc/dcmitype/"/>
    <ds:schemaRef ds:uri="http://schemas.microsoft.com/office/2006/documentManagement/types"/>
    <ds:schemaRef ds:uri="http://purl.org/dc/elements/1.1/"/>
    <ds:schemaRef ds:uri="afc3ae6a-8500-414e-ab34-7288d69a8c3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24</TotalTime>
  <Words>1355</Words>
  <Application>Microsoft Office PowerPoint</Application>
  <PresentationFormat>Widescreen</PresentationFormat>
  <Paragraphs>122</Paragraphs>
  <Slides>4</Slides>
  <Notes>4</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Enterprise wide Business Data Lake Engineering Program -Leading Consumer Goods Provider in Europe</vt:lpstr>
      <vt:lpstr>Case Study  – Migrating Teradata to Azure (HRA)</vt:lpstr>
      <vt:lpstr>Case Study – NA OTC in ADLS</vt:lpstr>
      <vt:lpstr>Case Study  – Supply Chain Procurement in Azure Data Lake </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 Migrating Teradata to Azure (HRA)</dc:title>
  <dc:creator>Mulye, Rahul</dc:creator>
  <cp:lastModifiedBy>Kumar, Ashish</cp:lastModifiedBy>
  <cp:revision>5</cp:revision>
  <dcterms:created xsi:type="dcterms:W3CDTF">2020-05-14T15:34:57Z</dcterms:created>
  <dcterms:modified xsi:type="dcterms:W3CDTF">2025-09-30T10:44:31Z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0x01010033786DEC5E3183478978B2EDA46CB23A</vt:lpwstr>
  </property>
  <property fmtid="{D5CDD505-2E9C-101B-9397-08002B2CF9AE}" pid="3" name="MediaServiceImageTags">
    <vt:lpwstr/>
  </property>
</Properties>
</file>